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81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BRIEF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8382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messaging product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for trust at scale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192405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Requirements and architecture for a WhatsApp-class chat experience—1:1, groups, media, calls.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00050" y="2609850"/>
            <a:ext cx="1238250" cy="2857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2667000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0050" y="30289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product, engineering and design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6250" y="381000"/>
            <a:ext cx="3333750" cy="5715000"/>
          </a:xfrm>
          <a:prstGeom prst="roundRect">
            <a:avLst>
              <a:gd name="adj" fmla="val 27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4850" y="838200"/>
            <a:ext cx="2876550" cy="1533525"/>
          </a:xfrm>
          <a:prstGeom prst="roundRect">
            <a:avLst>
              <a:gd name="adj" fmla="val 5963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96300" y="971550"/>
            <a:ext cx="253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96300" y="1200150"/>
            <a:ext cx="25336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10M MAU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24850" y="2486025"/>
            <a:ext cx="2876550" cy="1533525"/>
          </a:xfrm>
          <a:prstGeom prst="roundRect">
            <a:avLst>
              <a:gd name="adj" fmla="val 5963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96300" y="2619375"/>
            <a:ext cx="253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96300" y="2847975"/>
            <a:ext cx="25336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&lt;150ms ack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324850" y="4133850"/>
            <a:ext cx="2876550" cy="1533525"/>
          </a:xfrm>
          <a:prstGeom prst="roundRect">
            <a:avLst>
              <a:gd name="adj" fmla="val 5963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96300" y="4267200"/>
            <a:ext cx="253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CRYPTO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96300" y="4495800"/>
            <a:ext cx="25336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E2EE 1:1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24000" y="21907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&amp; goals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000" y="33813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must nail on day one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users stay (and leave)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781050"/>
            <a:ext cx="5695950" cy="5543550"/>
          </a:xfrm>
          <a:prstGeom prst="roundRect">
            <a:avLst>
              <a:gd name="adj" fmla="val 1649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781050"/>
            <a:ext cx="56959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600" y="1009650"/>
            <a:ext cx="527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MUST-WIN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9600" y="1304925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Reliability + privacy feel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09600" y="20669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" y="1981200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Messages arrive in order, fast, offline-safe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9600" y="26003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2514600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End-to-end encryption by default on 1:1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600" y="31337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" y="3048000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 that just works on weak networks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24600" y="781050"/>
            <a:ext cx="5467350" cy="5543550"/>
          </a:xfrm>
          <a:prstGeom prst="roundRect">
            <a:avLst>
              <a:gd name="adj" fmla="val 1672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24600" y="781050"/>
            <a:ext cx="54673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4150" y="1009650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NICE-LATER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4150" y="1304925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Differentiate after parity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534150" y="20669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4650" y="198120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Channels / communities at massive fanout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34150" y="26003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24650" y="251460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Rich business APIs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534150" y="31337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4650" y="304800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Multi-device without breaking E2EE story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Targets and journeys (v1)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050" y="81915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EXPERIENCE TARGETS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00050" y="2247900"/>
            <a:ext cx="1714500" cy="2857500"/>
          </a:xfrm>
          <a:prstGeom prst="roundRect">
            <a:avLst>
              <a:gd name="adj" fmla="val 5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2247900"/>
            <a:ext cx="171450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0550" y="24955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SEND→ACK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0550" y="2895600"/>
            <a:ext cx="13335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&lt;150ms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0550" y="45529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p50 same region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343150" y="2247900"/>
            <a:ext cx="1714500" cy="2857500"/>
          </a:xfrm>
          <a:prstGeom prst="roundRect">
            <a:avLst>
              <a:gd name="adj" fmla="val 5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2247900"/>
            <a:ext cx="171450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33650" y="24955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 CATCH-UP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33650" y="2895600"/>
            <a:ext cx="13335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&lt;2s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2533650" y="45529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24h offline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86250" y="2247900"/>
            <a:ext cx="1714500" cy="2857500"/>
          </a:xfrm>
          <a:prstGeom prst="roundRect">
            <a:avLst>
              <a:gd name="adj" fmla="val 5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86250" y="2247900"/>
            <a:ext cx="1714500" cy="762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76750" y="24955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 SIZE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76750" y="2895600"/>
            <a:ext cx="13335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1k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4476750" y="455295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Members v1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72200" y="81915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JOURNEYS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72200" y="1028700"/>
            <a:ext cx="1743075" cy="5295900"/>
          </a:xfrm>
          <a:prstGeom prst="roundRect">
            <a:avLst>
              <a:gd name="adj" fmla="val 524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72200" y="1028700"/>
            <a:ext cx="57150" cy="52959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43650" y="1181100"/>
            <a:ext cx="1400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1:1 CHAT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43650" y="1447800"/>
            <a:ext cx="1400175" cy="472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Text, react, reply, delete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105775" y="1028700"/>
            <a:ext cx="1743075" cy="5295900"/>
          </a:xfrm>
          <a:prstGeom prst="roundRect">
            <a:avLst>
              <a:gd name="adj" fmla="val 524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05775" y="1028700"/>
            <a:ext cx="57150" cy="52959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77225" y="1181100"/>
            <a:ext cx="1400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77225" y="1447800"/>
            <a:ext cx="1400175" cy="472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roles, mentions, invites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0039350" y="1028700"/>
            <a:ext cx="1743075" cy="5295900"/>
          </a:xfrm>
          <a:prstGeom prst="roundRect">
            <a:avLst>
              <a:gd name="adj" fmla="val 524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39350" y="1028700"/>
            <a:ext cx="57150" cy="52959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210800" y="1181100"/>
            <a:ext cx="1400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210800" y="1447800"/>
            <a:ext cx="1400175" cy="472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Images, video, voice, docs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7810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781050"/>
            <a:ext cx="114300" cy="13144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850" y="8953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84648" y="9048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E2EE 1:1; group E2EE roadmap; device verification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21907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0050" y="2190750"/>
            <a:ext cx="114300" cy="13144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850" y="23050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84648" y="23145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99.95% message API; multi-AZ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0050" y="36004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3600450"/>
            <a:ext cx="114300" cy="13144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850" y="37147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84648" y="37242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10M MAU year-1; horizontal message plane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50101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0050" y="5010150"/>
            <a:ext cx="114300" cy="131445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850" y="51244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184648" y="51339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 gates, report/block, regional data controls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 and message path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050" y="819150"/>
            <a:ext cx="11391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 SCOPE CUT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43050" y="1143000"/>
            <a:ext cx="4933950" cy="904875"/>
          </a:xfrm>
          <a:prstGeom prst="roundRect">
            <a:avLst>
              <a:gd name="adj" fmla="val 10105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72250" y="1143000"/>
            <a:ext cx="4933950" cy="904875"/>
          </a:xfrm>
          <a:prstGeom prst="roundRect">
            <a:avLst>
              <a:gd name="adj" fmla="val 10105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43050" y="2143125"/>
            <a:ext cx="4933950" cy="904875"/>
          </a:xfrm>
          <a:prstGeom prst="roundRect">
            <a:avLst>
              <a:gd name="adj" fmla="val 10105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72250" y="2143125"/>
            <a:ext cx="4933950" cy="904875"/>
          </a:xfrm>
          <a:prstGeom prst="roundRect">
            <a:avLst>
              <a:gd name="adj" fmla="val 10105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11430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cost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43050" y="320040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value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5450" y="1276350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4650" y="1276350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NOW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95450" y="2276475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24650" y="2276475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PARTNER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695450" y="1562100"/>
            <a:ext cx="4629150" cy="342900"/>
          </a:xfrm>
          <a:prstGeom prst="roundRect">
            <a:avLst>
              <a:gd name="adj" fmla="val 2666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09750" y="156210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Status/stories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24650" y="1562100"/>
            <a:ext cx="4629150" cy="342900"/>
          </a:xfrm>
          <a:prstGeom prst="roundRect">
            <a:avLst>
              <a:gd name="adj" fmla="val 2666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8950" y="156210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1:1 + receipts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24650" y="1733550"/>
            <a:ext cx="4629150" cy="342900"/>
          </a:xfrm>
          <a:prstGeom prst="roundRect">
            <a:avLst>
              <a:gd name="adj" fmla="val 26667"/>
            </a:avLst>
          </a:prstGeom>
          <a:solidFill>
            <a:srgbClr val="1F1F36"/>
          </a:solidFill>
          <a:ln w="15875">
            <a:solidFill>
              <a:srgbClr val="F28E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38950" y="173355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Groups 1k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695450" y="2562225"/>
            <a:ext cx="4629150" cy="342900"/>
          </a:xfrm>
          <a:prstGeom prst="roundRect">
            <a:avLst>
              <a:gd name="adj" fmla="val 2666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09750" y="2562225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Payments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00050" y="3543300"/>
            <a:ext cx="11391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MESSAGE PATH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00050" y="3752850"/>
            <a:ext cx="2714625" cy="2571750"/>
          </a:xfrm>
          <a:prstGeom prst="roundRect">
            <a:avLst>
              <a:gd name="adj" fmla="val 355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0050" y="3752850"/>
            <a:ext cx="57150" cy="25717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" y="39052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1500" y="4171950"/>
            <a:ext cx="237172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Encrypt + queue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114675" y="5029200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86125" y="3752850"/>
            <a:ext cx="2714625" cy="2571750"/>
          </a:xfrm>
          <a:prstGeom prst="roundRect">
            <a:avLst>
              <a:gd name="adj" fmla="val 355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86125" y="3752850"/>
            <a:ext cx="57150" cy="25717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57575" y="39052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GATEWAY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457575" y="4171950"/>
            <a:ext cx="237172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 + WS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000750" y="5029200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72200" y="3752850"/>
            <a:ext cx="2714625" cy="2571750"/>
          </a:xfrm>
          <a:prstGeom prst="roundRect">
            <a:avLst>
              <a:gd name="adj" fmla="val 355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72200" y="3752850"/>
            <a:ext cx="57150" cy="25717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43650" y="39052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MESSAGE SVC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43650" y="4171950"/>
            <a:ext cx="237172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 + fanout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886825" y="5029200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58275" y="3752850"/>
            <a:ext cx="2714625" cy="2571750"/>
          </a:xfrm>
          <a:prstGeom prst="roundRect">
            <a:avLst>
              <a:gd name="adj" fmla="val 355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058275" y="3752850"/>
            <a:ext cx="57150" cy="257175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29725" y="39052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DEVICES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229725" y="4171950"/>
            <a:ext cx="237172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 + receipts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ownership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45458" y="857250"/>
            <a:ext cx="4101084" cy="838200"/>
          </a:xfrm>
          <a:prstGeom prst="roundRect">
            <a:avLst>
              <a:gd name="adj" fmla="val 10909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45458" y="857250"/>
            <a:ext cx="57150" cy="838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16908" y="1009650"/>
            <a:ext cx="375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 PLATFORM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1713" y="16954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2600" y="2024062"/>
            <a:ext cx="8686800" cy="28575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38313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33913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29513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5113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2381250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" y="2381250"/>
            <a:ext cx="57150" cy="10477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2533650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5650" y="2381250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5650" y="2381250"/>
            <a:ext cx="57150" cy="10477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67100" y="2533650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91250" y="2381250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1250" y="2381250"/>
            <a:ext cx="57150" cy="10477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2700" y="2533650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PRESENCE / PUSH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86850" y="2381250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86850" y="2381250"/>
            <a:ext cx="57150" cy="104775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2533650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/ KEYS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12-week build plan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905000" y="781050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26050" y="781050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5–8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47100" y="781050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9–12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0050" y="1123950"/>
            <a:ext cx="1257300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0" y="1123950"/>
            <a:ext cx="9963150" cy="963930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2164080"/>
            <a:ext cx="1257300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28800" y="2164080"/>
            <a:ext cx="9963150" cy="963930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0050" y="3204210"/>
            <a:ext cx="1257300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828800" y="3204210"/>
            <a:ext cx="9963150" cy="963930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0050" y="4244340"/>
            <a:ext cx="1257300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828800" y="4244340"/>
            <a:ext cx="9963150" cy="963930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0050" y="5284470"/>
            <a:ext cx="1257300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SRE / security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828800" y="5284470"/>
            <a:ext cx="9963150" cy="963930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24050" y="1415415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00250" y="1415415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PRD freeze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924050" y="2455545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00250" y="2455545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 protocol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245100" y="3495675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21300" y="3495675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 + fanout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245100" y="4535805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21300" y="4535805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pipeline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66150" y="5575935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42350" y="5575935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Threat model sign-off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 priority from comps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781050"/>
            <a:ext cx="7058025" cy="5543550"/>
          </a:xfrm>
          <a:prstGeom prst="roundRect">
            <a:avLst>
              <a:gd name="adj" fmla="val 1649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pic>
        <p:nvPicPr>
          <p:cNvPr id="7" name="Image 1" descr="/Users/dpadmana/projects/ppt-gen/assets/plots/chat_surfaces-d18e8100c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019300"/>
            <a:ext cx="6753225" cy="3067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43825" y="781050"/>
            <a:ext cx="4048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743825" y="1209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34325" y="1123950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1:1 and groups dominate retention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43825" y="1743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34325" y="1657350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Calls matter but trail chat DAU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43825" y="22764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34325" y="2190750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Stories are growth—not retention—first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Activation funnel (north-star)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781050"/>
            <a:ext cx="11391900" cy="1028700"/>
          </a:xfrm>
          <a:prstGeom prst="roundRect">
            <a:avLst>
              <a:gd name="adj" fmla="val 8889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190625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9645" y="1905000"/>
            <a:ext cx="10252710" cy="1028700"/>
          </a:xfrm>
          <a:prstGeom prst="roundRect">
            <a:avLst>
              <a:gd name="adj" fmla="val 8889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2045" y="2314575"/>
            <a:ext cx="9947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 phone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39240" y="3028950"/>
            <a:ext cx="9113520" cy="1028700"/>
          </a:xfrm>
          <a:prstGeom prst="roundRect">
            <a:avLst>
              <a:gd name="adj" fmla="val 8889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3438525"/>
            <a:ext cx="880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 contacts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08835" y="4152900"/>
            <a:ext cx="7974330" cy="1028700"/>
          </a:xfrm>
          <a:prstGeom prst="roundRect">
            <a:avLst>
              <a:gd name="adj" fmla="val 8889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61235" y="4562475"/>
            <a:ext cx="7669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message sent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78430" y="5276850"/>
            <a:ext cx="6835140" cy="1028700"/>
          </a:xfrm>
          <a:prstGeom prst="roundRect">
            <a:avLst>
              <a:gd name="adj" fmla="val 8889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0830" y="5686425"/>
            <a:ext cx="6530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D7 return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1238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 private, reliable chat—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earn the right to expand.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9527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 = 1:1 + groups + media + receipts under clear SLOs and E2EE.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000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4000500"/>
            <a:ext cx="57150" cy="1143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41529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FREEZE SCOPE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4419600"/>
            <a:ext cx="3105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Cut stories and payments from v1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719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1950" y="4000500"/>
            <a:ext cx="57150" cy="1143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1529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INSTRUMENT SLOS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4419600"/>
            <a:ext cx="3105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Ack latency, sync time, drop rate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438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43850" y="4000500"/>
            <a:ext cx="57150" cy="1143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5300" y="41529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DOGFOOD HARD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15300" y="4419600"/>
            <a:ext cx="3105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fleet before public beta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0050" y="5619750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Next: approve architecture ADR and staff the 12-week squad.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REALTIME CHAT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 product — WhatsApp-class messaging</dc:title>
  <dc:subject>PptxGenJS Presentation</dc:subject>
  <dc:creator>ppt-gen</dc:creator>
  <cp:lastModifiedBy>ppt-gen</cp:lastModifiedBy>
  <cp:revision>1</cp:revision>
  <dcterms:created xsi:type="dcterms:W3CDTF">2026-09-20T11:01:38Z</dcterms:created>
  <dcterms:modified xsi:type="dcterms:W3CDTF">2026-09-20T11:01:38Z</dcterms:modified>
</cp:coreProperties>
</file>