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3810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83820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Mixture of Experts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large language models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1924050"/>
            <a:ext cx="685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Sparse activation, dense capacity—how routing, load balance and capacity interact at scale.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00050" y="2609850"/>
            <a:ext cx="1238250" cy="2857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2667000"/>
            <a:ext cx="1085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0050" y="30289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ML engineers and research leads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96250" y="381000"/>
            <a:ext cx="3333750" cy="5715000"/>
          </a:xfrm>
          <a:prstGeom prst="roundRect">
            <a:avLst>
              <a:gd name="adj" fmla="val 274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39150" y="1143000"/>
            <a:ext cx="400050" cy="4000500"/>
          </a:xfrm>
          <a:prstGeom prst="roundRect">
            <a:avLst>
              <a:gd name="adj" fmla="val 22857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91600" y="1143000"/>
            <a:ext cx="400050" cy="3619500"/>
          </a:xfrm>
          <a:prstGeom prst="roundRect">
            <a:avLst>
              <a:gd name="adj" fmla="val 2285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44050" y="1143000"/>
            <a:ext cx="400050" cy="3238500"/>
          </a:xfrm>
          <a:prstGeom prst="roundRect">
            <a:avLst>
              <a:gd name="adj" fmla="val 22857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96500" y="1143000"/>
            <a:ext cx="400050" cy="2857500"/>
          </a:xfrm>
          <a:prstGeom prst="roundRect">
            <a:avLst>
              <a:gd name="adj" fmla="val 2285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48950" y="1143000"/>
            <a:ext cx="400050" cy="2476500"/>
          </a:xfrm>
          <a:prstGeom prst="roundRect">
            <a:avLst>
              <a:gd name="adj" fmla="val 22857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39150" y="552450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EXPERT ACTIVATION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238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24000" y="219075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Motivation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24000" y="3381375"/>
            <a:ext cx="914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parameters without scaling FLOPs linearly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Dense vs sparse activation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800100"/>
            <a:ext cx="10648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peak capacity; different compute per token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219200"/>
            <a:ext cx="5695950" cy="5105400"/>
          </a:xfrm>
          <a:prstGeom prst="roundRect">
            <a:avLst>
              <a:gd name="adj" fmla="val 1791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219200"/>
            <a:ext cx="5695950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600" y="1447800"/>
            <a:ext cx="527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DENSE TRANSFORMER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9600" y="1743075"/>
            <a:ext cx="5276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parameter on every token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09600" y="2505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" y="2419350"/>
            <a:ext cx="508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 grows with all layers × width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9600" y="30384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" y="2952750"/>
            <a:ext cx="508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 training dynamics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09600" y="35718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0100" y="3486150"/>
            <a:ext cx="508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 to add capacity without cost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24600" y="1219200"/>
            <a:ext cx="5467350" cy="5105400"/>
          </a:xfrm>
          <a:prstGeom prst="roundRect">
            <a:avLst>
              <a:gd name="adj" fmla="val 1791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24600" y="1219200"/>
            <a:ext cx="5467350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4150" y="1447800"/>
            <a:ext cx="504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MIXTURE OF EXPERTS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4150" y="1743075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Few experts fire per token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534150" y="2505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24650" y="2419350"/>
            <a:ext cx="485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Top-k routing selects specialists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534150" y="30384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4650" y="2952750"/>
            <a:ext cx="485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Parameters grow faster than FLOPs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34150" y="35718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24650" y="3486150"/>
            <a:ext cx="485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failure modes — collapse &amp; imbalance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Canonical MoE block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45458" y="857250"/>
            <a:ext cx="4101084" cy="838200"/>
          </a:xfrm>
          <a:prstGeom prst="roundRect">
            <a:avLst>
              <a:gd name="adj" fmla="val 10909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45458" y="857250"/>
            <a:ext cx="57150" cy="838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16908" y="1009650"/>
            <a:ext cx="3758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MOE LAYER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1713" y="1695450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33613" y="2024062"/>
            <a:ext cx="7715250" cy="28575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19325" y="2038350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76950" y="2038350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934575" y="2038350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0050" y="2381250"/>
            <a:ext cx="3667125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" y="2381250"/>
            <a:ext cx="57150" cy="10477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" y="2533650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ROUTER (GATING NET)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57675" y="2381250"/>
            <a:ext cx="3667125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57675" y="2381250"/>
            <a:ext cx="57150" cy="104775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29125" y="2533650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EXPERT FFNS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15300" y="2381250"/>
            <a:ext cx="3667125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15300" y="2381250"/>
            <a:ext cx="57150" cy="104775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86750" y="2533650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 / RESIDUAL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Expert load is uneven in practice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1123950"/>
            <a:ext cx="11010900" cy="4191000"/>
          </a:xfrm>
          <a:prstGeom prst="roundRect">
            <a:avLst>
              <a:gd name="adj" fmla="val 2182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pic>
        <p:nvPicPr>
          <p:cNvPr id="7" name="Image 1" descr="/Users/dpadmana/projects/ppt-gen/assets/plots/moe_routing-30cb31e2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1314450"/>
            <a:ext cx="8372475" cy="3810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0550" y="5486400"/>
            <a:ext cx="1047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Without balancing, a few experts absorb most tokens—others starve.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Gating and load-balance objective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2295525"/>
            <a:ext cx="11391900" cy="2505075"/>
          </a:xfrm>
          <a:prstGeom prst="roundRect">
            <a:avLst>
              <a:gd name="adj" fmla="val 365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pic>
        <p:nvPicPr>
          <p:cNvPr id="7" name="Image 1" descr="/Users/dpadmana/projects/ppt-gen/assets/math/math-0ff6a9d11942898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5" y="2600325"/>
            <a:ext cx="5238750" cy="12096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7250" y="4114800"/>
            <a:ext cx="1047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Top-k experts receive token x; auxiliary load-balance loss penalizes deviation from uniform expert usage.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Router → experts → train constraints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1123950"/>
            <a:ext cx="11010900" cy="3457575"/>
          </a:xfrm>
          <a:prstGeom prst="roundRect">
            <a:avLst>
              <a:gd name="adj" fmla="val 2645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pic>
        <p:nvPicPr>
          <p:cNvPr id="7" name="Image 1" descr="/Users/dpadmana/projects/ppt-gen/assets/diagrams/mo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314450"/>
            <a:ext cx="10629900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Forward pass (simplified)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781050"/>
            <a:ext cx="2714625" cy="5543550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781050"/>
            <a:ext cx="57150" cy="55435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933450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1200150"/>
            <a:ext cx="2371725" cy="497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 → hidden state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114675" y="3543300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86125" y="781050"/>
            <a:ext cx="2714625" cy="5543550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86125" y="781050"/>
            <a:ext cx="57150" cy="554355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57575" y="933450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57575" y="1200150"/>
            <a:ext cx="2371725" cy="497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Softmax over experts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00750" y="3543300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781050"/>
            <a:ext cx="2714625" cy="5543550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781050"/>
            <a:ext cx="57150" cy="554355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3650" y="933450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EXPERT FFN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43650" y="1200150"/>
            <a:ext cx="2371725" cy="497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Top-k compute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886825" y="3543300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058275" y="781050"/>
            <a:ext cx="2714625" cy="5543550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58275" y="781050"/>
            <a:ext cx="57150" cy="554355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29725" y="933450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MERGE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229725" y="1200150"/>
            <a:ext cx="2371725" cy="497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Weighted sum + residual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 modes to monitor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781050"/>
            <a:ext cx="11391900" cy="1314450"/>
          </a:xfrm>
          <a:prstGeom prst="roundRect">
            <a:avLst>
              <a:gd name="adj" fmla="val 69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781050"/>
            <a:ext cx="114300" cy="13144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850" y="895350"/>
            <a:ext cx="5126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Collapse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184648" y="904875"/>
            <a:ext cx="5923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Router picks 1–2 experts always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0050" y="2190750"/>
            <a:ext cx="11391900" cy="1314450"/>
          </a:xfrm>
          <a:prstGeom prst="roundRect">
            <a:avLst>
              <a:gd name="adj" fmla="val 69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0050" y="2190750"/>
            <a:ext cx="114300" cy="131445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850" y="2305050"/>
            <a:ext cx="5126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Imbalance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184648" y="2314575"/>
            <a:ext cx="5923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Capacity overflow / dropped tokens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0050" y="3600450"/>
            <a:ext cx="11391900" cy="1314450"/>
          </a:xfrm>
          <a:prstGeom prst="roundRect">
            <a:avLst>
              <a:gd name="adj" fmla="val 69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" y="3600450"/>
            <a:ext cx="114300" cy="131445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850" y="3714750"/>
            <a:ext cx="5126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Under-train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184648" y="3724275"/>
            <a:ext cx="5923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Rare experts never specialize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0050" y="5010150"/>
            <a:ext cx="11391900" cy="1314450"/>
          </a:xfrm>
          <a:prstGeom prst="roundRect">
            <a:avLst>
              <a:gd name="adj" fmla="val 69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0050" y="5010150"/>
            <a:ext cx="114300" cy="131445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850" y="5124450"/>
            <a:ext cx="5126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 tails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184648" y="5133975"/>
            <a:ext cx="5923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Hot experts dominate p99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space and operating points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0050" y="819150"/>
            <a:ext cx="66008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CHOICES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543050" y="1143000"/>
            <a:ext cx="2538413" cy="2266950"/>
          </a:xfrm>
          <a:prstGeom prst="roundRect">
            <a:avLst>
              <a:gd name="adj" fmla="val 4034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76712" y="1143000"/>
            <a:ext cx="2538413" cy="2266950"/>
          </a:xfrm>
          <a:prstGeom prst="roundRect">
            <a:avLst>
              <a:gd name="adj" fmla="val 4034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43050" y="3505200"/>
            <a:ext cx="2538413" cy="2266950"/>
          </a:xfrm>
          <a:prstGeom prst="roundRect">
            <a:avLst>
              <a:gd name="adj" fmla="val 4034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76712" y="3505200"/>
            <a:ext cx="2538413" cy="2266950"/>
          </a:xfrm>
          <a:prstGeom prst="roundRect">
            <a:avLst>
              <a:gd name="adj" fmla="val 4034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0" y="11430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Capacity efficiency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43050" y="5924550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Routing complexity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5450" y="1276350"/>
            <a:ext cx="22336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HASH / STATIC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29113" y="1276350"/>
            <a:ext cx="22336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LEARNED TOP-K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95450" y="3638550"/>
            <a:ext cx="22336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329113" y="3638550"/>
            <a:ext cx="22336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 MOE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695450" y="1562100"/>
            <a:ext cx="2233613" cy="381000"/>
          </a:xfrm>
          <a:prstGeom prst="roundRect">
            <a:avLst>
              <a:gd name="adj" fmla="val 24000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09750" y="1562100"/>
            <a:ext cx="20050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 hashing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329113" y="1562100"/>
            <a:ext cx="2233613" cy="381000"/>
          </a:xfrm>
          <a:prstGeom prst="roundRect">
            <a:avLst>
              <a:gd name="adj" fmla="val 24000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43413" y="1562100"/>
            <a:ext cx="20050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 / GShard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695450" y="3924300"/>
            <a:ext cx="2233613" cy="381000"/>
          </a:xfrm>
          <a:prstGeom prst="roundRect">
            <a:avLst>
              <a:gd name="adj" fmla="val 24000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09750" y="3924300"/>
            <a:ext cx="20050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Dense LLaMA-style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329113" y="3924300"/>
            <a:ext cx="2233613" cy="381000"/>
          </a:xfrm>
          <a:prstGeom prst="roundRect">
            <a:avLst>
              <a:gd name="adj" fmla="val 24000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43413" y="3924300"/>
            <a:ext cx="20050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Expert Choice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153275" y="819150"/>
            <a:ext cx="4638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OPERATING POINTS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153275" y="1143000"/>
            <a:ext cx="2200275" cy="2343150"/>
          </a:xfrm>
          <a:prstGeom prst="roundRect">
            <a:avLst>
              <a:gd name="adj" fmla="val 415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53275" y="1143000"/>
            <a:ext cx="2200275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43775" y="1390650"/>
            <a:ext cx="1819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43775" y="1790700"/>
            <a:ext cx="1819275" cy="1009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8–64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7343775" y="2933700"/>
            <a:ext cx="1819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MoE layer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582150" y="1143000"/>
            <a:ext cx="2200275" cy="2343150"/>
          </a:xfrm>
          <a:prstGeom prst="roundRect">
            <a:avLst>
              <a:gd name="adj" fmla="val 415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582150" y="1143000"/>
            <a:ext cx="2200275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772650" y="1390650"/>
            <a:ext cx="1819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TOP-K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772650" y="1790700"/>
            <a:ext cx="1819275" cy="1009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1–2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9772650" y="2933700"/>
            <a:ext cx="1819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Active per token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153275" y="3543300"/>
            <a:ext cx="4638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WATCHOUTS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153275" y="3752850"/>
            <a:ext cx="4638675" cy="1238250"/>
          </a:xfrm>
          <a:prstGeom prst="roundRect">
            <a:avLst>
              <a:gd name="adj" fmla="val 7385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153275" y="3752850"/>
            <a:ext cx="114300" cy="12382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58075" y="3867150"/>
            <a:ext cx="20874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Collapse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9101519" y="3876675"/>
            <a:ext cx="24121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Router sticks to 1–2 experts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153275" y="5086350"/>
            <a:ext cx="4638675" cy="1238250"/>
          </a:xfrm>
          <a:prstGeom prst="roundRect">
            <a:avLst>
              <a:gd name="adj" fmla="val 7385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53275" y="5086350"/>
            <a:ext cx="114300" cy="123825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58075" y="5200650"/>
            <a:ext cx="20874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Imbalance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9101519" y="5210175"/>
            <a:ext cx="24121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Capacity overflow / drops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 to get right (bottom → top)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176826" y="781050"/>
            <a:ext cx="5838349" cy="1323975"/>
          </a:xfrm>
          <a:prstGeom prst="roundRect">
            <a:avLst>
              <a:gd name="adj" fmla="val 690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91126" y="1347788"/>
            <a:ext cx="56097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51234" y="2181225"/>
            <a:ext cx="7689533" cy="1323975"/>
          </a:xfrm>
          <a:prstGeom prst="roundRect">
            <a:avLst>
              <a:gd name="adj" fmla="val 690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65534" y="2747963"/>
            <a:ext cx="74609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 recipe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642" y="3581400"/>
            <a:ext cx="9540716" cy="1323975"/>
          </a:xfrm>
          <a:prstGeom prst="roundRect">
            <a:avLst>
              <a:gd name="adj" fmla="val 690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39942" y="4148137"/>
            <a:ext cx="93121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Router design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00050" y="4981575"/>
            <a:ext cx="11391900" cy="1323975"/>
          </a:xfrm>
          <a:prstGeom prst="roundRect">
            <a:avLst>
              <a:gd name="adj" fmla="val 6906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4350" y="5548313"/>
            <a:ext cx="11163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Expert FFN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1238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MoE buys capacity—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if routing stays healthy.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29527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 expert usage, capacity drops and latency tails as first-class metrics.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000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4000500"/>
            <a:ext cx="57150" cy="114300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41529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START SPARSE CAREFULLY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4419600"/>
            <a:ext cx="3105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Few layers, strong aux loss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719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71950" y="4000500"/>
            <a:ext cx="57150" cy="11430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41529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WATCH BALANCE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43400" y="4419600"/>
            <a:ext cx="3105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Per-expert token share dashboards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438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43850" y="4000500"/>
            <a:ext cx="57150" cy="1143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5300" y="41529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SCALE EXPERTS LATER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15300" y="4419600"/>
            <a:ext cx="3105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collapse is controlled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0050" y="5619750"/>
            <a:ext cx="1047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Next: reproduce a 8-expert top-2 layer and plot token share over training.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SYSTEMS  ·  MIXTURE OF EXPERTS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Mixture of Experts in LLMs</dc:title>
  <dc:subject>PptxGenJS Presentation</dc:subject>
  <dc:creator>ppt-gen</dc:creator>
  <cp:lastModifiedBy>ppt-gen</cp:lastModifiedBy>
  <cp:revision>1</cp:revision>
  <dcterms:created xsi:type="dcterms:W3CDTF">2026-09-20T11:01:43Z</dcterms:created>
  <dcterms:modified xsi:type="dcterms:W3CDTF">2026-09-20T11:01:43Z</dcterms:modified>
</cp:coreProperties>
</file>