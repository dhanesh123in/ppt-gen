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4572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00050" y="1143000"/>
            <a:ext cx="7239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Mixture of Experts
for large language models
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00050" y="3429000"/>
            <a:ext cx="685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Sparse activation, dense capacity—how routing, load balance and capacity interact at scale.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00050" y="4381500"/>
            <a:ext cx="1238250" cy="28575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6250" y="4438650"/>
            <a:ext cx="1085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RESEARCH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00050" y="48768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ML engineers and research leads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96250" y="381000"/>
            <a:ext cx="3333750" cy="5715000"/>
          </a:xfrm>
          <a:prstGeom prst="roundRect">
            <a:avLst>
              <a:gd name="adj" fmla="val 27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39150" y="1143000"/>
            <a:ext cx="400050" cy="4000500"/>
          </a:xfrm>
          <a:prstGeom prst="roundRect">
            <a:avLst>
              <a:gd name="adj" fmla="val 22857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91600" y="1143000"/>
            <a:ext cx="400050" cy="3619500"/>
          </a:xfrm>
          <a:prstGeom prst="roundRect">
            <a:avLst>
              <a:gd name="adj" fmla="val 22857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44050" y="1143000"/>
            <a:ext cx="400050" cy="3238500"/>
          </a:xfrm>
          <a:prstGeom prst="roundRect">
            <a:avLst>
              <a:gd name="adj" fmla="val 22857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96500" y="1143000"/>
            <a:ext cx="400050" cy="2857500"/>
          </a:xfrm>
          <a:prstGeom prst="roundRect">
            <a:avLst>
              <a:gd name="adj" fmla="val 22857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48950" y="1143000"/>
            <a:ext cx="400050" cy="2476500"/>
          </a:xfrm>
          <a:prstGeom prst="roundRect">
            <a:avLst>
              <a:gd name="adj" fmla="val 22857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39150" y="5524500"/>
            <a:ext cx="2647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 ACTIVATION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524000" y="219075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Motivation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524000" y="3381375"/>
            <a:ext cx="914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parameters without scaling FLOPs linearly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Dense vs sparse activation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peak capacity; different compute per token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1447800"/>
            <a:ext cx="5695950" cy="4876800"/>
          </a:xfrm>
          <a:prstGeom prst="roundRect">
            <a:avLst>
              <a:gd name="adj" fmla="val 187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0050" y="1447800"/>
            <a:ext cx="56959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0" y="1676400"/>
            <a:ext cx="5276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DENSE TRANSFORMER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971675"/>
            <a:ext cx="52768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parameter on every token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09600" y="2733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0100" y="26479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 grows with all layers × width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9600" y="3267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0100" y="31813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Simple training dynamics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09600" y="3800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0100" y="37147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Hard to add capacity without cost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324600" y="1447800"/>
            <a:ext cx="5467350" cy="4876800"/>
          </a:xfrm>
          <a:prstGeom prst="roundRect">
            <a:avLst>
              <a:gd name="adj" fmla="val 187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24600" y="1447800"/>
            <a:ext cx="54673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4150" y="1676400"/>
            <a:ext cx="5048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MIXTURE OF EXPERTS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34150" y="1971675"/>
            <a:ext cx="5048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Few experts fire per token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534150" y="2733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4650" y="26479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Top-k routing selects specialists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34150" y="3267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4650" y="31813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Parameters grow faster than FLOPs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534150" y="3800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4650" y="37147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New failure modes — collapse &amp; imbalance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Canonical MoE block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45458" y="1257300"/>
            <a:ext cx="4101084" cy="838200"/>
          </a:xfrm>
          <a:prstGeom prst="roundRect">
            <a:avLst>
              <a:gd name="adj" fmla="val 10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45458" y="1257300"/>
            <a:ext cx="57150" cy="838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16908" y="1409700"/>
            <a:ext cx="37581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MOE LAYER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081713" y="209550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33613" y="2424113"/>
            <a:ext cx="7715250" cy="28575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19325" y="243840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76950" y="243840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34575" y="243840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050" y="2781300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050" y="2781300"/>
            <a:ext cx="57150" cy="10477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1500" y="293370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ROUTER (GATING NET)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57675" y="2781300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57675" y="2781300"/>
            <a:ext cx="57150" cy="10477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29125" y="293370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 FFNS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15300" y="2781300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15300" y="2781300"/>
            <a:ext cx="57150" cy="10477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86750" y="293370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COMBINE / RESIDUAL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 load is uneven in practice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23950"/>
            <a:ext cx="11010900" cy="4191000"/>
          </a:xfrm>
          <a:prstGeom prst="roundRect">
            <a:avLst>
              <a:gd name="adj" fmla="val 218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6" name="Image 0" descr="/Users/dpadmana/projects/ppt-gen/assets/plots/moe_routing-911a39122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4025" y="1314450"/>
            <a:ext cx="8372475" cy="3810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0550" y="5486400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Without balancing, a few experts absorb most tokens—others starve.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Gating and load-balance objective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895475"/>
            <a:ext cx="11391900" cy="3714750"/>
          </a:xfrm>
          <a:prstGeom prst="roundRect">
            <a:avLst>
              <a:gd name="adj" fmla="val 246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6" name="Image 0" descr="/Users/dpadmana/projects/ppt-gen/assets/math/math-0ff6a9d11942898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2200275"/>
            <a:ext cx="10477500" cy="24193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57250" y="4924425"/>
            <a:ext cx="1047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Top-k experts receive token x; auxiliary load-balance loss penalizes deviation from uniform expert usage.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Router → experts → train constraints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23950"/>
            <a:ext cx="11010900" cy="3457575"/>
          </a:xfrm>
          <a:prstGeom prst="roundRect">
            <a:avLst>
              <a:gd name="adj" fmla="val 264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6" name="Image 0" descr="/Users/dpadmana/projects/ppt-gen/assets/diagrams/mo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550" y="1314450"/>
            <a:ext cx="10629900" cy="30765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Forward pass (simplified)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81100"/>
            <a:ext cx="2714625" cy="5143500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1181100"/>
            <a:ext cx="57150" cy="5143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1500" y="1333500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EMBED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1500" y="1600200"/>
            <a:ext cx="237172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Token → hidden state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114675" y="3743325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86125" y="1181100"/>
            <a:ext cx="2714625" cy="5143500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86125" y="1181100"/>
            <a:ext cx="57150" cy="5143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57575" y="1333500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57575" y="1600200"/>
            <a:ext cx="237172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Softmax over experts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00750" y="3743325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181100"/>
            <a:ext cx="2714625" cy="5143500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181100"/>
            <a:ext cx="57150" cy="5143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3650" y="1333500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 FFN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43650" y="1600200"/>
            <a:ext cx="237172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Top-k compute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886825" y="3743325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58275" y="1181100"/>
            <a:ext cx="2714625" cy="5143500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58275" y="1181100"/>
            <a:ext cx="57150" cy="51435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29725" y="1333500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MERGE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9725" y="1600200"/>
            <a:ext cx="237172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Weighted sum + residual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Failure modes to monitor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81100"/>
            <a:ext cx="11391900" cy="1209675"/>
          </a:xfrm>
          <a:prstGeom prst="roundRect">
            <a:avLst>
              <a:gd name="adj" fmla="val 755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1181100"/>
            <a:ext cx="114300" cy="120967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850" y="1295400"/>
            <a:ext cx="51263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Collapse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184648" y="1304925"/>
            <a:ext cx="5923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Router picks 1–2 experts always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00050" y="2486025"/>
            <a:ext cx="11391900" cy="1209675"/>
          </a:xfrm>
          <a:prstGeom prst="roundRect">
            <a:avLst>
              <a:gd name="adj" fmla="val 755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0050" y="2486025"/>
            <a:ext cx="114300" cy="1209675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850" y="2600325"/>
            <a:ext cx="51263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Imbalance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84648" y="2609850"/>
            <a:ext cx="5923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Capacity overflow / dropped tokens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00050" y="3790950"/>
            <a:ext cx="11391900" cy="1209675"/>
          </a:xfrm>
          <a:prstGeom prst="roundRect">
            <a:avLst>
              <a:gd name="adj" fmla="val 755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050" y="3790950"/>
            <a:ext cx="114300" cy="1209675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850" y="3905250"/>
            <a:ext cx="51263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Under-train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84648" y="3914775"/>
            <a:ext cx="5923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Rare experts never specialize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00050" y="5095875"/>
            <a:ext cx="11391900" cy="1209675"/>
          </a:xfrm>
          <a:prstGeom prst="roundRect">
            <a:avLst>
              <a:gd name="adj" fmla="val 755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0050" y="5095875"/>
            <a:ext cx="114300" cy="1209675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850" y="5210175"/>
            <a:ext cx="51263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tails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184648" y="5219700"/>
            <a:ext cx="5923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Hot experts dominate p99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choices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543050" y="1295400"/>
            <a:ext cx="4933950" cy="2190750"/>
          </a:xfrm>
          <a:prstGeom prst="roundRect">
            <a:avLst>
              <a:gd name="adj" fmla="val 4174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72250" y="1295400"/>
            <a:ext cx="4933950" cy="2190750"/>
          </a:xfrm>
          <a:prstGeom prst="roundRect">
            <a:avLst>
              <a:gd name="adj" fmla="val 4174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43050" y="3581400"/>
            <a:ext cx="4933950" cy="2190750"/>
          </a:xfrm>
          <a:prstGeom prst="roundRect">
            <a:avLst>
              <a:gd name="adj" fmla="val 4174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72250" y="3581400"/>
            <a:ext cx="4933950" cy="2190750"/>
          </a:xfrm>
          <a:prstGeom prst="roundRect">
            <a:avLst>
              <a:gd name="adj" fmla="val 4174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0050" y="1295400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Capacity efficiency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43050" y="5924550"/>
            <a:ext cx="9963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Routing complexity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95450" y="142875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HASH / STATIC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24650" y="142875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LEARNED TOP-K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95450" y="371475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DENSE BASELINE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24650" y="371475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SOFT MOE / EXPERT CHOICE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695450" y="171450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09750" y="171450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Token hashing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724650" y="171450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38950" y="171450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Switch / GShard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695450" y="400050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09750" y="400050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Dense LLaMA-style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724650" y="400050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38950" y="400050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 Choice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Typical operating points (illustrative)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2324100"/>
            <a:ext cx="2676525" cy="2857500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2324100"/>
            <a:ext cx="2676525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0550" y="2571750"/>
            <a:ext cx="2295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0550" y="2971800"/>
            <a:ext cx="229552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8–64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90550" y="4629150"/>
            <a:ext cx="2295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 MoE layer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05175" y="2324100"/>
            <a:ext cx="2676525" cy="2857500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05175" y="2324100"/>
            <a:ext cx="2676525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95675" y="2571750"/>
            <a:ext cx="2295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TOP-K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5675" y="2971800"/>
            <a:ext cx="229552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1–2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3495675" y="4629150"/>
            <a:ext cx="2295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Active per token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0300" y="2324100"/>
            <a:ext cx="2676525" cy="2857500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0300" y="2324100"/>
            <a:ext cx="2676525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2571750"/>
            <a:ext cx="2295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PARAMS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2971800"/>
            <a:ext cx="229552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4–10×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6400800" y="4629150"/>
            <a:ext cx="2295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vs dense iso-FLOP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115425" y="2324100"/>
            <a:ext cx="2676525" cy="2857500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15425" y="2324100"/>
            <a:ext cx="2676525" cy="762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05925" y="2571750"/>
            <a:ext cx="2295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AUX LOSS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05925" y="2971800"/>
            <a:ext cx="229552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λ≈0.01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9305925" y="4629150"/>
            <a:ext cx="2295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Load balance weight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Stack to get right (bottom → top)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176826" y="1181100"/>
            <a:ext cx="5838349" cy="1228725"/>
          </a:xfrm>
          <a:prstGeom prst="roundRect">
            <a:avLst>
              <a:gd name="adj" fmla="val 7442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91126" y="1700213"/>
            <a:ext cx="56097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51234" y="2486025"/>
            <a:ext cx="7689533" cy="1228725"/>
          </a:xfrm>
          <a:prstGeom prst="roundRect">
            <a:avLst>
              <a:gd name="adj" fmla="val 7442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65534" y="3005138"/>
            <a:ext cx="746093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Training recipe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25642" y="3790950"/>
            <a:ext cx="9540716" cy="1228725"/>
          </a:xfrm>
          <a:prstGeom prst="roundRect">
            <a:avLst>
              <a:gd name="adj" fmla="val 7442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39942" y="4310063"/>
            <a:ext cx="93121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Router design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00050" y="5095875"/>
            <a:ext cx="11391900" cy="1228725"/>
          </a:xfrm>
          <a:prstGeom prst="roundRect">
            <a:avLst>
              <a:gd name="adj" fmla="val 7442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4350" y="5614988"/>
            <a:ext cx="111633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 FFN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TAKEAWAY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00050" y="1238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MoE buys capacity—
only if routing stays healthy.
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00050" y="2952750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Instrument expert usage, capacity drops and latency tails as first-class metrics.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000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4000500"/>
            <a:ext cx="57150" cy="11430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15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START SPARSE CAREFULLY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15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Few layers, strong aux loss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719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71950" y="4000500"/>
            <a:ext cx="57150" cy="11430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WATCH BALANCE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434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Per-expert token share dashboards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438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43850" y="4000500"/>
            <a:ext cx="57150" cy="1143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153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SCALE EXPERTS LATER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1153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 collapse is controlled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Next: reproduce a 8-expert top-2 layer and plot token share over training.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ML SYSTEMS  ·  MIXTURE OF EXPERTS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Mixture of Experts in LLMs</dc:title>
  <dc:subject>PptxGenJS Presentation</dc:subject>
  <dc:creator>ppt-gen</dc:creator>
  <cp:lastModifiedBy>ppt-gen</cp:lastModifiedBy>
  <cp:revision>1</cp:revision>
  <dcterms:created xsi:type="dcterms:W3CDTF">2026-08-08T15:17:20Z</dcterms:created>
  <dcterms:modified xsi:type="dcterms:W3CDTF">2026-08-08T15:17:20Z</dcterms:modified>
</cp:coreProperties>
</file>