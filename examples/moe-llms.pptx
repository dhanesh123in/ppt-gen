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Mixture of Experts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large language models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0383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Sparse activation, dense capacity—how routing, load balance and capacity interact at scale.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860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7432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1051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ML engineers and research leads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39150" y="1143000"/>
            <a:ext cx="400050" cy="4000500"/>
          </a:xfrm>
          <a:prstGeom prst="roundRect">
            <a:avLst>
              <a:gd name="adj" fmla="val 22857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91600" y="1143000"/>
            <a:ext cx="400050" cy="3619500"/>
          </a:xfrm>
          <a:prstGeom prst="roundRect">
            <a:avLst>
              <a:gd name="adj" fmla="val 22857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44050" y="1143000"/>
            <a:ext cx="400050" cy="3238500"/>
          </a:xfrm>
          <a:prstGeom prst="roundRect">
            <a:avLst>
              <a:gd name="adj" fmla="val 22857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96500" y="1143000"/>
            <a:ext cx="400050" cy="2857500"/>
          </a:xfrm>
          <a:prstGeom prst="roundRect">
            <a:avLst>
              <a:gd name="adj" fmla="val 22857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48950" y="1143000"/>
            <a:ext cx="400050" cy="2476500"/>
          </a:xfrm>
          <a:prstGeom prst="roundRect">
            <a:avLst>
              <a:gd name="adj" fmla="val 22857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39150" y="5524500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ACTIVATION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Motivation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parameters without scaling FLOPs linearly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vs sparse activation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peak capacity; different compute per token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56959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685925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TRANSFORMER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981200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parameter on every token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6574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grows with all layers × width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31146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Simple training dynamics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5718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 to add capacity without cost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457325"/>
            <a:ext cx="54673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457325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685925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MIXTURE OF EXPERTS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981200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 experts fire per token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6574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routing selects specialists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31146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Parameters grow faster than FLOPs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5718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New failure modes — collapse &amp; imbalance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Canonical MoE block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45458" y="981075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45458" y="981075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16908" y="1095375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LAYER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1713" y="18192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33613" y="2147888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19325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76950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934575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2505075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(GATING NET)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257675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57675" y="2505075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29125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5300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15300" y="2505075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6750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COMBINE / RESIDUAL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load is uneven in practice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moe_routing-30cb31e2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Without balancing, a few experts absorb most tokens—others starve.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Gating and load-balance objective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2362200"/>
            <a:ext cx="11391900" cy="2505075"/>
          </a:xfrm>
          <a:prstGeom prst="roundRect">
            <a:avLst>
              <a:gd name="adj" fmla="val 365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math/math-0ff6a9d11942898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667000"/>
            <a:ext cx="5238750" cy="12096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7250" y="4181475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experts receive token x; auxiliary load-balance loss penalizes deviation from uniform expert usage.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→ experts → train constraints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457575"/>
          </a:xfrm>
          <a:prstGeom prst="roundRect">
            <a:avLst>
              <a:gd name="adj" fmla="val 264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diagrams/mo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1314450"/>
            <a:ext cx="10629900" cy="30765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Forward pass (simplified)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2714625" cy="541972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7150" cy="54197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101917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EMBED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85875"/>
            <a:ext cx="2371725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→ hidden state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114675" y="3605213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86125" y="904875"/>
            <a:ext cx="2714625" cy="541972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6125" y="904875"/>
            <a:ext cx="57150" cy="54197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57575" y="101917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57575" y="1285875"/>
            <a:ext cx="2371725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 over experts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000750" y="3605213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2200" y="904875"/>
            <a:ext cx="2714625" cy="541972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904875"/>
            <a:ext cx="57150" cy="54197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3650" y="101917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43650" y="1285875"/>
            <a:ext cx="2371725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compute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886825" y="3605213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58275" y="904875"/>
            <a:ext cx="2714625" cy="541972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058275" y="904875"/>
            <a:ext cx="57150" cy="541972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229725" y="101917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MERGE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229725" y="1285875"/>
            <a:ext cx="2371725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Weighted sum + residual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 modes to monitor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114300" cy="12763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6750" y="14382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Collapse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56810" y="14382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picks 1–2 experts always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22764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2276475"/>
            <a:ext cx="114300" cy="12763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28098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Imbalance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956810" y="28098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 overflow / dropped tokens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0050" y="36480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3648075"/>
            <a:ext cx="114300" cy="12763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6750" y="41814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Under-train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956810" y="41814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Rare experts never specialize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00050" y="50196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0050" y="5019675"/>
            <a:ext cx="114300" cy="12763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6750" y="55530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tails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956810" y="55530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Hot experts dominate p99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space and operating points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62025"/>
            <a:ext cx="66008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CHOICES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085850" y="1266825"/>
            <a:ext cx="28527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33837" y="1266825"/>
            <a:ext cx="28527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85850" y="3652838"/>
            <a:ext cx="28527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33837" y="3652838"/>
            <a:ext cx="28527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266825"/>
            <a:ext cx="628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 efficiency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85850" y="6000750"/>
            <a:ext cx="5800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Routing complexity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8250" y="1400175"/>
            <a:ext cx="25479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/ STATIC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186238" y="1400175"/>
            <a:ext cx="25479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LEARNED TOP-K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38250" y="3786188"/>
            <a:ext cx="25479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186238" y="3786188"/>
            <a:ext cx="25479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 MOE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00150" y="1685925"/>
            <a:ext cx="26241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95400" y="1685925"/>
            <a:ext cx="24336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hashing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48137" y="1685925"/>
            <a:ext cx="26241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43388" y="1685925"/>
            <a:ext cx="24336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Switch / GShard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200150" y="4071938"/>
            <a:ext cx="26241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5400" y="4071938"/>
            <a:ext cx="24336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LLaMA-style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148137" y="4071938"/>
            <a:ext cx="26241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43388" y="4071938"/>
            <a:ext cx="24336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Choice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229475" y="962025"/>
            <a:ext cx="45624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OPERATING POINTS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229475" y="1228725"/>
            <a:ext cx="2209800" cy="1647825"/>
          </a:xfrm>
          <a:prstGeom prst="roundRect">
            <a:avLst>
              <a:gd name="adj" fmla="val 554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229475" y="1228725"/>
            <a:ext cx="22098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400925" y="1438275"/>
            <a:ext cx="1866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00925" y="1762125"/>
            <a:ext cx="1866900" cy="542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8–64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7400925" y="2400300"/>
            <a:ext cx="1866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MoE layer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572625" y="1228725"/>
            <a:ext cx="2209800" cy="1647825"/>
          </a:xfrm>
          <a:prstGeom prst="roundRect">
            <a:avLst>
              <a:gd name="adj" fmla="val 554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572625" y="1228725"/>
            <a:ext cx="22098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744075" y="1438275"/>
            <a:ext cx="1866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744075" y="1762125"/>
            <a:ext cx="1866900" cy="5429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1–2</a:t>
            </a:r>
            <a:endParaRPr lang="en-US" sz="4000" dirty="0"/>
          </a:p>
        </p:txBody>
      </p:sp>
      <p:sp>
        <p:nvSpPr>
          <p:cNvPr id="35" name="Text 32"/>
          <p:cNvSpPr/>
          <p:nvPr/>
        </p:nvSpPr>
        <p:spPr>
          <a:xfrm>
            <a:off x="9744075" y="2400300"/>
            <a:ext cx="1866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Active per token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229475" y="3619500"/>
            <a:ext cx="45624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WATCHOUTS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229475" y="3886200"/>
            <a:ext cx="4562475" cy="533400"/>
          </a:xfrm>
          <a:prstGeom prst="roundRect">
            <a:avLst>
              <a:gd name="adj" fmla="val 171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29475" y="3886200"/>
            <a:ext cx="114300" cy="5334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496175" y="4048125"/>
            <a:ext cx="17337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Collapse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9054465" y="4048125"/>
            <a:ext cx="25093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sticks to 1–2 experts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7229475" y="4514850"/>
            <a:ext cx="4562475" cy="533400"/>
          </a:xfrm>
          <a:prstGeom prst="roundRect">
            <a:avLst>
              <a:gd name="adj" fmla="val 171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29475" y="4514850"/>
            <a:ext cx="114300" cy="5334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96175" y="4676775"/>
            <a:ext cx="17337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Imbalance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9054465" y="4676775"/>
            <a:ext cx="25093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 overflow / drops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 to get right (bottom → top)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176826" y="904875"/>
            <a:ext cx="5838349" cy="1295400"/>
          </a:xfrm>
          <a:prstGeom prst="roundRect">
            <a:avLst>
              <a:gd name="adj" fmla="val 705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91126" y="1457325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251234" y="2276475"/>
            <a:ext cx="7689533" cy="1295400"/>
          </a:xfrm>
          <a:prstGeom prst="roundRect">
            <a:avLst>
              <a:gd name="adj" fmla="val 7059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65534" y="2828925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Training recipe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325642" y="3648075"/>
            <a:ext cx="9540716" cy="1295400"/>
          </a:xfrm>
          <a:prstGeom prst="roundRect">
            <a:avLst>
              <a:gd name="adj" fmla="val 7059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39942" y="4200525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design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00050" y="5019675"/>
            <a:ext cx="11391900" cy="1295400"/>
          </a:xfrm>
          <a:prstGeom prst="roundRect">
            <a:avLst>
              <a:gd name="adj" fmla="val 705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4350" y="5572125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TAKEAWAY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buys capacity—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only if routing stays healthy.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78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expert usage, capacity drops and latency tails as first-class metrics.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START SPARSE CAREFULLY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 layers, strong aux loss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WATCH BALANCE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Per-expert token share dashboards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EXPERTS LATER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collapse is controlled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Next: reproduce a 8-expert top-2 layer and plot token share over training.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 of Experts in LLMs</dc:title>
  <dc:subject>PptxGenJS Presentation</dc:subject>
  <dc:creator>ppt-gen</dc:creator>
  <cp:lastModifiedBy>ppt-gen</cp:lastModifiedBy>
  <cp:revision>1</cp:revision>
  <dcterms:created xsi:type="dcterms:W3CDTF">2026-09-20T11:19:35Z</dcterms:created>
  <dcterms:modified xsi:type="dcterms:W3CDTF">2026-09-20T11:19:35Z</dcterms:modified>
</cp:coreProperties>
</file>