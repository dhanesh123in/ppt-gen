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381000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RETAIL STRATEGY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00050" y="838200"/>
            <a:ext cx="72390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Markdown is leaking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6–9 pts of margin</a:t>
            </a:r>
            <a:endParaRPr lang="en-US" sz="4000" dirty="0"/>
          </a:p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0050" y="211455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12-month path to price with intent—not panic—across full-price, promo and clearance.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00050" y="2914650"/>
            <a:ext cx="1238250" cy="2857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6250" y="2971800"/>
            <a:ext cx="1085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BCG-STYLE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0050" y="33337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merchandising, planning and finance leaders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96250" y="381000"/>
            <a:ext cx="3333750" cy="5715000"/>
          </a:xfrm>
          <a:prstGeom prst="roundRect">
            <a:avLst>
              <a:gd name="adj" fmla="val 274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62950" y="952500"/>
            <a:ext cx="800100" cy="952500"/>
          </a:xfrm>
          <a:prstGeom prst="roundRect">
            <a:avLst>
              <a:gd name="adj" fmla="val 11429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15450" y="952500"/>
            <a:ext cx="800100" cy="952500"/>
          </a:xfrm>
          <a:prstGeom prst="roundRect">
            <a:avLst>
              <a:gd name="adj" fmla="val 1142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67950" y="952500"/>
            <a:ext cx="800100" cy="952500"/>
          </a:xfrm>
          <a:prstGeom prst="roundRect">
            <a:avLst>
              <a:gd name="adj" fmla="val 11429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62950" y="2095500"/>
            <a:ext cx="800100" cy="952500"/>
          </a:xfrm>
          <a:prstGeom prst="roundRect">
            <a:avLst>
              <a:gd name="adj" fmla="val 1142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15450" y="2095500"/>
            <a:ext cx="800100" cy="952500"/>
          </a:xfrm>
          <a:prstGeom prst="roundRect">
            <a:avLst>
              <a:gd name="adj" fmla="val 11429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67950" y="2095500"/>
            <a:ext cx="800100" cy="952500"/>
          </a:xfrm>
          <a:prstGeom prst="roundRect">
            <a:avLst>
              <a:gd name="adj" fmla="val 11429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62950" y="3238500"/>
            <a:ext cx="800100" cy="952500"/>
          </a:xfrm>
          <a:prstGeom prst="roundRect">
            <a:avLst>
              <a:gd name="adj" fmla="val 11429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315450" y="3238500"/>
            <a:ext cx="800100" cy="952500"/>
          </a:xfrm>
          <a:prstGeom prst="roundRect">
            <a:avLst>
              <a:gd name="adj" fmla="val 11429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267950" y="3238500"/>
            <a:ext cx="800100" cy="952500"/>
          </a:xfrm>
          <a:prstGeom prst="roundRect">
            <a:avLst>
              <a:gd name="adj" fmla="val 11429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62950" y="4381500"/>
            <a:ext cx="800100" cy="952500"/>
          </a:xfrm>
          <a:prstGeom prst="roundRect">
            <a:avLst>
              <a:gd name="adj" fmla="val 11429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315450" y="4381500"/>
            <a:ext cx="800100" cy="952500"/>
          </a:xfrm>
          <a:prstGeom prst="roundRect">
            <a:avLst>
              <a:gd name="adj" fmla="val 11429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67950" y="4381500"/>
            <a:ext cx="800100" cy="952500"/>
          </a:xfrm>
          <a:prstGeom prst="roundRect">
            <a:avLst>
              <a:gd name="adj" fmla="val 1142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APPAREL  ·  MARKDOWN STRATEGY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57200"/>
            <a:ext cx="2381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24000" y="25527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524000" y="34671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Clearance is running the P&amp;L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APPAREL  ·  MARKDOWN STRATEGY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Reactive markdown vs intentional markdown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inventory decisions; very different margin outcomes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APPAREL  ·  MARKDOWN STRATEGY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419225"/>
            <a:ext cx="5695950" cy="4905375"/>
          </a:xfrm>
          <a:prstGeom prst="roundRect">
            <a:avLst>
              <a:gd name="adj" fmla="val 186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419225"/>
            <a:ext cx="5695950" cy="762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9600" y="1647825"/>
            <a:ext cx="527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9600" y="1943100"/>
            <a:ext cx="5276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Late, blunt, channel-blind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09600" y="27908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" y="2619375"/>
            <a:ext cx="5086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Clearance rates climb after sell-through stalls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9600" y="32480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" y="3076575"/>
            <a:ext cx="5086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Promo and outlet compete with full-price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09600" y="37052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0100" y="3533775"/>
            <a:ext cx="5086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Planners lack a shared demand signal by SKU-size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324600" y="1419225"/>
            <a:ext cx="5467350" cy="4905375"/>
          </a:xfrm>
          <a:prstGeom prst="roundRect">
            <a:avLst>
              <a:gd name="adj" fmla="val 186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24600" y="1419225"/>
            <a:ext cx="5467350" cy="762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4150" y="1647825"/>
            <a:ext cx="504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34150" y="1943100"/>
            <a:ext cx="504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Early, SKU-aware, testable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534150" y="27908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24650" y="2619375"/>
            <a:ext cx="485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Predict residual risk before week 6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534150" y="32480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4650" y="3076575"/>
            <a:ext cx="485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Next-best price by cluster, not blanket %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534150" y="37052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24650" y="3533775"/>
            <a:ext cx="485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Holdouts prove lift vs margin trade-off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Clearance already destroys more margin than promo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APPAREL  ·  MARKDOWN STRATEGY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866775"/>
            <a:ext cx="7058025" cy="5457825"/>
          </a:xfrm>
          <a:prstGeom prst="roundRect">
            <a:avLst>
              <a:gd name="adj" fmla="val 1675"/>
            </a:avLst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pic>
        <p:nvPicPr>
          <p:cNvPr id="7" name="Image 1" descr="/Users/dpadmana/projects/ppt-gen/assets/plots/apparel_markdown-8843ecdf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066925"/>
            <a:ext cx="6753225" cy="3067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43825" y="866775"/>
            <a:ext cx="4048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743825" y="13811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34325" y="1209675"/>
            <a:ext cx="38576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Clearance markdown rate ~41% of units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743825" y="18383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34325" y="1666875"/>
            <a:ext cx="38576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~9.5 pts gross margin lost in that lane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743825" y="22955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34325" y="2124075"/>
            <a:ext cx="38576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Full-price is the only lane under control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Full-price mix is eroding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APPAREL  ·  MARKDOWN STRATEGY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1123950"/>
            <a:ext cx="11010900" cy="4191000"/>
          </a:xfrm>
          <a:prstGeom prst="roundRect">
            <a:avLst>
              <a:gd name="adj" fmla="val 2182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pic>
        <p:nvPicPr>
          <p:cNvPr id="7" name="Image 1" descr="/Users/dpadmana/projects/ppt-gen/assets/plots/apparel_margin-c1f66aff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25" y="1314450"/>
            <a:ext cx="8372475" cy="3810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0550" y="5486400"/>
            <a:ext cx="1047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Full-price mix fell from 61% → 47% in six months—before peak holiday.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to act — and what it buys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APPAREL  ·  MARKDOWN STRATEGY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0050" y="981075"/>
            <a:ext cx="6410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INTERVENE FIRST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085850" y="1285875"/>
            <a:ext cx="2757488" cy="2281238"/>
          </a:xfrm>
          <a:prstGeom prst="roundRect">
            <a:avLst>
              <a:gd name="adj" fmla="val 4008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38588" y="1285875"/>
            <a:ext cx="2757488" cy="2281238"/>
          </a:xfrm>
          <a:prstGeom prst="roundRect">
            <a:avLst>
              <a:gd name="adj" fmla="val 4008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5850" y="3662362"/>
            <a:ext cx="2757488" cy="2281238"/>
          </a:xfrm>
          <a:prstGeom prst="roundRect">
            <a:avLst>
              <a:gd name="adj" fmla="val 4008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8588" y="3662362"/>
            <a:ext cx="2757488" cy="2281238"/>
          </a:xfrm>
          <a:prstGeom prst="roundRect">
            <a:avLst>
              <a:gd name="adj" fmla="val 4008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0050" y="1285875"/>
            <a:ext cx="62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Unit contribution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85850" y="6000750"/>
            <a:ext cx="561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Sell-through risk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8250" y="1419225"/>
            <a:ext cx="24526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090987" y="1419225"/>
            <a:ext cx="24526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PRICE NOW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38250" y="3795713"/>
            <a:ext cx="24526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90987" y="3795713"/>
            <a:ext cx="24526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00150" y="1704975"/>
            <a:ext cx="2528888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95400" y="1704975"/>
            <a:ext cx="23383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basics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052888" y="1704975"/>
            <a:ext cx="2528888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48137" y="1704975"/>
            <a:ext cx="23383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Seasonal fashion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200150" y="4081463"/>
            <a:ext cx="2528888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95400" y="4081463"/>
            <a:ext cx="23383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capsules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052888" y="4081463"/>
            <a:ext cx="2528888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48137" y="4081463"/>
            <a:ext cx="23383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Aged novelty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038975" y="981075"/>
            <a:ext cx="4752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ANNUAL IMPACT (ILLUSTRATIVE)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038975" y="1247775"/>
            <a:ext cx="4752975" cy="1333500"/>
          </a:xfrm>
          <a:prstGeom prst="roundRect">
            <a:avLst>
              <a:gd name="adj" fmla="val 68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38975" y="1247775"/>
            <a:ext cx="4752975" cy="762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91375" y="1438275"/>
            <a:ext cx="4448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MARGIN RECOVERY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191375" y="1724025"/>
            <a:ext cx="444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+$23M</a:t>
            </a:r>
            <a:endParaRPr lang="en-US" sz="2500" dirty="0"/>
          </a:p>
        </p:txBody>
      </p:sp>
      <p:sp>
        <p:nvSpPr>
          <p:cNvPr id="30" name="Text 27"/>
          <p:cNvSpPr/>
          <p:nvPr/>
        </p:nvSpPr>
        <p:spPr>
          <a:xfrm>
            <a:off x="7191375" y="2162175"/>
            <a:ext cx="444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Mid-case GP uplift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038975" y="2695575"/>
            <a:ext cx="4752975" cy="1333500"/>
          </a:xfrm>
          <a:prstGeom prst="roundRect">
            <a:avLst>
              <a:gd name="adj" fmla="val 68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038975" y="2695575"/>
            <a:ext cx="4752975" cy="762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91375" y="2886075"/>
            <a:ext cx="4448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FULL-PRICE MIX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191375" y="3171825"/>
            <a:ext cx="444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+5 pts</a:t>
            </a:r>
            <a:endParaRPr lang="en-US" sz="2500" dirty="0"/>
          </a:p>
        </p:txBody>
      </p:sp>
      <p:sp>
        <p:nvSpPr>
          <p:cNvPr id="35" name="Text 32"/>
          <p:cNvSpPr/>
          <p:nvPr/>
        </p:nvSpPr>
        <p:spPr>
          <a:xfrm>
            <a:off x="7191375" y="3609975"/>
            <a:ext cx="444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Within 12 months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038975" y="4143375"/>
            <a:ext cx="4752975" cy="1333500"/>
          </a:xfrm>
          <a:prstGeom prst="roundRect">
            <a:avLst>
              <a:gd name="adj" fmla="val 68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038975" y="4143375"/>
            <a:ext cx="4752975" cy="7620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191375" y="4333875"/>
            <a:ext cx="4448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AGED INVENTORY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191375" y="4619625"/>
            <a:ext cx="444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−20%</a:t>
            </a:r>
            <a:endParaRPr lang="en-US" sz="2500" dirty="0"/>
          </a:p>
        </p:txBody>
      </p:sp>
      <p:sp>
        <p:nvSpPr>
          <p:cNvPr id="40" name="Text 37"/>
          <p:cNvSpPr/>
          <p:nvPr/>
        </p:nvSpPr>
        <p:spPr>
          <a:xfrm>
            <a:off x="7191375" y="5057775"/>
            <a:ext cx="444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of supply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Sequence the capability—not a one-off promo calendar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APPAREL  ·  MARKDOWN STRATEGY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866775"/>
            <a:ext cx="3667125" cy="5000625"/>
          </a:xfrm>
          <a:prstGeom prst="roundRect">
            <a:avLst>
              <a:gd name="adj" fmla="val 249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0050" y="866775"/>
            <a:ext cx="57150" cy="5000625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1038225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0–90 DAYS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" y="1285875"/>
            <a:ext cx="3324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Diagnose &amp; pilot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71500" y="1704975"/>
            <a:ext cx="3324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SKU risk scores + 2 categories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71500" y="23336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2000" y="220027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Residual demand model MVP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71500" y="25622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2000" y="242887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Markdown playbook v1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71500" y="27908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2000" y="265747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Holdout in 40 doors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257675" y="866775"/>
            <a:ext cx="3667125" cy="5000625"/>
          </a:xfrm>
          <a:prstGeom prst="roundRect">
            <a:avLst>
              <a:gd name="adj" fmla="val 249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57675" y="866775"/>
            <a:ext cx="57150" cy="5000625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29125" y="1038225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3–9 MONTHS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429125" y="1285875"/>
            <a:ext cx="3324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decisions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429125" y="1704975"/>
            <a:ext cx="3324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Planner workflow + guardrails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429125" y="23336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19625" y="220027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Next-best price service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429125" y="25622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19625" y="242887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Assortment linkage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429125" y="27908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19625" y="265747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Weekly margin readout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115300" y="866775"/>
            <a:ext cx="3667125" cy="5000625"/>
          </a:xfrm>
          <a:prstGeom prst="roundRect">
            <a:avLst>
              <a:gd name="adj" fmla="val 249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15300" y="866775"/>
            <a:ext cx="57150" cy="5000625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86750" y="1038225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A1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9–18 MONTHS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286750" y="1285875"/>
            <a:ext cx="3324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Optimize system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286750" y="1704975"/>
            <a:ext cx="3324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Cross-channel price fabric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286750" y="23336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77250" y="220027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Outlet / wholesale rules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286750" y="25622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77250" y="242887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Auto-clearance with caps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286750" y="27908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77250" y="265747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Finance-owned KPI pack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400050" y="5943600"/>
            <a:ext cx="1139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gate requires a merchant owner and a stop / scale rule.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90-day pilot squad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commercial ownership next to the algorithm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APPAREL  ·  MARKDOWN STRATEGY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05000" y="1419225"/>
            <a:ext cx="316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1–3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226050" y="1419225"/>
            <a:ext cx="316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4–7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47100" y="1419225"/>
            <a:ext cx="316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8–12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0050" y="1762125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Merchandising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828800" y="1762125"/>
            <a:ext cx="9963150" cy="836295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0050" y="2674620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Planning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828800" y="2674620"/>
            <a:ext cx="9963150" cy="836295"/>
          </a:xfrm>
          <a:prstGeom prst="rect">
            <a:avLst/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0050" y="3587115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science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828800" y="3587115"/>
            <a:ext cx="9963150" cy="836295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0050" y="4499610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Stores / e-comm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828800" y="4499610"/>
            <a:ext cx="9963150" cy="836295"/>
          </a:xfrm>
          <a:prstGeom prst="rect">
            <a:avLst/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0050" y="5412105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Finance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828800" y="5412105"/>
            <a:ext cx="9963150" cy="836295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24050" y="1989773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000250" y="1989773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Category charter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924050" y="2902268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00250" y="2902268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Risk rules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245100" y="3814763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21300" y="3814763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+ holdout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245100" y="4727257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21300" y="4727257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Execution path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566150" y="5639753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42350" y="5639753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Margin gate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572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DECISION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00050" y="1143000"/>
            <a:ext cx="952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Treat markdown as a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system—not a fire drill.</a:t>
            </a:r>
            <a:endParaRPr lang="en-US" sz="4000" dirty="0"/>
          </a:p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0050" y="27813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with two categories, one holdout design, and a finance co-owner.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000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0050" y="4000500"/>
            <a:ext cx="57150" cy="114300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41148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PICK PILOTS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" y="4362450"/>
            <a:ext cx="31051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High-volume categories with residual risk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719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71950" y="4000500"/>
            <a:ext cx="57150" cy="11430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41148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PROVE INCREMENTALITY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43400" y="4362450"/>
            <a:ext cx="31051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Holdouts on price depth and timing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9438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43850" y="4000500"/>
            <a:ext cx="57150" cy="1143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15300" y="41148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SCALE THE FABRIC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15300" y="4362450"/>
            <a:ext cx="31051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Reuse signals across channels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0050" y="5619750"/>
            <a:ext cx="1047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step: convene the 90-day squad and lock the first two categories.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APPAREL  ·  MARKDOWN STRATEGY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Markdown optimization for US apparel</dc:title>
  <dc:subject>PptxGenJS Presentation</dc:subject>
  <dc:creator>ppt-gen</dc:creator>
  <cp:lastModifiedBy>ppt-gen</cp:lastModifiedBy>
  <cp:revision>1</cp:revision>
  <dcterms:created xsi:type="dcterms:W3CDTF">2026-09-27T06:56:53Z</dcterms:created>
  <dcterms:modified xsi:type="dcterms:W3CDTF">2026-09-27T06:56:53Z</dcterms:modified>
</cp:coreProperties>
</file>