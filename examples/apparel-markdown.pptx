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sv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sv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sv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381000"/>
            <a:ext cx="3048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RETAIL STRATEGY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838200"/>
            <a:ext cx="7239000" cy="933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Markdown is leaking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6–9 pts of margin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03835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 12-month path to price with intent—not panic—across full-price, promo and clearance.</a:t>
            </a:r>
            <a:endParaRPr lang="en-US" sz="1700" dirty="0"/>
          </a:p>
        </p:txBody>
      </p:sp>
      <p:sp>
        <p:nvSpPr>
          <p:cNvPr id="6" name="Shape 3"/>
          <p:cNvSpPr/>
          <p:nvPr/>
        </p:nvSpPr>
        <p:spPr>
          <a:xfrm>
            <a:off x="400050" y="2686050"/>
            <a:ext cx="1238250" cy="285750"/>
          </a:xfrm>
          <a:prstGeom prst="roundRect">
            <a:avLst>
              <a:gd name="adj" fmla="val 32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476250" y="2743200"/>
            <a:ext cx="1085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BCG-STYLE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00050" y="3105150"/>
            <a:ext cx="666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For merchandising, planning and finance leaders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8096250" y="381000"/>
            <a:ext cx="3333750" cy="5715000"/>
          </a:xfrm>
          <a:prstGeom prst="roundRect">
            <a:avLst>
              <a:gd name="adj" fmla="val 2743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83629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93154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Shape 9"/>
          <p:cNvSpPr/>
          <p:nvPr/>
        </p:nvSpPr>
        <p:spPr>
          <a:xfrm>
            <a:off x="10267950" y="952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83629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93154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10267950" y="2095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3629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93154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10267950" y="3238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83629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93154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10267950" y="4381500"/>
            <a:ext cx="800100" cy="952500"/>
          </a:xfrm>
          <a:prstGeom prst="roundRect">
            <a:avLst>
              <a:gd name="adj" fmla="val 11429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01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2381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SECTION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1524000" y="2552700"/>
            <a:ext cx="9144000" cy="609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problem</a:t>
            </a:r>
            <a:endParaRPr lang="en-US" sz="4800" dirty="0"/>
          </a:p>
        </p:txBody>
      </p:sp>
      <p:sp>
        <p:nvSpPr>
          <p:cNvPr id="5" name="Text 2"/>
          <p:cNvSpPr/>
          <p:nvPr/>
        </p:nvSpPr>
        <p:spPr>
          <a:xfrm>
            <a:off x="1524000" y="3467100"/>
            <a:ext cx="9144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8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is running the P&amp;L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02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Reactive markdown vs intentional markdown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Same inventory decisions; very different margin outcomes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03</a:t>
            </a:r>
            <a:endParaRPr lang="en-US" sz="1200" dirty="0"/>
          </a:p>
        </p:txBody>
      </p:sp>
      <p:sp>
        <p:nvSpPr>
          <p:cNvPr id="7" name="Shape 4"/>
          <p:cNvSpPr/>
          <p:nvPr/>
        </p:nvSpPr>
        <p:spPr>
          <a:xfrm>
            <a:off x="400050" y="1457325"/>
            <a:ext cx="5695950" cy="4867275"/>
          </a:xfrm>
          <a:prstGeom prst="roundRect">
            <a:avLst>
              <a:gd name="adj" fmla="val 187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400050" y="1457325"/>
            <a:ext cx="5695950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609600" y="1685925"/>
            <a:ext cx="52768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TODAY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09600" y="1981200"/>
            <a:ext cx="52768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Late, blunt, channel-blind</a:t>
            </a:r>
            <a:endParaRPr lang="en-US" sz="2200" dirty="0"/>
          </a:p>
        </p:txBody>
      </p:sp>
      <p:sp>
        <p:nvSpPr>
          <p:cNvPr id="11" name="Shape 8"/>
          <p:cNvSpPr/>
          <p:nvPr/>
        </p:nvSpPr>
        <p:spPr>
          <a:xfrm>
            <a:off x="60960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00100" y="26574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rates climb after sell-through stalls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609600" y="3286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800100" y="31146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Promo and outlet compete with full-price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609600" y="3743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00100" y="3571875"/>
            <a:ext cx="50863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Planners lack a shared demand signal by SKU-size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6324600" y="1457325"/>
            <a:ext cx="5467350" cy="4867275"/>
          </a:xfrm>
          <a:prstGeom prst="roundRect">
            <a:avLst>
              <a:gd name="adj" fmla="val 1879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324600" y="1457325"/>
            <a:ext cx="5467350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534150" y="1685925"/>
            <a:ext cx="50482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TARGET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6534150" y="1981200"/>
            <a:ext cx="5048250" cy="4762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Early, SKU-aware, testable</a:t>
            </a:r>
            <a:endParaRPr lang="en-US" sz="2200" dirty="0"/>
          </a:p>
        </p:txBody>
      </p:sp>
      <p:sp>
        <p:nvSpPr>
          <p:cNvPr id="21" name="Shape 18"/>
          <p:cNvSpPr/>
          <p:nvPr/>
        </p:nvSpPr>
        <p:spPr>
          <a:xfrm>
            <a:off x="653415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24650" y="26574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Predict residual risk before week 6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6534150" y="32861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724650" y="31146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price by cluster, not blanket %</a:t>
            </a:r>
            <a:endParaRPr lang="en-US" sz="1500" dirty="0"/>
          </a:p>
        </p:txBody>
      </p:sp>
      <p:sp>
        <p:nvSpPr>
          <p:cNvPr id="25" name="Shape 22"/>
          <p:cNvSpPr/>
          <p:nvPr/>
        </p:nvSpPr>
        <p:spPr>
          <a:xfrm>
            <a:off x="6534150" y="3743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6724650" y="3571875"/>
            <a:ext cx="4857750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prove lift vs margin trade-off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already destroys more margin than promo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04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7058025" cy="5419725"/>
          </a:xfrm>
          <a:prstGeom prst="roundRect">
            <a:avLst>
              <a:gd name="adj" fmla="val 1687"/>
            </a:avLst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pic>
        <p:nvPicPr>
          <p:cNvPr id="7" name="Image 1" descr="/Users/dpadmana/projects/ppt-gen/assets/plots/apparel_markdown-8843ecdf5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2450" y="2085975"/>
            <a:ext cx="6753225" cy="306705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7743825" y="904875"/>
            <a:ext cx="40481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KEY INSIGHTS</a:t>
            </a:r>
            <a:endParaRPr lang="en-US" sz="1100" dirty="0"/>
          </a:p>
        </p:txBody>
      </p:sp>
      <p:sp>
        <p:nvSpPr>
          <p:cNvPr id="9" name="Shape 5"/>
          <p:cNvSpPr/>
          <p:nvPr/>
        </p:nvSpPr>
        <p:spPr>
          <a:xfrm>
            <a:off x="7743825" y="14192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0" name="Text 6"/>
          <p:cNvSpPr/>
          <p:nvPr/>
        </p:nvSpPr>
        <p:spPr>
          <a:xfrm>
            <a:off x="7934325" y="12477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Clearance markdown rate ~41% of units</a:t>
            </a:r>
            <a:endParaRPr lang="en-US" sz="1500" dirty="0"/>
          </a:p>
        </p:txBody>
      </p:sp>
      <p:sp>
        <p:nvSpPr>
          <p:cNvPr id="11" name="Shape 7"/>
          <p:cNvSpPr/>
          <p:nvPr/>
        </p:nvSpPr>
        <p:spPr>
          <a:xfrm>
            <a:off x="7743825" y="18764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934325" y="17049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~9.5 pts gross margin lost in that lane</a:t>
            </a:r>
            <a:endParaRPr lang="en-US" sz="1500" dirty="0"/>
          </a:p>
        </p:txBody>
      </p:sp>
      <p:sp>
        <p:nvSpPr>
          <p:cNvPr id="13" name="Shape 9"/>
          <p:cNvSpPr/>
          <p:nvPr/>
        </p:nvSpPr>
        <p:spPr>
          <a:xfrm>
            <a:off x="7743825" y="23336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7934325" y="2162175"/>
            <a:ext cx="3857625" cy="4191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is the only lane under control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 is eroding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05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1123950"/>
            <a:ext cx="11010900" cy="4191000"/>
          </a:xfrm>
          <a:prstGeom prst="roundRect">
            <a:avLst>
              <a:gd name="adj" fmla="val 2182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pic>
        <p:nvPicPr>
          <p:cNvPr id="7" name="Image 1" descr="/Users/dpadmana/projects/ppt-gen/assets/plots/apparel_margin-c1f66affa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24025" y="1314450"/>
            <a:ext cx="8372475" cy="38100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590550" y="5486400"/>
            <a:ext cx="10477500" cy="76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 fell from 61% → 47% in six months—before peak holiday.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Where to act — and what it buys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06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400050" y="962025"/>
            <a:ext cx="64103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INTERVENE FIRST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1085850" y="1266825"/>
            <a:ext cx="275748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3938588" y="1266825"/>
            <a:ext cx="275748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1085850" y="3652838"/>
            <a:ext cx="275748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3938588" y="3652838"/>
            <a:ext cx="2757488" cy="2290763"/>
          </a:xfrm>
          <a:prstGeom prst="roundRect">
            <a:avLst>
              <a:gd name="adj" fmla="val 3992"/>
            </a:avLst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400050" y="1266825"/>
            <a:ext cx="628650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Unit contribution</a:t>
            </a:r>
            <a:endParaRPr lang="en-US" sz="1400" dirty="0"/>
          </a:p>
        </p:txBody>
      </p:sp>
      <p:sp>
        <p:nvSpPr>
          <p:cNvPr id="12" name="Text 9"/>
          <p:cNvSpPr/>
          <p:nvPr/>
        </p:nvSpPr>
        <p:spPr>
          <a:xfrm>
            <a:off x="1085850" y="6000750"/>
            <a:ext cx="561022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Sell-through risk</a:t>
            </a:r>
            <a:endParaRPr lang="en-US" sz="1400" dirty="0"/>
          </a:p>
        </p:txBody>
      </p:sp>
      <p:sp>
        <p:nvSpPr>
          <p:cNvPr id="13" name="Text 10"/>
          <p:cNvSpPr/>
          <p:nvPr/>
        </p:nvSpPr>
        <p:spPr>
          <a:xfrm>
            <a:off x="1238250" y="1400175"/>
            <a:ext cx="24526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PROTECT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4090987" y="1400175"/>
            <a:ext cx="24526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PRICE NOW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238250" y="3786188"/>
            <a:ext cx="24526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EXIT</a:t>
            </a:r>
            <a:endParaRPr lang="en-US" sz="1100" dirty="0"/>
          </a:p>
        </p:txBody>
      </p:sp>
      <p:sp>
        <p:nvSpPr>
          <p:cNvPr id="16" name="Text 13"/>
          <p:cNvSpPr/>
          <p:nvPr/>
        </p:nvSpPr>
        <p:spPr>
          <a:xfrm>
            <a:off x="4090987" y="3786188"/>
            <a:ext cx="2452688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1200150" y="1685925"/>
            <a:ext cx="252888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1295400" y="1685925"/>
            <a:ext cx="23383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Core basics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4052888" y="1685925"/>
            <a:ext cx="252888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148137" y="1685925"/>
            <a:ext cx="23383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Seasonal fashion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1200150" y="4071938"/>
            <a:ext cx="252888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295400" y="4071938"/>
            <a:ext cx="23383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Test capsules</a:t>
            </a:r>
            <a:endParaRPr lang="en-US" sz="1500" dirty="0"/>
          </a:p>
        </p:txBody>
      </p:sp>
      <p:sp>
        <p:nvSpPr>
          <p:cNvPr id="23" name="Shape 20"/>
          <p:cNvSpPr/>
          <p:nvPr/>
        </p:nvSpPr>
        <p:spPr>
          <a:xfrm>
            <a:off x="4052888" y="4071938"/>
            <a:ext cx="2528888" cy="400050"/>
          </a:xfrm>
          <a:prstGeom prst="roundRect">
            <a:avLst>
              <a:gd name="adj" fmla="val 22857"/>
            </a:avLst>
          </a:prstGeom>
          <a:solidFill>
            <a:srgbClr val="1F1F36"/>
          </a:solidFill>
          <a:ln w="15875">
            <a:solidFill>
              <a:srgbClr val="4E79A7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148137" y="4071938"/>
            <a:ext cx="2338388" cy="4000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Aged novelty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7038975" y="962025"/>
            <a:ext cx="47529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ANNUAL IMPACT (ILLUSTRATIVE)</a:t>
            </a:r>
            <a:endParaRPr lang="en-US" sz="1100" dirty="0"/>
          </a:p>
        </p:txBody>
      </p:sp>
      <p:sp>
        <p:nvSpPr>
          <p:cNvPr id="26" name="Shape 23"/>
          <p:cNvSpPr/>
          <p:nvPr/>
        </p:nvSpPr>
        <p:spPr>
          <a:xfrm>
            <a:off x="7038975" y="1228725"/>
            <a:ext cx="4752975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038975" y="1228725"/>
            <a:ext cx="4752975" cy="762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191375" y="1419225"/>
            <a:ext cx="4448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RECOVERY</a:t>
            </a:r>
            <a:endParaRPr lang="en-US" sz="1100" dirty="0"/>
          </a:p>
        </p:txBody>
      </p:sp>
      <p:sp>
        <p:nvSpPr>
          <p:cNvPr id="29" name="Text 26"/>
          <p:cNvSpPr/>
          <p:nvPr/>
        </p:nvSpPr>
        <p:spPr>
          <a:xfrm>
            <a:off x="7191375" y="1704975"/>
            <a:ext cx="44481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+$23M</a:t>
            </a:r>
            <a:endParaRPr lang="en-US" sz="2500" dirty="0"/>
          </a:p>
        </p:txBody>
      </p:sp>
      <p:sp>
        <p:nvSpPr>
          <p:cNvPr id="30" name="Text 27"/>
          <p:cNvSpPr/>
          <p:nvPr/>
        </p:nvSpPr>
        <p:spPr>
          <a:xfrm>
            <a:off x="7191375" y="2143125"/>
            <a:ext cx="44481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Mid-case GP uplift</a:t>
            </a:r>
            <a:endParaRPr lang="en-US" sz="1200" dirty="0"/>
          </a:p>
        </p:txBody>
      </p:sp>
      <p:sp>
        <p:nvSpPr>
          <p:cNvPr id="31" name="Shape 28"/>
          <p:cNvSpPr/>
          <p:nvPr/>
        </p:nvSpPr>
        <p:spPr>
          <a:xfrm>
            <a:off x="7038975" y="2676525"/>
            <a:ext cx="4752975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2" name="Shape 29"/>
          <p:cNvSpPr/>
          <p:nvPr/>
        </p:nvSpPr>
        <p:spPr>
          <a:xfrm>
            <a:off x="7038975" y="2676525"/>
            <a:ext cx="4752975" cy="76200"/>
          </a:xfrm>
          <a:prstGeom prst="rect">
            <a:avLst/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7191375" y="2867025"/>
            <a:ext cx="4448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FULL-PRICE MIX</a:t>
            </a:r>
            <a:endParaRPr lang="en-US" sz="1100" dirty="0"/>
          </a:p>
        </p:txBody>
      </p:sp>
      <p:sp>
        <p:nvSpPr>
          <p:cNvPr id="34" name="Text 31"/>
          <p:cNvSpPr/>
          <p:nvPr/>
        </p:nvSpPr>
        <p:spPr>
          <a:xfrm>
            <a:off x="7191375" y="3152775"/>
            <a:ext cx="44481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F28E2B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+5 pts</a:t>
            </a:r>
            <a:endParaRPr lang="en-US" sz="2500" dirty="0"/>
          </a:p>
        </p:txBody>
      </p:sp>
      <p:sp>
        <p:nvSpPr>
          <p:cNvPr id="35" name="Text 32"/>
          <p:cNvSpPr/>
          <p:nvPr/>
        </p:nvSpPr>
        <p:spPr>
          <a:xfrm>
            <a:off x="7191375" y="3590925"/>
            <a:ext cx="44481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Within 12 months</a:t>
            </a:r>
            <a:endParaRPr lang="en-US" sz="1200" dirty="0"/>
          </a:p>
        </p:txBody>
      </p:sp>
      <p:sp>
        <p:nvSpPr>
          <p:cNvPr id="36" name="Shape 33"/>
          <p:cNvSpPr/>
          <p:nvPr/>
        </p:nvSpPr>
        <p:spPr>
          <a:xfrm>
            <a:off x="7038975" y="4124325"/>
            <a:ext cx="4752975" cy="1333500"/>
          </a:xfrm>
          <a:prstGeom prst="roundRect">
            <a:avLst>
              <a:gd name="adj" fmla="val 6857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7038975" y="4124325"/>
            <a:ext cx="4752975" cy="76200"/>
          </a:xfrm>
          <a:prstGeom prst="rect">
            <a:avLst/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7191375" y="4314825"/>
            <a:ext cx="44481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AGED INVENTORY</a:t>
            </a:r>
            <a:endParaRPr lang="en-US" sz="1100" dirty="0"/>
          </a:p>
        </p:txBody>
      </p:sp>
      <p:sp>
        <p:nvSpPr>
          <p:cNvPr id="39" name="Text 36"/>
          <p:cNvSpPr/>
          <p:nvPr/>
        </p:nvSpPr>
        <p:spPr>
          <a:xfrm>
            <a:off x="7191375" y="4600575"/>
            <a:ext cx="444817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E15759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−20%</a:t>
            </a:r>
            <a:endParaRPr lang="en-US" sz="2500" dirty="0"/>
          </a:p>
        </p:txBody>
      </p:sp>
      <p:sp>
        <p:nvSpPr>
          <p:cNvPr id="40" name="Text 37"/>
          <p:cNvSpPr/>
          <p:nvPr/>
        </p:nvSpPr>
        <p:spPr>
          <a:xfrm>
            <a:off x="7191375" y="5038725"/>
            <a:ext cx="4448175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of supply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Sequence the capability—not a one-off promo calendar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07</a:t>
            </a:r>
            <a:endParaRPr lang="en-US" sz="1200" dirty="0"/>
          </a:p>
        </p:txBody>
      </p:sp>
      <p:sp>
        <p:nvSpPr>
          <p:cNvPr id="6" name="Shape 3"/>
          <p:cNvSpPr/>
          <p:nvPr/>
        </p:nvSpPr>
        <p:spPr>
          <a:xfrm>
            <a:off x="400050" y="904875"/>
            <a:ext cx="3667125" cy="496252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904875"/>
            <a:ext cx="57150" cy="4962525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107632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0–90 DAYS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132397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Diagnose &amp; pilot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571500" y="174307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SKU risk scores + 2 categories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571500" y="2371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62000" y="22383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Residual demand model MVP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71500" y="2600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762000" y="24669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Markdown playbook v1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57150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762000" y="26955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 in 40 doors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4257675" y="904875"/>
            <a:ext cx="3667125" cy="496252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4257675" y="904875"/>
            <a:ext cx="57150" cy="4962525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429125" y="107632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3–9 MONTHS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4429125" y="132397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Scale decisions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4429125" y="174307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Planner workflow + guardrails</a:t>
            </a:r>
            <a:endParaRPr lang="en-US" sz="1400" dirty="0"/>
          </a:p>
        </p:txBody>
      </p:sp>
      <p:sp>
        <p:nvSpPr>
          <p:cNvPr id="22" name="Shape 19"/>
          <p:cNvSpPr/>
          <p:nvPr/>
        </p:nvSpPr>
        <p:spPr>
          <a:xfrm>
            <a:off x="4429125" y="2371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619625" y="22383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Next-best price service</a:t>
            </a:r>
            <a:endParaRPr lang="en-US" sz="1500" dirty="0"/>
          </a:p>
        </p:txBody>
      </p:sp>
      <p:sp>
        <p:nvSpPr>
          <p:cNvPr id="24" name="Shape 21"/>
          <p:cNvSpPr/>
          <p:nvPr/>
        </p:nvSpPr>
        <p:spPr>
          <a:xfrm>
            <a:off x="4429125" y="2600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4619625" y="24669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Assortment linkage</a:t>
            </a:r>
            <a:endParaRPr lang="en-US" sz="1500" dirty="0"/>
          </a:p>
        </p:txBody>
      </p:sp>
      <p:sp>
        <p:nvSpPr>
          <p:cNvPr id="26" name="Shape 23"/>
          <p:cNvSpPr/>
          <p:nvPr/>
        </p:nvSpPr>
        <p:spPr>
          <a:xfrm>
            <a:off x="4429125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4619625" y="26955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Weekly margin readout</a:t>
            </a:r>
            <a:endParaRPr lang="en-US" sz="1500" dirty="0"/>
          </a:p>
        </p:txBody>
      </p:sp>
      <p:sp>
        <p:nvSpPr>
          <p:cNvPr id="28" name="Shape 25"/>
          <p:cNvSpPr/>
          <p:nvPr/>
        </p:nvSpPr>
        <p:spPr>
          <a:xfrm>
            <a:off x="8115300" y="904875"/>
            <a:ext cx="3667125" cy="4962525"/>
          </a:xfrm>
          <a:prstGeom prst="roundRect">
            <a:avLst>
              <a:gd name="adj" fmla="val 2494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8115300" y="904875"/>
            <a:ext cx="57150" cy="4962525"/>
          </a:xfrm>
          <a:prstGeom prst="rect">
            <a:avLst/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286750" y="1076325"/>
            <a:ext cx="332422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59A14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9–18 MONTHS</a:t>
            </a:r>
            <a:endParaRPr lang="en-US" sz="1100" dirty="0"/>
          </a:p>
        </p:txBody>
      </p:sp>
      <p:sp>
        <p:nvSpPr>
          <p:cNvPr id="31" name="Text 28"/>
          <p:cNvSpPr/>
          <p:nvPr/>
        </p:nvSpPr>
        <p:spPr>
          <a:xfrm>
            <a:off x="8286750" y="1323975"/>
            <a:ext cx="3324225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Optimize system</a:t>
            </a:r>
            <a:endParaRPr lang="en-US" sz="1800" dirty="0"/>
          </a:p>
        </p:txBody>
      </p:sp>
      <p:sp>
        <p:nvSpPr>
          <p:cNvPr id="32" name="Text 29"/>
          <p:cNvSpPr/>
          <p:nvPr/>
        </p:nvSpPr>
        <p:spPr>
          <a:xfrm>
            <a:off x="8286750" y="1743075"/>
            <a:ext cx="332422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4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Cross-channel price fabric</a:t>
            </a:r>
            <a:endParaRPr lang="en-US" sz="1400" dirty="0"/>
          </a:p>
        </p:txBody>
      </p:sp>
      <p:sp>
        <p:nvSpPr>
          <p:cNvPr id="33" name="Shape 30"/>
          <p:cNvSpPr/>
          <p:nvPr/>
        </p:nvSpPr>
        <p:spPr>
          <a:xfrm>
            <a:off x="8286750" y="23717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477250" y="22383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Outlet / wholesale rules</a:t>
            </a:r>
            <a:endParaRPr lang="en-US" sz="1500" dirty="0"/>
          </a:p>
        </p:txBody>
      </p:sp>
      <p:sp>
        <p:nvSpPr>
          <p:cNvPr id="35" name="Shape 32"/>
          <p:cNvSpPr/>
          <p:nvPr/>
        </p:nvSpPr>
        <p:spPr>
          <a:xfrm>
            <a:off x="8286750" y="26003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477250" y="24669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Auto-clearance with caps</a:t>
            </a:r>
            <a:endParaRPr lang="en-US" sz="1500" dirty="0"/>
          </a:p>
        </p:txBody>
      </p:sp>
      <p:sp>
        <p:nvSpPr>
          <p:cNvPr id="37" name="Shape 34"/>
          <p:cNvSpPr/>
          <p:nvPr/>
        </p:nvSpPr>
        <p:spPr>
          <a:xfrm>
            <a:off x="8286750" y="2828925"/>
            <a:ext cx="66675" cy="66675"/>
          </a:xfrm>
          <a:prstGeom prst="roundRect">
            <a:avLst>
              <a:gd name="adj" fmla="val 137143"/>
            </a:avLst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477250" y="2695575"/>
            <a:ext cx="3133725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Finance-owned KPI pack</a:t>
            </a:r>
            <a:endParaRPr lang="en-US" sz="1500" dirty="0"/>
          </a:p>
        </p:txBody>
      </p:sp>
      <p:sp>
        <p:nvSpPr>
          <p:cNvPr id="39" name="Text 36"/>
          <p:cNvSpPr/>
          <p:nvPr/>
        </p:nvSpPr>
        <p:spPr>
          <a:xfrm>
            <a:off x="400050" y="5943600"/>
            <a:ext cx="113919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Each gate requires a merchant owner and a stop / scale rule.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247650"/>
            <a:ext cx="10839450" cy="4286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90-day pilot squad</a:t>
            </a:r>
            <a:endParaRPr lang="en-US" sz="3200" dirty="0"/>
          </a:p>
        </p:txBody>
      </p:sp>
      <p:sp>
        <p:nvSpPr>
          <p:cNvPr id="4" name="Text 1"/>
          <p:cNvSpPr/>
          <p:nvPr/>
        </p:nvSpPr>
        <p:spPr>
          <a:xfrm>
            <a:off x="400050" y="942975"/>
            <a:ext cx="10648950" cy="285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Keep commercial ownership next to the algorithm</a:t>
            </a:r>
            <a:endParaRPr lang="en-US" sz="1600" dirty="0"/>
          </a:p>
        </p:txBody>
      </p:sp>
      <p:sp>
        <p:nvSpPr>
          <p:cNvPr id="5" name="Text 2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6" name="Text 3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08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905000" y="14573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1–3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226050" y="14573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4–7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547100" y="1457325"/>
            <a:ext cx="31686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WEEKS 8–12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400050" y="1800225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Merchandising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1828800" y="1800225"/>
            <a:ext cx="9963150" cy="82867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00050" y="2705100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Planning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1828800" y="2705100"/>
            <a:ext cx="9963150" cy="82867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400050" y="3609975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Data science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1828800" y="3609975"/>
            <a:ext cx="9963150" cy="82867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400050" y="4514850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Stores / e-comm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1828800" y="4514850"/>
            <a:ext cx="9963150" cy="828675"/>
          </a:xfrm>
          <a:prstGeom prst="rect">
            <a:avLst/>
          </a:prstGeom>
          <a:solidFill>
            <a:srgbClr val="1F1F36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00050" y="5419725"/>
            <a:ext cx="1257300" cy="82867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Finance</a:t>
            </a:r>
            <a:endParaRPr lang="en-US" sz="1300" dirty="0"/>
          </a:p>
        </p:txBody>
      </p:sp>
      <p:sp>
        <p:nvSpPr>
          <p:cNvPr id="19" name="Shape 16"/>
          <p:cNvSpPr/>
          <p:nvPr/>
        </p:nvSpPr>
        <p:spPr>
          <a:xfrm>
            <a:off x="1828800" y="5419725"/>
            <a:ext cx="9963150" cy="828675"/>
          </a:xfrm>
          <a:prstGeom prst="rect">
            <a:avLst/>
          </a:prstGeom>
          <a:solidFill>
            <a:srgbClr val="2B2B4A"/>
          </a:solidFill>
          <a:ln w="15875">
            <a:solidFill>
              <a:srgbClr val="3A3A5C"/>
            </a:solidFill>
            <a:prstDash val="solid"/>
          </a:ln>
        </p:spPr>
      </p:sp>
      <p:sp>
        <p:nvSpPr>
          <p:cNvPr id="20" name="Shape 17"/>
          <p:cNvSpPr/>
          <p:nvPr/>
        </p:nvSpPr>
        <p:spPr>
          <a:xfrm>
            <a:off x="1924050" y="2024062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2000250" y="2024062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Category charter</a:t>
            </a:r>
            <a:endParaRPr lang="en-US" sz="1200" dirty="0"/>
          </a:p>
        </p:txBody>
      </p:sp>
      <p:sp>
        <p:nvSpPr>
          <p:cNvPr id="22" name="Shape 19"/>
          <p:cNvSpPr/>
          <p:nvPr/>
        </p:nvSpPr>
        <p:spPr>
          <a:xfrm>
            <a:off x="1924050" y="292893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F28E2B"/>
          </a:solidFill>
          <a:ln w="12700">
            <a:solidFill>
              <a:srgbClr val="F28E2B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2000250" y="292893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Risk rules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5245100" y="3833812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E15759"/>
          </a:solidFill>
          <a:ln w="12700">
            <a:solidFill>
              <a:srgbClr val="E15759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5321300" y="3833812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Model + holdout</a:t>
            </a:r>
            <a:endParaRPr lang="en-US" sz="1200" dirty="0"/>
          </a:p>
        </p:txBody>
      </p:sp>
      <p:sp>
        <p:nvSpPr>
          <p:cNvPr id="26" name="Shape 23"/>
          <p:cNvSpPr/>
          <p:nvPr/>
        </p:nvSpPr>
        <p:spPr>
          <a:xfrm>
            <a:off x="5245100" y="4738688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5321300" y="4738688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Execution path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8566150" y="5643563"/>
            <a:ext cx="3130550" cy="381000"/>
          </a:xfrm>
          <a:prstGeom prst="roundRect">
            <a:avLst>
              <a:gd name="adj" fmla="val 24000"/>
            </a:avLst>
          </a:prstGeom>
          <a:solidFill>
            <a:srgbClr val="59A14F"/>
          </a:solidFill>
          <a:ln w="12700">
            <a:solidFill>
              <a:srgbClr val="59A14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8642350" y="5643563"/>
            <a:ext cx="2978150" cy="381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Margin gate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Users/dpadmana/projects/ppt-gen/themes/scientific/logo.svg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11430000" y="266700"/>
            <a:ext cx="419100" cy="4191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400050" y="457200"/>
            <a:ext cx="1905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THE DECISION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400050" y="1143000"/>
            <a:ext cx="95250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Treat markdown as a</a:t>
            </a:r>
            <a:endParaRPr lang="en-US" sz="4000" dirty="0"/>
          </a:p>
          <a:p>
            <a:pPr algn="l" indent="0" marL="0">
              <a:buNone/>
            </a:pPr>
            <a:r>
              <a:rPr lang="en-US" sz="40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decision system—not a fire drill.</a:t>
            </a:r>
            <a:endParaRPr lang="en-US" sz="4000" dirty="0"/>
          </a:p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5" name="Text 2"/>
          <p:cNvSpPr/>
          <p:nvPr/>
        </p:nvSpPr>
        <p:spPr>
          <a:xfrm>
            <a:off x="400050" y="2781300"/>
            <a:ext cx="8572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20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Start with two categories, one holdout design, and a finance co-owner.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000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400050" y="4000500"/>
            <a:ext cx="57150" cy="1143000"/>
          </a:xfrm>
          <a:prstGeom prst="rect">
            <a:avLst/>
          </a:prstGeom>
          <a:solidFill>
            <a:srgbClr val="76B7B2"/>
          </a:solidFill>
          <a:ln w="12700">
            <a:solidFill>
              <a:srgbClr val="76B7B2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5715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76B7B2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1. PICK PILOTS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5715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High-volume categories with residual risk</a:t>
            </a:r>
            <a:endParaRPr lang="en-US" sz="1600" dirty="0"/>
          </a:p>
        </p:txBody>
      </p:sp>
      <p:sp>
        <p:nvSpPr>
          <p:cNvPr id="10" name="Shape 7"/>
          <p:cNvSpPr/>
          <p:nvPr/>
        </p:nvSpPr>
        <p:spPr>
          <a:xfrm>
            <a:off x="41719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1" name="Shape 8"/>
          <p:cNvSpPr/>
          <p:nvPr/>
        </p:nvSpPr>
        <p:spPr>
          <a:xfrm>
            <a:off x="4171950" y="4000500"/>
            <a:ext cx="57150" cy="1143000"/>
          </a:xfrm>
          <a:prstGeom prst="rect">
            <a:avLst/>
          </a:prstGeom>
          <a:solidFill>
            <a:srgbClr val="4E79A7"/>
          </a:solidFill>
          <a:ln w="12700">
            <a:solidFill>
              <a:srgbClr val="4E79A7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43434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4E79A7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2. PROVE INCREMENTALITY</a:t>
            </a:r>
            <a:endParaRPr lang="en-US" sz="1100" dirty="0"/>
          </a:p>
        </p:txBody>
      </p:sp>
      <p:sp>
        <p:nvSpPr>
          <p:cNvPr id="13" name="Text 10"/>
          <p:cNvSpPr/>
          <p:nvPr/>
        </p:nvSpPr>
        <p:spPr>
          <a:xfrm>
            <a:off x="43434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Holdouts on price depth and timing</a:t>
            </a:r>
            <a:endParaRPr lang="en-US" sz="1600" dirty="0"/>
          </a:p>
        </p:txBody>
      </p:sp>
      <p:sp>
        <p:nvSpPr>
          <p:cNvPr id="14" name="Shape 11"/>
          <p:cNvSpPr/>
          <p:nvPr/>
        </p:nvSpPr>
        <p:spPr>
          <a:xfrm>
            <a:off x="7943850" y="4000500"/>
            <a:ext cx="3448050" cy="1143000"/>
          </a:xfrm>
          <a:prstGeom prst="roundRect">
            <a:avLst>
              <a:gd name="adj" fmla="val 8000"/>
            </a:avLst>
          </a:prstGeom>
          <a:solidFill>
            <a:srgbClr val="2B2B4A"/>
          </a:solidFill>
          <a:ln w="12700">
            <a:solidFill>
              <a:srgbClr val="2B2B4A"/>
            </a:solidFill>
            <a:prstDash val="solid"/>
          </a:ln>
        </p:spPr>
      </p:sp>
      <p:sp>
        <p:nvSpPr>
          <p:cNvPr id="15" name="Shape 12"/>
          <p:cNvSpPr/>
          <p:nvPr/>
        </p:nvSpPr>
        <p:spPr>
          <a:xfrm>
            <a:off x="7943850" y="4000500"/>
            <a:ext cx="57150" cy="1143000"/>
          </a:xfrm>
          <a:prstGeom prst="rect">
            <a:avLst/>
          </a:prstGeom>
          <a:solidFill>
            <a:srgbClr val="E94560"/>
          </a:solidFill>
          <a:ln w="12700">
            <a:solidFill>
              <a:srgbClr val="E94560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115300" y="4114800"/>
            <a:ext cx="310515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E94560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3. SCALE THE FABRIC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8115300" y="4362450"/>
            <a:ext cx="3105150" cy="6667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Reuse signals across channels</a:t>
            </a:r>
            <a:endParaRPr lang="en-US" sz="1600" dirty="0"/>
          </a:p>
        </p:txBody>
      </p:sp>
      <p:sp>
        <p:nvSpPr>
          <p:cNvPr id="18" name="Text 15"/>
          <p:cNvSpPr/>
          <p:nvPr/>
        </p:nvSpPr>
        <p:spPr>
          <a:xfrm>
            <a:off x="400050" y="5619750"/>
            <a:ext cx="10477500" cy="3429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EAEAE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Next step: convene the 90-day squad and lock the first two categories.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00050" y="6457950"/>
            <a:ext cx="49530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APPAREL  ·  MARKDOWN STRATEGY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11334750" y="6457950"/>
            <a:ext cx="457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200" dirty="0">
                <a:solidFill>
                  <a:srgbClr val="6C6C8A"/>
                </a:solidFill>
                <a:latin typeface="Helvetica Neue" pitchFamily="34" charset="0"/>
                <a:ea typeface="Helvetica Neue" pitchFamily="34" charset="-122"/>
                <a:cs typeface="Helvetica Neue" pitchFamily="34" charset="-120"/>
              </a:rPr>
              <a:t>09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Markdown optimization for US apparel</dc:title>
  <dc:subject>PptxGenJS Presentation</dc:subject>
  <dc:creator>ppt-gen</dc:creator>
  <cp:lastModifiedBy>ppt-gen</cp:lastModifiedBy>
  <cp:revision>1</cp:revision>
  <dcterms:created xsi:type="dcterms:W3CDTF">2026-09-20T11:24:49Z</dcterms:created>
  <dcterms:modified xsi:type="dcterms:W3CDTF">2026-09-20T11:24:49Z</dcterms:modified>
</cp:coreProperties>
</file>