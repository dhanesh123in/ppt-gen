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sv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sv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dpadmana/projects/ppt-gen/themes/scientific/logo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430000" y="266700"/>
            <a:ext cx="419100" cy="4191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00050" y="381000"/>
            <a:ext cx="30480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E9456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RETAIL STRATEGY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00050" y="838200"/>
            <a:ext cx="7239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Markdown is leaking</a:t>
            </a:r>
            <a:endParaRPr lang="en-US" sz="4000" dirty="0"/>
          </a:p>
          <a:p>
            <a:pPr algn="l" indent="0" marL="0">
              <a:buNone/>
            </a:pPr>
            <a:r>
              <a:rPr lang="en-US" sz="40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6–9 pts of margin</a:t>
            </a:r>
            <a:endParaRPr lang="en-US" sz="4000" dirty="0"/>
          </a:p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5" name="Text 2"/>
          <p:cNvSpPr/>
          <p:nvPr/>
        </p:nvSpPr>
        <p:spPr>
          <a:xfrm>
            <a:off x="400050" y="1924050"/>
            <a:ext cx="68580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 12-month path to price with intent—not panic—across full-price, promo and clearance.</a:t>
            </a:r>
            <a:endParaRPr lang="en-US" sz="1700" dirty="0"/>
          </a:p>
        </p:txBody>
      </p:sp>
      <p:sp>
        <p:nvSpPr>
          <p:cNvPr id="6" name="Shape 3"/>
          <p:cNvSpPr/>
          <p:nvPr/>
        </p:nvSpPr>
        <p:spPr>
          <a:xfrm>
            <a:off x="400050" y="2609850"/>
            <a:ext cx="1238250" cy="285750"/>
          </a:xfrm>
          <a:prstGeom prst="roundRect">
            <a:avLst>
              <a:gd name="adj" fmla="val 32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476250" y="2667000"/>
            <a:ext cx="108585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A1A2E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BCG-STYLE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00050" y="302895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For merchandising, planning and finance leaders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8096250" y="381000"/>
            <a:ext cx="3333750" cy="5715000"/>
          </a:xfrm>
          <a:prstGeom prst="roundRect">
            <a:avLst>
              <a:gd name="adj" fmla="val 2743"/>
            </a:avLst>
          </a:prstGeom>
          <a:solidFill>
            <a:srgbClr val="2B2B4A"/>
          </a:solidFill>
          <a:ln w="12700">
            <a:solidFill>
              <a:srgbClr val="2B2B4A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8362950" y="952500"/>
            <a:ext cx="800100" cy="952500"/>
          </a:xfrm>
          <a:prstGeom prst="roundRect">
            <a:avLst>
              <a:gd name="adj" fmla="val 11429"/>
            </a:avLst>
          </a:prstGeom>
          <a:solidFill>
            <a:srgbClr val="4E79A7"/>
          </a:solidFill>
          <a:ln w="12700">
            <a:solidFill>
              <a:srgbClr val="4E79A7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9315450" y="952500"/>
            <a:ext cx="800100" cy="952500"/>
          </a:xfrm>
          <a:prstGeom prst="roundRect">
            <a:avLst>
              <a:gd name="adj" fmla="val 11429"/>
            </a:avLst>
          </a:prstGeom>
          <a:solidFill>
            <a:srgbClr val="E94560"/>
          </a:solidFill>
          <a:ln w="12700">
            <a:solidFill>
              <a:srgbClr val="E94560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10267950" y="952500"/>
            <a:ext cx="800100" cy="952500"/>
          </a:xfrm>
          <a:prstGeom prst="roundRect">
            <a:avLst>
              <a:gd name="adj" fmla="val 11429"/>
            </a:avLst>
          </a:prstGeom>
          <a:solidFill>
            <a:srgbClr val="76B7B2"/>
          </a:solidFill>
          <a:ln w="12700">
            <a:solidFill>
              <a:srgbClr val="76B7B2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8362950" y="2095500"/>
            <a:ext cx="800100" cy="952500"/>
          </a:xfrm>
          <a:prstGeom prst="roundRect">
            <a:avLst>
              <a:gd name="adj" fmla="val 11429"/>
            </a:avLst>
          </a:prstGeom>
          <a:solidFill>
            <a:srgbClr val="E94560"/>
          </a:solidFill>
          <a:ln w="12700">
            <a:solidFill>
              <a:srgbClr val="E94560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9315450" y="2095500"/>
            <a:ext cx="800100" cy="952500"/>
          </a:xfrm>
          <a:prstGeom prst="roundRect">
            <a:avLst>
              <a:gd name="adj" fmla="val 11429"/>
            </a:avLst>
          </a:prstGeom>
          <a:solidFill>
            <a:srgbClr val="76B7B2"/>
          </a:solidFill>
          <a:ln w="12700">
            <a:solidFill>
              <a:srgbClr val="76B7B2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10267950" y="2095500"/>
            <a:ext cx="800100" cy="952500"/>
          </a:xfrm>
          <a:prstGeom prst="roundRect">
            <a:avLst>
              <a:gd name="adj" fmla="val 11429"/>
            </a:avLst>
          </a:prstGeom>
          <a:solidFill>
            <a:srgbClr val="59A14F"/>
          </a:solidFill>
          <a:ln w="12700">
            <a:solidFill>
              <a:srgbClr val="59A14F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8362950" y="3238500"/>
            <a:ext cx="800100" cy="952500"/>
          </a:xfrm>
          <a:prstGeom prst="roundRect">
            <a:avLst>
              <a:gd name="adj" fmla="val 11429"/>
            </a:avLst>
          </a:prstGeom>
          <a:solidFill>
            <a:srgbClr val="76B7B2"/>
          </a:solidFill>
          <a:ln w="12700">
            <a:solidFill>
              <a:srgbClr val="76B7B2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9315450" y="3238500"/>
            <a:ext cx="800100" cy="952500"/>
          </a:xfrm>
          <a:prstGeom prst="roundRect">
            <a:avLst>
              <a:gd name="adj" fmla="val 11429"/>
            </a:avLst>
          </a:prstGeom>
          <a:solidFill>
            <a:srgbClr val="59A14F"/>
          </a:solidFill>
          <a:ln w="12700">
            <a:solidFill>
              <a:srgbClr val="59A14F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10267950" y="3238500"/>
            <a:ext cx="800100" cy="952500"/>
          </a:xfrm>
          <a:prstGeom prst="roundRect">
            <a:avLst>
              <a:gd name="adj" fmla="val 11429"/>
            </a:avLst>
          </a:prstGeom>
          <a:solidFill>
            <a:srgbClr val="4E79A7"/>
          </a:solidFill>
          <a:ln w="12700">
            <a:solidFill>
              <a:srgbClr val="4E79A7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8362950" y="4381500"/>
            <a:ext cx="800100" cy="952500"/>
          </a:xfrm>
          <a:prstGeom prst="roundRect">
            <a:avLst>
              <a:gd name="adj" fmla="val 11429"/>
            </a:avLst>
          </a:prstGeom>
          <a:solidFill>
            <a:srgbClr val="59A14F"/>
          </a:solidFill>
          <a:ln w="12700">
            <a:solidFill>
              <a:srgbClr val="59A14F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9315450" y="4381500"/>
            <a:ext cx="800100" cy="952500"/>
          </a:xfrm>
          <a:prstGeom prst="roundRect">
            <a:avLst>
              <a:gd name="adj" fmla="val 11429"/>
            </a:avLst>
          </a:prstGeom>
          <a:solidFill>
            <a:srgbClr val="4E79A7"/>
          </a:solidFill>
          <a:ln w="12700">
            <a:solidFill>
              <a:srgbClr val="4E79A7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10267950" y="4381500"/>
            <a:ext cx="800100" cy="952500"/>
          </a:xfrm>
          <a:prstGeom prst="roundRect">
            <a:avLst>
              <a:gd name="adj" fmla="val 11429"/>
            </a:avLst>
          </a:prstGeom>
          <a:solidFill>
            <a:srgbClr val="E94560"/>
          </a:solidFill>
          <a:ln w="12700">
            <a:solidFill>
              <a:srgbClr val="E94560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400050" y="6457950"/>
            <a:ext cx="49530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APPAREL  ·  MARKDOWN STRATEGY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11334750" y="6457950"/>
            <a:ext cx="4572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01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dpadmana/projects/ppt-gen/themes/scientific/logo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430000" y="266700"/>
            <a:ext cx="419100" cy="4191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00050" y="457200"/>
            <a:ext cx="238125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E9456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SECTION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1524000" y="2190750"/>
            <a:ext cx="914400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The problem</a:t>
            </a:r>
            <a:endParaRPr lang="en-US" sz="4800" dirty="0"/>
          </a:p>
        </p:txBody>
      </p:sp>
      <p:sp>
        <p:nvSpPr>
          <p:cNvPr id="5" name="Text 2"/>
          <p:cNvSpPr/>
          <p:nvPr/>
        </p:nvSpPr>
        <p:spPr>
          <a:xfrm>
            <a:off x="1524000" y="3381375"/>
            <a:ext cx="9144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Clearance is running the P&amp;L</a:t>
            </a:r>
            <a:endParaRPr lang="en-US" sz="1800" dirty="0"/>
          </a:p>
        </p:txBody>
      </p:sp>
      <p:sp>
        <p:nvSpPr>
          <p:cNvPr id="6" name="Text 3"/>
          <p:cNvSpPr/>
          <p:nvPr/>
        </p:nvSpPr>
        <p:spPr>
          <a:xfrm>
            <a:off x="400050" y="6457950"/>
            <a:ext cx="49530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APPAREL  ·  MARKDOWN STRATEGY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11334750" y="6457950"/>
            <a:ext cx="4572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02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dpadmana/projects/ppt-gen/themes/scientific/logo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430000" y="266700"/>
            <a:ext cx="419100" cy="4191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00050" y="247650"/>
            <a:ext cx="108394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Reactive markdown vs intentional markdown</a:t>
            </a:r>
            <a:endParaRPr lang="en-US" sz="3000" dirty="0"/>
          </a:p>
        </p:txBody>
      </p:sp>
      <p:sp>
        <p:nvSpPr>
          <p:cNvPr id="4" name="Text 1"/>
          <p:cNvSpPr/>
          <p:nvPr/>
        </p:nvSpPr>
        <p:spPr>
          <a:xfrm>
            <a:off x="400050" y="800100"/>
            <a:ext cx="1064895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Same inventory decisions; very different margin outcomes</a:t>
            </a:r>
            <a:endParaRPr lang="en-US" sz="1600" dirty="0"/>
          </a:p>
        </p:txBody>
      </p:sp>
      <p:sp>
        <p:nvSpPr>
          <p:cNvPr id="5" name="Text 2"/>
          <p:cNvSpPr/>
          <p:nvPr/>
        </p:nvSpPr>
        <p:spPr>
          <a:xfrm>
            <a:off x="400050" y="6457950"/>
            <a:ext cx="49530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APPAREL  ·  MARKDOWN STRATEGY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11334750" y="6457950"/>
            <a:ext cx="4572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03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400050" y="1219200"/>
            <a:ext cx="5695950" cy="5105400"/>
          </a:xfrm>
          <a:prstGeom prst="roundRect">
            <a:avLst>
              <a:gd name="adj" fmla="val 1791"/>
            </a:avLst>
          </a:prstGeom>
          <a:solidFill>
            <a:srgbClr val="2B2B4A"/>
          </a:solidFill>
          <a:ln w="12700">
            <a:solidFill>
              <a:srgbClr val="2B2B4A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400050" y="1219200"/>
            <a:ext cx="5695950" cy="76200"/>
          </a:xfrm>
          <a:prstGeom prst="rect">
            <a:avLst/>
          </a:prstGeom>
          <a:solidFill>
            <a:srgbClr val="4E79A7"/>
          </a:solidFill>
          <a:ln w="12700">
            <a:solidFill>
              <a:srgbClr val="4E79A7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09600" y="1447800"/>
            <a:ext cx="527685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4E79A7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TODAY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609600" y="1743075"/>
            <a:ext cx="527685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Late, blunt, channel-blind</a:t>
            </a:r>
            <a:endParaRPr lang="en-US" sz="2200" dirty="0"/>
          </a:p>
        </p:txBody>
      </p:sp>
      <p:sp>
        <p:nvSpPr>
          <p:cNvPr id="11" name="Shape 8"/>
          <p:cNvSpPr/>
          <p:nvPr/>
        </p:nvSpPr>
        <p:spPr>
          <a:xfrm>
            <a:off x="609600" y="2505075"/>
            <a:ext cx="66675" cy="66675"/>
          </a:xfrm>
          <a:prstGeom prst="roundRect">
            <a:avLst>
              <a:gd name="adj" fmla="val 137143"/>
            </a:avLst>
          </a:prstGeom>
          <a:solidFill>
            <a:srgbClr val="E94560"/>
          </a:solidFill>
          <a:ln w="12700">
            <a:solidFill>
              <a:srgbClr val="E94560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00100" y="2419350"/>
            <a:ext cx="50863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Clearance rates climb after sell-through stalls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609600" y="3038475"/>
            <a:ext cx="66675" cy="66675"/>
          </a:xfrm>
          <a:prstGeom prst="roundRect">
            <a:avLst>
              <a:gd name="adj" fmla="val 137143"/>
            </a:avLst>
          </a:prstGeom>
          <a:solidFill>
            <a:srgbClr val="E94560"/>
          </a:solidFill>
          <a:ln w="12700">
            <a:solidFill>
              <a:srgbClr val="E94560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00100" y="2952750"/>
            <a:ext cx="50863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Promo and outlet compete with full-price</a:t>
            </a:r>
            <a:endParaRPr lang="en-US" sz="1500" dirty="0"/>
          </a:p>
        </p:txBody>
      </p:sp>
      <p:sp>
        <p:nvSpPr>
          <p:cNvPr id="15" name="Shape 12"/>
          <p:cNvSpPr/>
          <p:nvPr/>
        </p:nvSpPr>
        <p:spPr>
          <a:xfrm>
            <a:off x="609600" y="3571875"/>
            <a:ext cx="66675" cy="66675"/>
          </a:xfrm>
          <a:prstGeom prst="roundRect">
            <a:avLst>
              <a:gd name="adj" fmla="val 137143"/>
            </a:avLst>
          </a:prstGeom>
          <a:solidFill>
            <a:srgbClr val="E94560"/>
          </a:solidFill>
          <a:ln w="12700">
            <a:solidFill>
              <a:srgbClr val="E94560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800100" y="3486150"/>
            <a:ext cx="50863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Planners lack a shared demand signal by SKU-size</a:t>
            </a:r>
            <a:endParaRPr lang="en-US" sz="1500" dirty="0"/>
          </a:p>
        </p:txBody>
      </p:sp>
      <p:sp>
        <p:nvSpPr>
          <p:cNvPr id="17" name="Shape 14"/>
          <p:cNvSpPr/>
          <p:nvPr/>
        </p:nvSpPr>
        <p:spPr>
          <a:xfrm>
            <a:off x="6324600" y="1219200"/>
            <a:ext cx="5467350" cy="5105400"/>
          </a:xfrm>
          <a:prstGeom prst="roundRect">
            <a:avLst>
              <a:gd name="adj" fmla="val 1791"/>
            </a:avLst>
          </a:prstGeom>
          <a:solidFill>
            <a:srgbClr val="2B2B4A"/>
          </a:solidFill>
          <a:ln w="12700">
            <a:solidFill>
              <a:srgbClr val="2B2B4A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6324600" y="1219200"/>
            <a:ext cx="5467350" cy="76200"/>
          </a:xfrm>
          <a:prstGeom prst="rect">
            <a:avLst/>
          </a:prstGeom>
          <a:solidFill>
            <a:srgbClr val="F28E2B"/>
          </a:solidFill>
          <a:ln w="12700">
            <a:solidFill>
              <a:srgbClr val="F28E2B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6534150" y="1447800"/>
            <a:ext cx="504825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28E2B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TARGET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6534150" y="1743075"/>
            <a:ext cx="504825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Early, SKU-aware, testable</a:t>
            </a:r>
            <a:endParaRPr lang="en-US" sz="2200" dirty="0"/>
          </a:p>
        </p:txBody>
      </p:sp>
      <p:sp>
        <p:nvSpPr>
          <p:cNvPr id="21" name="Shape 18"/>
          <p:cNvSpPr/>
          <p:nvPr/>
        </p:nvSpPr>
        <p:spPr>
          <a:xfrm>
            <a:off x="6534150" y="2505075"/>
            <a:ext cx="66675" cy="66675"/>
          </a:xfrm>
          <a:prstGeom prst="roundRect">
            <a:avLst>
              <a:gd name="adj" fmla="val 137143"/>
            </a:avLst>
          </a:prstGeom>
          <a:solidFill>
            <a:srgbClr val="E94560"/>
          </a:solidFill>
          <a:ln w="12700">
            <a:solidFill>
              <a:srgbClr val="E94560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6724650" y="2419350"/>
            <a:ext cx="48577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Predict residual risk before week 6</a:t>
            </a:r>
            <a:endParaRPr lang="en-US" sz="1500" dirty="0"/>
          </a:p>
        </p:txBody>
      </p:sp>
      <p:sp>
        <p:nvSpPr>
          <p:cNvPr id="23" name="Shape 20"/>
          <p:cNvSpPr/>
          <p:nvPr/>
        </p:nvSpPr>
        <p:spPr>
          <a:xfrm>
            <a:off x="6534150" y="3038475"/>
            <a:ext cx="66675" cy="66675"/>
          </a:xfrm>
          <a:prstGeom prst="roundRect">
            <a:avLst>
              <a:gd name="adj" fmla="val 137143"/>
            </a:avLst>
          </a:prstGeom>
          <a:solidFill>
            <a:srgbClr val="E94560"/>
          </a:solidFill>
          <a:ln w="12700">
            <a:solidFill>
              <a:srgbClr val="E94560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6724650" y="2952750"/>
            <a:ext cx="48577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Next-best price by cluster, not blanket %</a:t>
            </a:r>
            <a:endParaRPr lang="en-US" sz="1500" dirty="0"/>
          </a:p>
        </p:txBody>
      </p:sp>
      <p:sp>
        <p:nvSpPr>
          <p:cNvPr id="25" name="Shape 22"/>
          <p:cNvSpPr/>
          <p:nvPr/>
        </p:nvSpPr>
        <p:spPr>
          <a:xfrm>
            <a:off x="6534150" y="3571875"/>
            <a:ext cx="66675" cy="66675"/>
          </a:xfrm>
          <a:prstGeom prst="roundRect">
            <a:avLst>
              <a:gd name="adj" fmla="val 137143"/>
            </a:avLst>
          </a:prstGeom>
          <a:solidFill>
            <a:srgbClr val="E94560"/>
          </a:solidFill>
          <a:ln w="12700">
            <a:solidFill>
              <a:srgbClr val="E94560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6724650" y="3486150"/>
            <a:ext cx="48577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Holdouts prove lift vs margin trade-off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dpadmana/projects/ppt-gen/themes/scientific/logo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430000" y="266700"/>
            <a:ext cx="419100" cy="4191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00050" y="247650"/>
            <a:ext cx="108394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Clearance already destroys more margin than promo</a:t>
            </a:r>
            <a:endParaRPr lang="en-US" sz="3000" dirty="0"/>
          </a:p>
        </p:txBody>
      </p:sp>
      <p:sp>
        <p:nvSpPr>
          <p:cNvPr id="4" name="Text 1"/>
          <p:cNvSpPr/>
          <p:nvPr/>
        </p:nvSpPr>
        <p:spPr>
          <a:xfrm>
            <a:off x="400050" y="6457950"/>
            <a:ext cx="49530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APPAREL  ·  MARKDOWN STRATEGY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11334750" y="6457950"/>
            <a:ext cx="4572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04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400050" y="781050"/>
            <a:ext cx="7058025" cy="5543550"/>
          </a:xfrm>
          <a:prstGeom prst="roundRect">
            <a:avLst>
              <a:gd name="adj" fmla="val 1649"/>
            </a:avLst>
          </a:prstGeom>
          <a:solidFill>
            <a:srgbClr val="1F1F36"/>
          </a:solidFill>
          <a:ln w="15875">
            <a:solidFill>
              <a:srgbClr val="3A3A5C"/>
            </a:solidFill>
            <a:prstDash val="solid"/>
          </a:ln>
        </p:spPr>
      </p:sp>
      <p:pic>
        <p:nvPicPr>
          <p:cNvPr id="7" name="Image 1" descr="/Users/dpadmana/projects/ppt-gen/assets/plots/apparel_markdown-8843ecdf50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2450" y="2019300"/>
            <a:ext cx="6753225" cy="306705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7743825" y="781050"/>
            <a:ext cx="4048125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E9456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KEY INSIGHTS</a:t>
            </a:r>
            <a:endParaRPr lang="en-US" sz="1100" dirty="0"/>
          </a:p>
        </p:txBody>
      </p:sp>
      <p:sp>
        <p:nvSpPr>
          <p:cNvPr id="9" name="Shape 5"/>
          <p:cNvSpPr/>
          <p:nvPr/>
        </p:nvSpPr>
        <p:spPr>
          <a:xfrm>
            <a:off x="7743825" y="1209675"/>
            <a:ext cx="66675" cy="66675"/>
          </a:xfrm>
          <a:prstGeom prst="roundRect">
            <a:avLst>
              <a:gd name="adj" fmla="val 137143"/>
            </a:avLst>
          </a:prstGeom>
          <a:solidFill>
            <a:srgbClr val="E94560"/>
          </a:solidFill>
          <a:ln w="12700">
            <a:solidFill>
              <a:srgbClr val="E94560"/>
            </a:solidFill>
            <a:prstDash val="solid"/>
          </a:ln>
        </p:spPr>
      </p:sp>
      <p:sp>
        <p:nvSpPr>
          <p:cNvPr id="10" name="Text 6"/>
          <p:cNvSpPr/>
          <p:nvPr/>
        </p:nvSpPr>
        <p:spPr>
          <a:xfrm>
            <a:off x="7934325" y="1123950"/>
            <a:ext cx="3857625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Clearance markdown rate ~41% of units</a:t>
            </a:r>
            <a:endParaRPr lang="en-US" sz="1500" dirty="0"/>
          </a:p>
        </p:txBody>
      </p:sp>
      <p:sp>
        <p:nvSpPr>
          <p:cNvPr id="11" name="Shape 7"/>
          <p:cNvSpPr/>
          <p:nvPr/>
        </p:nvSpPr>
        <p:spPr>
          <a:xfrm>
            <a:off x="7743825" y="1743075"/>
            <a:ext cx="66675" cy="66675"/>
          </a:xfrm>
          <a:prstGeom prst="roundRect">
            <a:avLst>
              <a:gd name="adj" fmla="val 137143"/>
            </a:avLst>
          </a:prstGeom>
          <a:solidFill>
            <a:srgbClr val="E94560"/>
          </a:solidFill>
          <a:ln w="12700">
            <a:solidFill>
              <a:srgbClr val="E94560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7934325" y="1657350"/>
            <a:ext cx="3857625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~9.5 pts gross margin lost in that lane</a:t>
            </a:r>
            <a:endParaRPr lang="en-US" sz="1500" dirty="0"/>
          </a:p>
        </p:txBody>
      </p:sp>
      <p:sp>
        <p:nvSpPr>
          <p:cNvPr id="13" name="Shape 9"/>
          <p:cNvSpPr/>
          <p:nvPr/>
        </p:nvSpPr>
        <p:spPr>
          <a:xfrm>
            <a:off x="7743825" y="2276475"/>
            <a:ext cx="66675" cy="66675"/>
          </a:xfrm>
          <a:prstGeom prst="roundRect">
            <a:avLst>
              <a:gd name="adj" fmla="val 137143"/>
            </a:avLst>
          </a:prstGeom>
          <a:solidFill>
            <a:srgbClr val="E94560"/>
          </a:solidFill>
          <a:ln w="12700">
            <a:solidFill>
              <a:srgbClr val="E94560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7934325" y="2190750"/>
            <a:ext cx="3857625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Full-price is the only lane under control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dpadmana/projects/ppt-gen/themes/scientific/logo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430000" y="266700"/>
            <a:ext cx="419100" cy="4191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00050" y="247650"/>
            <a:ext cx="108394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Full-price mix is eroding</a:t>
            </a:r>
            <a:endParaRPr lang="en-US" sz="3000" dirty="0"/>
          </a:p>
        </p:txBody>
      </p:sp>
      <p:sp>
        <p:nvSpPr>
          <p:cNvPr id="4" name="Text 1"/>
          <p:cNvSpPr/>
          <p:nvPr/>
        </p:nvSpPr>
        <p:spPr>
          <a:xfrm>
            <a:off x="400050" y="6457950"/>
            <a:ext cx="49530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APPAREL  ·  MARKDOWN STRATEGY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11334750" y="6457950"/>
            <a:ext cx="4572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05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400050" y="1123950"/>
            <a:ext cx="11010900" cy="4191000"/>
          </a:xfrm>
          <a:prstGeom prst="roundRect">
            <a:avLst>
              <a:gd name="adj" fmla="val 2182"/>
            </a:avLst>
          </a:prstGeom>
          <a:solidFill>
            <a:srgbClr val="2B2B4A"/>
          </a:solidFill>
          <a:ln w="12700">
            <a:solidFill>
              <a:srgbClr val="2B2B4A"/>
            </a:solidFill>
            <a:prstDash val="solid"/>
          </a:ln>
        </p:spPr>
      </p:sp>
      <p:pic>
        <p:nvPicPr>
          <p:cNvPr id="7" name="Image 1" descr="/Users/dpadmana/projects/ppt-gen/assets/plots/apparel_margin-c1f66affa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24025" y="1314450"/>
            <a:ext cx="8372475" cy="38100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590550" y="5486400"/>
            <a:ext cx="104775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Full-price mix fell from 61% → 47% in six months—before peak holiday.</a:t>
            </a:r>
            <a:endParaRPr lang="en-US" sz="1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dpadmana/projects/ppt-gen/themes/scientific/logo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430000" y="266700"/>
            <a:ext cx="419100" cy="4191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00050" y="247650"/>
            <a:ext cx="108394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Where to act — and what it buys</a:t>
            </a:r>
            <a:endParaRPr lang="en-US" sz="3000" dirty="0"/>
          </a:p>
        </p:txBody>
      </p:sp>
      <p:sp>
        <p:nvSpPr>
          <p:cNvPr id="4" name="Text 1"/>
          <p:cNvSpPr/>
          <p:nvPr/>
        </p:nvSpPr>
        <p:spPr>
          <a:xfrm>
            <a:off x="400050" y="6457950"/>
            <a:ext cx="49530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APPAREL  ·  MARKDOWN STRATEGY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11334750" y="6457950"/>
            <a:ext cx="4572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06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400050" y="819150"/>
            <a:ext cx="561975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INTERVENE FIRST</a:t>
            </a:r>
            <a:endParaRPr lang="en-US" sz="1100" dirty="0"/>
          </a:p>
        </p:txBody>
      </p:sp>
      <p:sp>
        <p:nvSpPr>
          <p:cNvPr id="7" name="Shape 4"/>
          <p:cNvSpPr/>
          <p:nvPr/>
        </p:nvSpPr>
        <p:spPr>
          <a:xfrm>
            <a:off x="1543050" y="1143000"/>
            <a:ext cx="2047875" cy="2266950"/>
          </a:xfrm>
          <a:prstGeom prst="roundRect">
            <a:avLst>
              <a:gd name="adj" fmla="val 4465"/>
            </a:avLst>
          </a:prstGeom>
          <a:solidFill>
            <a:srgbClr val="2B2B4A"/>
          </a:solidFill>
          <a:ln w="15875">
            <a:solidFill>
              <a:srgbClr val="3A3A5C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3686175" y="1143000"/>
            <a:ext cx="2047875" cy="2266950"/>
          </a:xfrm>
          <a:prstGeom prst="roundRect">
            <a:avLst>
              <a:gd name="adj" fmla="val 4465"/>
            </a:avLst>
          </a:prstGeom>
          <a:solidFill>
            <a:srgbClr val="2B2B4A"/>
          </a:solidFill>
          <a:ln w="15875">
            <a:solidFill>
              <a:srgbClr val="3A3A5C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1543050" y="3505200"/>
            <a:ext cx="2047875" cy="2266950"/>
          </a:xfrm>
          <a:prstGeom prst="roundRect">
            <a:avLst>
              <a:gd name="adj" fmla="val 4465"/>
            </a:avLst>
          </a:prstGeom>
          <a:solidFill>
            <a:srgbClr val="2B2B4A"/>
          </a:solidFill>
          <a:ln w="15875">
            <a:solidFill>
              <a:srgbClr val="3A3A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3686175" y="3505200"/>
            <a:ext cx="2047875" cy="2266950"/>
          </a:xfrm>
          <a:prstGeom prst="roundRect">
            <a:avLst>
              <a:gd name="adj" fmla="val 4465"/>
            </a:avLst>
          </a:prstGeom>
          <a:solidFill>
            <a:srgbClr val="2B2B4A"/>
          </a:solidFill>
          <a:ln w="15875">
            <a:solidFill>
              <a:srgbClr val="3A3A5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400050" y="1143000"/>
            <a:ext cx="104775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Unit contribution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1543050" y="5924550"/>
            <a:ext cx="41910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Sell-through risk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1695450" y="1276350"/>
            <a:ext cx="1743075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PROTECT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3838575" y="1276350"/>
            <a:ext cx="1743075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PRICE NOW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1695450" y="3638550"/>
            <a:ext cx="1743075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EXIT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3838575" y="3638550"/>
            <a:ext cx="1743075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TEST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1695450" y="1562100"/>
            <a:ext cx="1743075" cy="381000"/>
          </a:xfrm>
          <a:prstGeom prst="roundRect">
            <a:avLst>
              <a:gd name="adj" fmla="val 24000"/>
            </a:avLst>
          </a:prstGeom>
          <a:solidFill>
            <a:srgbClr val="1F1F36"/>
          </a:solidFill>
          <a:ln w="15875">
            <a:solidFill>
              <a:srgbClr val="4E79A7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1809750" y="1562100"/>
            <a:ext cx="1514475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Core basics</a:t>
            </a:r>
            <a:endParaRPr lang="en-US" sz="1600" dirty="0"/>
          </a:p>
        </p:txBody>
      </p:sp>
      <p:sp>
        <p:nvSpPr>
          <p:cNvPr id="19" name="Shape 16"/>
          <p:cNvSpPr/>
          <p:nvPr/>
        </p:nvSpPr>
        <p:spPr>
          <a:xfrm>
            <a:off x="3838575" y="1562100"/>
            <a:ext cx="1743075" cy="381000"/>
          </a:xfrm>
          <a:prstGeom prst="roundRect">
            <a:avLst>
              <a:gd name="adj" fmla="val 24000"/>
            </a:avLst>
          </a:prstGeom>
          <a:solidFill>
            <a:srgbClr val="1F1F36"/>
          </a:solidFill>
          <a:ln w="15875">
            <a:solidFill>
              <a:srgbClr val="4E79A7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3952875" y="1562100"/>
            <a:ext cx="1514475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Seasonal fashion</a:t>
            </a:r>
            <a:endParaRPr lang="en-US" sz="1600" dirty="0"/>
          </a:p>
        </p:txBody>
      </p:sp>
      <p:sp>
        <p:nvSpPr>
          <p:cNvPr id="21" name="Shape 18"/>
          <p:cNvSpPr/>
          <p:nvPr/>
        </p:nvSpPr>
        <p:spPr>
          <a:xfrm>
            <a:off x="1695450" y="3924300"/>
            <a:ext cx="1743075" cy="381000"/>
          </a:xfrm>
          <a:prstGeom prst="roundRect">
            <a:avLst>
              <a:gd name="adj" fmla="val 24000"/>
            </a:avLst>
          </a:prstGeom>
          <a:solidFill>
            <a:srgbClr val="1F1F36"/>
          </a:solidFill>
          <a:ln w="15875">
            <a:solidFill>
              <a:srgbClr val="4E79A7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1809750" y="3924300"/>
            <a:ext cx="1514475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Test capsules</a:t>
            </a:r>
            <a:endParaRPr lang="en-US" sz="1600" dirty="0"/>
          </a:p>
        </p:txBody>
      </p:sp>
      <p:sp>
        <p:nvSpPr>
          <p:cNvPr id="23" name="Shape 20"/>
          <p:cNvSpPr/>
          <p:nvPr/>
        </p:nvSpPr>
        <p:spPr>
          <a:xfrm>
            <a:off x="3838575" y="3924300"/>
            <a:ext cx="1743075" cy="381000"/>
          </a:xfrm>
          <a:prstGeom prst="roundRect">
            <a:avLst>
              <a:gd name="adj" fmla="val 24000"/>
            </a:avLst>
          </a:prstGeom>
          <a:solidFill>
            <a:srgbClr val="1F1F36"/>
          </a:solidFill>
          <a:ln w="15875">
            <a:solidFill>
              <a:srgbClr val="4E79A7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3952875" y="3924300"/>
            <a:ext cx="1514475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Aged novelty</a:t>
            </a:r>
            <a:endParaRPr lang="en-US" sz="1600" dirty="0"/>
          </a:p>
        </p:txBody>
      </p:sp>
      <p:sp>
        <p:nvSpPr>
          <p:cNvPr id="25" name="Text 22"/>
          <p:cNvSpPr/>
          <p:nvPr/>
        </p:nvSpPr>
        <p:spPr>
          <a:xfrm>
            <a:off x="6172200" y="819150"/>
            <a:ext cx="561975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ANNUAL IMPACT (ILLUSTRATIVE)</a:t>
            </a:r>
            <a:endParaRPr lang="en-US" sz="1100" dirty="0"/>
          </a:p>
        </p:txBody>
      </p:sp>
      <p:sp>
        <p:nvSpPr>
          <p:cNvPr id="26" name="Shape 23"/>
          <p:cNvSpPr/>
          <p:nvPr/>
        </p:nvSpPr>
        <p:spPr>
          <a:xfrm>
            <a:off x="6172200" y="2247900"/>
            <a:ext cx="1714500" cy="2857500"/>
          </a:xfrm>
          <a:prstGeom prst="roundRect">
            <a:avLst>
              <a:gd name="adj" fmla="val 5333"/>
            </a:avLst>
          </a:prstGeom>
          <a:solidFill>
            <a:srgbClr val="2B2B4A"/>
          </a:solidFill>
          <a:ln w="12700">
            <a:solidFill>
              <a:srgbClr val="2B2B4A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6172200" y="2247900"/>
            <a:ext cx="1714500" cy="76200"/>
          </a:xfrm>
          <a:prstGeom prst="rect">
            <a:avLst/>
          </a:prstGeom>
          <a:solidFill>
            <a:srgbClr val="4E79A7"/>
          </a:solidFill>
          <a:ln w="12700">
            <a:solidFill>
              <a:srgbClr val="4E79A7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6362700" y="2495550"/>
            <a:ext cx="13335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MARGIN RECOVERY</a:t>
            </a:r>
            <a:endParaRPr lang="en-US" sz="1100" dirty="0"/>
          </a:p>
        </p:txBody>
      </p:sp>
      <p:sp>
        <p:nvSpPr>
          <p:cNvPr id="29" name="Text 26"/>
          <p:cNvSpPr/>
          <p:nvPr/>
        </p:nvSpPr>
        <p:spPr>
          <a:xfrm>
            <a:off x="6362700" y="2895600"/>
            <a:ext cx="1333500" cy="1524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4E79A7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+$18–28M</a:t>
            </a:r>
            <a:endParaRPr lang="en-US" sz="3000" dirty="0"/>
          </a:p>
        </p:txBody>
      </p:sp>
      <p:sp>
        <p:nvSpPr>
          <p:cNvPr id="30" name="Text 27"/>
          <p:cNvSpPr/>
          <p:nvPr/>
        </p:nvSpPr>
        <p:spPr>
          <a:xfrm>
            <a:off x="6362700" y="4552950"/>
            <a:ext cx="1333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Gross profit</a:t>
            </a:r>
            <a:endParaRPr lang="en-US" sz="1300" dirty="0"/>
          </a:p>
        </p:txBody>
      </p:sp>
      <p:sp>
        <p:nvSpPr>
          <p:cNvPr id="31" name="Shape 28"/>
          <p:cNvSpPr/>
          <p:nvPr/>
        </p:nvSpPr>
        <p:spPr>
          <a:xfrm>
            <a:off x="8115300" y="2247900"/>
            <a:ext cx="1714500" cy="2857500"/>
          </a:xfrm>
          <a:prstGeom prst="roundRect">
            <a:avLst>
              <a:gd name="adj" fmla="val 5333"/>
            </a:avLst>
          </a:prstGeom>
          <a:solidFill>
            <a:srgbClr val="2B2B4A"/>
          </a:solidFill>
          <a:ln w="12700">
            <a:solidFill>
              <a:srgbClr val="2B2B4A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8115300" y="2247900"/>
            <a:ext cx="1714500" cy="76200"/>
          </a:xfrm>
          <a:prstGeom prst="rect">
            <a:avLst/>
          </a:prstGeom>
          <a:solidFill>
            <a:srgbClr val="F28E2B"/>
          </a:solidFill>
          <a:ln w="12700">
            <a:solidFill>
              <a:srgbClr val="F28E2B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8305800" y="2495550"/>
            <a:ext cx="13335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FULL-PRICE MIX</a:t>
            </a:r>
            <a:endParaRPr lang="en-US" sz="1100" dirty="0"/>
          </a:p>
        </p:txBody>
      </p:sp>
      <p:sp>
        <p:nvSpPr>
          <p:cNvPr id="34" name="Text 31"/>
          <p:cNvSpPr/>
          <p:nvPr/>
        </p:nvSpPr>
        <p:spPr>
          <a:xfrm>
            <a:off x="8305800" y="2895600"/>
            <a:ext cx="1333500" cy="1524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28E2B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+4–6 pts</a:t>
            </a:r>
            <a:endParaRPr lang="en-US" sz="3000" dirty="0"/>
          </a:p>
        </p:txBody>
      </p:sp>
      <p:sp>
        <p:nvSpPr>
          <p:cNvPr id="35" name="Text 32"/>
          <p:cNvSpPr/>
          <p:nvPr/>
        </p:nvSpPr>
        <p:spPr>
          <a:xfrm>
            <a:off x="8305800" y="4552950"/>
            <a:ext cx="1333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Within 12 months</a:t>
            </a:r>
            <a:endParaRPr lang="en-US" sz="1300" dirty="0"/>
          </a:p>
        </p:txBody>
      </p:sp>
      <p:sp>
        <p:nvSpPr>
          <p:cNvPr id="36" name="Shape 33"/>
          <p:cNvSpPr/>
          <p:nvPr/>
        </p:nvSpPr>
        <p:spPr>
          <a:xfrm>
            <a:off x="10058400" y="2247900"/>
            <a:ext cx="1714500" cy="2857500"/>
          </a:xfrm>
          <a:prstGeom prst="roundRect">
            <a:avLst>
              <a:gd name="adj" fmla="val 5333"/>
            </a:avLst>
          </a:prstGeom>
          <a:solidFill>
            <a:srgbClr val="2B2B4A"/>
          </a:solidFill>
          <a:ln w="12700">
            <a:solidFill>
              <a:srgbClr val="2B2B4A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>
            <a:off x="10058400" y="2247900"/>
            <a:ext cx="1714500" cy="76200"/>
          </a:xfrm>
          <a:prstGeom prst="rect">
            <a:avLst/>
          </a:prstGeom>
          <a:solidFill>
            <a:srgbClr val="E15759"/>
          </a:solidFill>
          <a:ln w="12700">
            <a:solidFill>
              <a:srgbClr val="E15759"/>
            </a:solidFill>
            <a:prstDash val="solid"/>
          </a:ln>
        </p:spPr>
      </p:sp>
      <p:sp>
        <p:nvSpPr>
          <p:cNvPr id="38" name="Text 35"/>
          <p:cNvSpPr/>
          <p:nvPr/>
        </p:nvSpPr>
        <p:spPr>
          <a:xfrm>
            <a:off x="10248900" y="2495550"/>
            <a:ext cx="13335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AGED INVENTORY</a:t>
            </a:r>
            <a:endParaRPr lang="en-US" sz="1100" dirty="0"/>
          </a:p>
        </p:txBody>
      </p:sp>
      <p:sp>
        <p:nvSpPr>
          <p:cNvPr id="39" name="Text 36"/>
          <p:cNvSpPr/>
          <p:nvPr/>
        </p:nvSpPr>
        <p:spPr>
          <a:xfrm>
            <a:off x="10248900" y="2895600"/>
            <a:ext cx="1333500" cy="1524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E15759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−15–25%</a:t>
            </a:r>
            <a:endParaRPr lang="en-US" sz="3400" dirty="0"/>
          </a:p>
        </p:txBody>
      </p:sp>
      <p:sp>
        <p:nvSpPr>
          <p:cNvPr id="40" name="Text 37"/>
          <p:cNvSpPr/>
          <p:nvPr/>
        </p:nvSpPr>
        <p:spPr>
          <a:xfrm>
            <a:off x="10248900" y="4552950"/>
            <a:ext cx="1333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Weeks of supply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dpadmana/projects/ppt-gen/themes/scientific/logo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430000" y="266700"/>
            <a:ext cx="419100" cy="4191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00050" y="247650"/>
            <a:ext cx="108394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Sequence the capability—not a one-off promo calendar</a:t>
            </a:r>
            <a:endParaRPr lang="en-US" sz="3000" dirty="0"/>
          </a:p>
        </p:txBody>
      </p:sp>
      <p:sp>
        <p:nvSpPr>
          <p:cNvPr id="4" name="Text 1"/>
          <p:cNvSpPr/>
          <p:nvPr/>
        </p:nvSpPr>
        <p:spPr>
          <a:xfrm>
            <a:off x="400050" y="6457950"/>
            <a:ext cx="49530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APPAREL  ·  MARKDOWN STRATEGY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11334750" y="6457950"/>
            <a:ext cx="4572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07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400050" y="781050"/>
            <a:ext cx="3667125" cy="5086350"/>
          </a:xfrm>
          <a:prstGeom prst="roundRect">
            <a:avLst>
              <a:gd name="adj" fmla="val 2494"/>
            </a:avLst>
          </a:prstGeom>
          <a:solidFill>
            <a:srgbClr val="2B2B4A"/>
          </a:solidFill>
          <a:ln w="12700">
            <a:solidFill>
              <a:srgbClr val="2B2B4A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400050" y="781050"/>
            <a:ext cx="57150" cy="5086350"/>
          </a:xfrm>
          <a:prstGeom prst="rect">
            <a:avLst/>
          </a:prstGeom>
          <a:solidFill>
            <a:srgbClr val="E94560"/>
          </a:solidFill>
          <a:ln w="12700">
            <a:solidFill>
              <a:srgbClr val="E94560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571500" y="952500"/>
            <a:ext cx="3324225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E9456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0–90 DAYS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571500" y="1200150"/>
            <a:ext cx="3324225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Diagnose &amp; pilot</a:t>
            </a:r>
            <a:endParaRPr lang="en-US" sz="1800" dirty="0"/>
          </a:p>
        </p:txBody>
      </p:sp>
      <p:sp>
        <p:nvSpPr>
          <p:cNvPr id="10" name="Text 7"/>
          <p:cNvSpPr/>
          <p:nvPr/>
        </p:nvSpPr>
        <p:spPr>
          <a:xfrm>
            <a:off x="571500" y="1619250"/>
            <a:ext cx="332422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SKU risk scores + 2 categories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571500" y="2200275"/>
            <a:ext cx="66675" cy="66675"/>
          </a:xfrm>
          <a:prstGeom prst="roundRect">
            <a:avLst>
              <a:gd name="adj" fmla="val 137143"/>
            </a:avLst>
          </a:prstGeom>
          <a:solidFill>
            <a:srgbClr val="E94560"/>
          </a:solidFill>
          <a:ln w="12700">
            <a:solidFill>
              <a:srgbClr val="E94560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762000" y="2114550"/>
            <a:ext cx="3133725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Residual demand model MVP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571500" y="2428875"/>
            <a:ext cx="66675" cy="66675"/>
          </a:xfrm>
          <a:prstGeom prst="roundRect">
            <a:avLst>
              <a:gd name="adj" fmla="val 137143"/>
            </a:avLst>
          </a:prstGeom>
          <a:solidFill>
            <a:srgbClr val="E94560"/>
          </a:solidFill>
          <a:ln w="12700">
            <a:solidFill>
              <a:srgbClr val="E94560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762000" y="2343150"/>
            <a:ext cx="3133725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Markdown playbook v1</a:t>
            </a:r>
            <a:endParaRPr lang="en-US" sz="1500" dirty="0"/>
          </a:p>
        </p:txBody>
      </p:sp>
      <p:sp>
        <p:nvSpPr>
          <p:cNvPr id="15" name="Shape 12"/>
          <p:cNvSpPr/>
          <p:nvPr/>
        </p:nvSpPr>
        <p:spPr>
          <a:xfrm>
            <a:off x="571500" y="2657475"/>
            <a:ext cx="66675" cy="66675"/>
          </a:xfrm>
          <a:prstGeom prst="roundRect">
            <a:avLst>
              <a:gd name="adj" fmla="val 137143"/>
            </a:avLst>
          </a:prstGeom>
          <a:solidFill>
            <a:srgbClr val="E94560"/>
          </a:solidFill>
          <a:ln w="12700">
            <a:solidFill>
              <a:srgbClr val="E94560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762000" y="2571750"/>
            <a:ext cx="3133725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Holdout in 40 doors</a:t>
            </a:r>
            <a:endParaRPr lang="en-US" sz="1500" dirty="0"/>
          </a:p>
        </p:txBody>
      </p:sp>
      <p:sp>
        <p:nvSpPr>
          <p:cNvPr id="17" name="Shape 14"/>
          <p:cNvSpPr/>
          <p:nvPr/>
        </p:nvSpPr>
        <p:spPr>
          <a:xfrm>
            <a:off x="4257675" y="781050"/>
            <a:ext cx="3667125" cy="5086350"/>
          </a:xfrm>
          <a:prstGeom prst="roundRect">
            <a:avLst>
              <a:gd name="adj" fmla="val 2494"/>
            </a:avLst>
          </a:prstGeom>
          <a:solidFill>
            <a:srgbClr val="2B2B4A"/>
          </a:solidFill>
          <a:ln w="12700">
            <a:solidFill>
              <a:srgbClr val="2B2B4A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4257675" y="781050"/>
            <a:ext cx="57150" cy="5086350"/>
          </a:xfrm>
          <a:prstGeom prst="rect">
            <a:avLst/>
          </a:prstGeom>
          <a:solidFill>
            <a:srgbClr val="4E79A7"/>
          </a:solidFill>
          <a:ln w="12700">
            <a:solidFill>
              <a:srgbClr val="4E79A7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4429125" y="952500"/>
            <a:ext cx="3324225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4E79A7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3–9 MONTHS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4429125" y="1200150"/>
            <a:ext cx="3324225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Scale decisions</a:t>
            </a:r>
            <a:endParaRPr lang="en-US" sz="1800" dirty="0"/>
          </a:p>
        </p:txBody>
      </p:sp>
      <p:sp>
        <p:nvSpPr>
          <p:cNvPr id="21" name="Text 18"/>
          <p:cNvSpPr/>
          <p:nvPr/>
        </p:nvSpPr>
        <p:spPr>
          <a:xfrm>
            <a:off x="4429125" y="1619250"/>
            <a:ext cx="332422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Planner workflow + guardrails</a:t>
            </a:r>
            <a:endParaRPr lang="en-US" sz="1400" dirty="0"/>
          </a:p>
        </p:txBody>
      </p:sp>
      <p:sp>
        <p:nvSpPr>
          <p:cNvPr id="22" name="Shape 19"/>
          <p:cNvSpPr/>
          <p:nvPr/>
        </p:nvSpPr>
        <p:spPr>
          <a:xfrm>
            <a:off x="4429125" y="2200275"/>
            <a:ext cx="66675" cy="66675"/>
          </a:xfrm>
          <a:prstGeom prst="roundRect">
            <a:avLst>
              <a:gd name="adj" fmla="val 137143"/>
            </a:avLst>
          </a:prstGeom>
          <a:solidFill>
            <a:srgbClr val="E94560"/>
          </a:solidFill>
          <a:ln w="12700">
            <a:solidFill>
              <a:srgbClr val="E94560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4619625" y="2114550"/>
            <a:ext cx="3133725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Next-best price service</a:t>
            </a:r>
            <a:endParaRPr lang="en-US" sz="1500" dirty="0"/>
          </a:p>
        </p:txBody>
      </p:sp>
      <p:sp>
        <p:nvSpPr>
          <p:cNvPr id="24" name="Shape 21"/>
          <p:cNvSpPr/>
          <p:nvPr/>
        </p:nvSpPr>
        <p:spPr>
          <a:xfrm>
            <a:off x="4429125" y="2428875"/>
            <a:ext cx="66675" cy="66675"/>
          </a:xfrm>
          <a:prstGeom prst="roundRect">
            <a:avLst>
              <a:gd name="adj" fmla="val 137143"/>
            </a:avLst>
          </a:prstGeom>
          <a:solidFill>
            <a:srgbClr val="E94560"/>
          </a:solidFill>
          <a:ln w="12700">
            <a:solidFill>
              <a:srgbClr val="E94560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4619625" y="2343150"/>
            <a:ext cx="3133725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Assortment linkage</a:t>
            </a:r>
            <a:endParaRPr lang="en-US" sz="1500" dirty="0"/>
          </a:p>
        </p:txBody>
      </p:sp>
      <p:sp>
        <p:nvSpPr>
          <p:cNvPr id="26" name="Shape 23"/>
          <p:cNvSpPr/>
          <p:nvPr/>
        </p:nvSpPr>
        <p:spPr>
          <a:xfrm>
            <a:off x="4429125" y="2657475"/>
            <a:ext cx="66675" cy="66675"/>
          </a:xfrm>
          <a:prstGeom prst="roundRect">
            <a:avLst>
              <a:gd name="adj" fmla="val 137143"/>
            </a:avLst>
          </a:prstGeom>
          <a:solidFill>
            <a:srgbClr val="E94560"/>
          </a:solidFill>
          <a:ln w="12700">
            <a:solidFill>
              <a:srgbClr val="E94560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4619625" y="2571750"/>
            <a:ext cx="3133725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Weekly margin readout</a:t>
            </a:r>
            <a:endParaRPr lang="en-US" sz="1500" dirty="0"/>
          </a:p>
        </p:txBody>
      </p:sp>
      <p:sp>
        <p:nvSpPr>
          <p:cNvPr id="28" name="Shape 25"/>
          <p:cNvSpPr/>
          <p:nvPr/>
        </p:nvSpPr>
        <p:spPr>
          <a:xfrm>
            <a:off x="8115300" y="781050"/>
            <a:ext cx="3667125" cy="5086350"/>
          </a:xfrm>
          <a:prstGeom prst="roundRect">
            <a:avLst>
              <a:gd name="adj" fmla="val 2494"/>
            </a:avLst>
          </a:prstGeom>
          <a:solidFill>
            <a:srgbClr val="2B2B4A"/>
          </a:solidFill>
          <a:ln w="12700">
            <a:solidFill>
              <a:srgbClr val="2B2B4A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8115300" y="781050"/>
            <a:ext cx="57150" cy="5086350"/>
          </a:xfrm>
          <a:prstGeom prst="rect">
            <a:avLst/>
          </a:prstGeom>
          <a:solidFill>
            <a:srgbClr val="59A14F"/>
          </a:solidFill>
          <a:ln w="12700">
            <a:solidFill>
              <a:srgbClr val="59A14F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8286750" y="952500"/>
            <a:ext cx="3324225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59A14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9–18 MONTHS</a:t>
            </a:r>
            <a:endParaRPr lang="en-US" sz="1100" dirty="0"/>
          </a:p>
        </p:txBody>
      </p:sp>
      <p:sp>
        <p:nvSpPr>
          <p:cNvPr id="31" name="Text 28"/>
          <p:cNvSpPr/>
          <p:nvPr/>
        </p:nvSpPr>
        <p:spPr>
          <a:xfrm>
            <a:off x="8286750" y="1200150"/>
            <a:ext cx="3324225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Optimize system</a:t>
            </a:r>
            <a:endParaRPr lang="en-US" sz="1800" dirty="0"/>
          </a:p>
        </p:txBody>
      </p:sp>
      <p:sp>
        <p:nvSpPr>
          <p:cNvPr id="32" name="Text 29"/>
          <p:cNvSpPr/>
          <p:nvPr/>
        </p:nvSpPr>
        <p:spPr>
          <a:xfrm>
            <a:off x="8286750" y="1619250"/>
            <a:ext cx="332422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Cross-channel price fabric</a:t>
            </a:r>
            <a:endParaRPr lang="en-US" sz="1400" dirty="0"/>
          </a:p>
        </p:txBody>
      </p:sp>
      <p:sp>
        <p:nvSpPr>
          <p:cNvPr id="33" name="Shape 30"/>
          <p:cNvSpPr/>
          <p:nvPr/>
        </p:nvSpPr>
        <p:spPr>
          <a:xfrm>
            <a:off x="8286750" y="2200275"/>
            <a:ext cx="66675" cy="66675"/>
          </a:xfrm>
          <a:prstGeom prst="roundRect">
            <a:avLst>
              <a:gd name="adj" fmla="val 137143"/>
            </a:avLst>
          </a:prstGeom>
          <a:solidFill>
            <a:srgbClr val="E94560"/>
          </a:solidFill>
          <a:ln w="12700">
            <a:solidFill>
              <a:srgbClr val="E94560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8477250" y="2114550"/>
            <a:ext cx="3133725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Outlet / wholesale rules</a:t>
            </a:r>
            <a:endParaRPr lang="en-US" sz="1500" dirty="0"/>
          </a:p>
        </p:txBody>
      </p:sp>
      <p:sp>
        <p:nvSpPr>
          <p:cNvPr id="35" name="Shape 32"/>
          <p:cNvSpPr/>
          <p:nvPr/>
        </p:nvSpPr>
        <p:spPr>
          <a:xfrm>
            <a:off x="8286750" y="2428875"/>
            <a:ext cx="66675" cy="66675"/>
          </a:xfrm>
          <a:prstGeom prst="roundRect">
            <a:avLst>
              <a:gd name="adj" fmla="val 137143"/>
            </a:avLst>
          </a:prstGeom>
          <a:solidFill>
            <a:srgbClr val="E94560"/>
          </a:solidFill>
          <a:ln w="12700">
            <a:solidFill>
              <a:srgbClr val="E94560"/>
            </a:solidFill>
            <a:prstDash val="solid"/>
          </a:ln>
        </p:spPr>
      </p:sp>
      <p:sp>
        <p:nvSpPr>
          <p:cNvPr id="36" name="Text 33"/>
          <p:cNvSpPr/>
          <p:nvPr/>
        </p:nvSpPr>
        <p:spPr>
          <a:xfrm>
            <a:off x="8477250" y="2343150"/>
            <a:ext cx="3133725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Auto-clearance with caps</a:t>
            </a:r>
            <a:endParaRPr lang="en-US" sz="1500" dirty="0"/>
          </a:p>
        </p:txBody>
      </p:sp>
      <p:sp>
        <p:nvSpPr>
          <p:cNvPr id="37" name="Shape 34"/>
          <p:cNvSpPr/>
          <p:nvPr/>
        </p:nvSpPr>
        <p:spPr>
          <a:xfrm>
            <a:off x="8286750" y="2657475"/>
            <a:ext cx="66675" cy="66675"/>
          </a:xfrm>
          <a:prstGeom prst="roundRect">
            <a:avLst>
              <a:gd name="adj" fmla="val 137143"/>
            </a:avLst>
          </a:prstGeom>
          <a:solidFill>
            <a:srgbClr val="E94560"/>
          </a:solidFill>
          <a:ln w="12700">
            <a:solidFill>
              <a:srgbClr val="E94560"/>
            </a:solidFill>
            <a:prstDash val="solid"/>
          </a:ln>
        </p:spPr>
      </p:sp>
      <p:sp>
        <p:nvSpPr>
          <p:cNvPr id="38" name="Text 35"/>
          <p:cNvSpPr/>
          <p:nvPr/>
        </p:nvSpPr>
        <p:spPr>
          <a:xfrm>
            <a:off x="8477250" y="2571750"/>
            <a:ext cx="3133725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Finance-owned KPI pack</a:t>
            </a:r>
            <a:endParaRPr lang="en-US" sz="1500" dirty="0"/>
          </a:p>
        </p:txBody>
      </p:sp>
      <p:sp>
        <p:nvSpPr>
          <p:cNvPr id="39" name="Text 36"/>
          <p:cNvSpPr/>
          <p:nvPr/>
        </p:nvSpPr>
        <p:spPr>
          <a:xfrm>
            <a:off x="400050" y="5943600"/>
            <a:ext cx="113919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Each gate requires a merchant owner and a stop / scale rule.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dpadmana/projects/ppt-gen/themes/scientific/logo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430000" y="266700"/>
            <a:ext cx="419100" cy="4191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00050" y="247650"/>
            <a:ext cx="108394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90-day pilot squad</a:t>
            </a:r>
            <a:endParaRPr lang="en-US" sz="3000" dirty="0"/>
          </a:p>
        </p:txBody>
      </p:sp>
      <p:sp>
        <p:nvSpPr>
          <p:cNvPr id="4" name="Text 1"/>
          <p:cNvSpPr/>
          <p:nvPr/>
        </p:nvSpPr>
        <p:spPr>
          <a:xfrm>
            <a:off x="400050" y="800100"/>
            <a:ext cx="1064895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Keep commercial ownership next to the algorithm</a:t>
            </a:r>
            <a:endParaRPr lang="en-US" sz="1600" dirty="0"/>
          </a:p>
        </p:txBody>
      </p:sp>
      <p:sp>
        <p:nvSpPr>
          <p:cNvPr id="5" name="Text 2"/>
          <p:cNvSpPr/>
          <p:nvPr/>
        </p:nvSpPr>
        <p:spPr>
          <a:xfrm>
            <a:off x="400050" y="6457950"/>
            <a:ext cx="49530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APPAREL  ·  MARKDOWN STRATEGY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11334750" y="6457950"/>
            <a:ext cx="4572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08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1905000" y="1219200"/>
            <a:ext cx="316865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WEEKS 1–3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226050" y="1219200"/>
            <a:ext cx="316865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WEEKS 4–7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547100" y="1219200"/>
            <a:ext cx="316865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WEEKS 8–12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400050" y="1562100"/>
            <a:ext cx="1257300" cy="876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Merchandising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1828800" y="1562100"/>
            <a:ext cx="9963150" cy="876300"/>
          </a:xfrm>
          <a:prstGeom prst="rect">
            <a:avLst/>
          </a:prstGeom>
          <a:solidFill>
            <a:srgbClr val="2B2B4A"/>
          </a:solidFill>
          <a:ln w="15875">
            <a:solidFill>
              <a:srgbClr val="3A3A5C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400050" y="2514600"/>
            <a:ext cx="1257300" cy="876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Planning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1828800" y="2514600"/>
            <a:ext cx="9963150" cy="876300"/>
          </a:xfrm>
          <a:prstGeom prst="rect">
            <a:avLst/>
          </a:prstGeom>
          <a:solidFill>
            <a:srgbClr val="1F1F36"/>
          </a:solidFill>
          <a:ln w="15875">
            <a:solidFill>
              <a:srgbClr val="3A3A5C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400050" y="3467100"/>
            <a:ext cx="1257300" cy="876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Data science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1828800" y="3467100"/>
            <a:ext cx="9963150" cy="876300"/>
          </a:xfrm>
          <a:prstGeom prst="rect">
            <a:avLst/>
          </a:prstGeom>
          <a:solidFill>
            <a:srgbClr val="2B2B4A"/>
          </a:solidFill>
          <a:ln w="15875">
            <a:solidFill>
              <a:srgbClr val="3A3A5C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400050" y="4419600"/>
            <a:ext cx="1257300" cy="876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Stores / e-comm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1828800" y="4419600"/>
            <a:ext cx="9963150" cy="876300"/>
          </a:xfrm>
          <a:prstGeom prst="rect">
            <a:avLst/>
          </a:prstGeom>
          <a:solidFill>
            <a:srgbClr val="1F1F36"/>
          </a:solidFill>
          <a:ln w="15875">
            <a:solidFill>
              <a:srgbClr val="3A3A5C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400050" y="5372100"/>
            <a:ext cx="1257300" cy="876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Finance</a:t>
            </a:r>
            <a:endParaRPr lang="en-US" sz="1300" dirty="0"/>
          </a:p>
        </p:txBody>
      </p:sp>
      <p:sp>
        <p:nvSpPr>
          <p:cNvPr id="19" name="Shape 16"/>
          <p:cNvSpPr/>
          <p:nvPr/>
        </p:nvSpPr>
        <p:spPr>
          <a:xfrm>
            <a:off x="1828800" y="5372100"/>
            <a:ext cx="9963150" cy="876300"/>
          </a:xfrm>
          <a:prstGeom prst="rect">
            <a:avLst/>
          </a:prstGeom>
          <a:solidFill>
            <a:srgbClr val="2B2B4A"/>
          </a:solidFill>
          <a:ln w="15875">
            <a:solidFill>
              <a:srgbClr val="3A3A5C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1924050" y="1809750"/>
            <a:ext cx="3130550" cy="381000"/>
          </a:xfrm>
          <a:prstGeom prst="roundRect">
            <a:avLst>
              <a:gd name="adj" fmla="val 24000"/>
            </a:avLst>
          </a:prstGeom>
          <a:solidFill>
            <a:srgbClr val="4E79A7"/>
          </a:solidFill>
          <a:ln w="12700">
            <a:solidFill>
              <a:srgbClr val="4E79A7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2000250" y="1809750"/>
            <a:ext cx="29781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Category charter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1924050" y="2762250"/>
            <a:ext cx="3130550" cy="381000"/>
          </a:xfrm>
          <a:prstGeom prst="roundRect">
            <a:avLst>
              <a:gd name="adj" fmla="val 24000"/>
            </a:avLst>
          </a:prstGeom>
          <a:solidFill>
            <a:srgbClr val="F28E2B"/>
          </a:solidFill>
          <a:ln w="12700">
            <a:solidFill>
              <a:srgbClr val="F28E2B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2000250" y="2762250"/>
            <a:ext cx="29781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Risk rules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5245100" y="3714750"/>
            <a:ext cx="3130550" cy="381000"/>
          </a:xfrm>
          <a:prstGeom prst="roundRect">
            <a:avLst>
              <a:gd name="adj" fmla="val 24000"/>
            </a:avLst>
          </a:prstGeom>
          <a:solidFill>
            <a:srgbClr val="E15759"/>
          </a:solidFill>
          <a:ln w="12700">
            <a:solidFill>
              <a:srgbClr val="E15759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5321300" y="3714750"/>
            <a:ext cx="29781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Model + holdout</a:t>
            </a:r>
            <a:endParaRPr lang="en-US" sz="1200" dirty="0"/>
          </a:p>
        </p:txBody>
      </p:sp>
      <p:sp>
        <p:nvSpPr>
          <p:cNvPr id="26" name="Shape 23"/>
          <p:cNvSpPr/>
          <p:nvPr/>
        </p:nvSpPr>
        <p:spPr>
          <a:xfrm>
            <a:off x="5245100" y="4667250"/>
            <a:ext cx="3130550" cy="381000"/>
          </a:xfrm>
          <a:prstGeom prst="roundRect">
            <a:avLst>
              <a:gd name="adj" fmla="val 24000"/>
            </a:avLst>
          </a:prstGeom>
          <a:solidFill>
            <a:srgbClr val="76B7B2"/>
          </a:solidFill>
          <a:ln w="12700">
            <a:solidFill>
              <a:srgbClr val="76B7B2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5321300" y="4667250"/>
            <a:ext cx="29781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Execution path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8566150" y="5619750"/>
            <a:ext cx="3130550" cy="381000"/>
          </a:xfrm>
          <a:prstGeom prst="roundRect">
            <a:avLst>
              <a:gd name="adj" fmla="val 24000"/>
            </a:avLst>
          </a:prstGeom>
          <a:solidFill>
            <a:srgbClr val="59A14F"/>
          </a:solidFill>
          <a:ln w="12700">
            <a:solidFill>
              <a:srgbClr val="59A14F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8642350" y="5619750"/>
            <a:ext cx="29781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Margin gate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dpadmana/projects/ppt-gen/themes/scientific/logo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430000" y="266700"/>
            <a:ext cx="419100" cy="4191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00050" y="457200"/>
            <a:ext cx="19050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E9456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THE DECISION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00050" y="1238250"/>
            <a:ext cx="95250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Treat markdown as a</a:t>
            </a:r>
            <a:endParaRPr lang="en-US" sz="4000" dirty="0"/>
          </a:p>
          <a:p>
            <a:pPr algn="l" indent="0" marL="0">
              <a:buNone/>
            </a:pPr>
            <a:r>
              <a:rPr lang="en-US" sz="40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decision system—not a fire drill.</a:t>
            </a:r>
            <a:endParaRPr lang="en-US" sz="4000" dirty="0"/>
          </a:p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5" name="Text 2"/>
          <p:cNvSpPr/>
          <p:nvPr/>
        </p:nvSpPr>
        <p:spPr>
          <a:xfrm>
            <a:off x="400050" y="2952750"/>
            <a:ext cx="85725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Start with two categories, one holdout design, and a finance co-owner.</a:t>
            </a:r>
            <a:endParaRPr lang="en-US" sz="2000" dirty="0"/>
          </a:p>
        </p:txBody>
      </p:sp>
      <p:sp>
        <p:nvSpPr>
          <p:cNvPr id="6" name="Shape 3"/>
          <p:cNvSpPr/>
          <p:nvPr/>
        </p:nvSpPr>
        <p:spPr>
          <a:xfrm>
            <a:off x="400050" y="4000500"/>
            <a:ext cx="3448050" cy="1143000"/>
          </a:xfrm>
          <a:prstGeom prst="roundRect">
            <a:avLst>
              <a:gd name="adj" fmla="val 8000"/>
            </a:avLst>
          </a:prstGeom>
          <a:solidFill>
            <a:srgbClr val="2B2B4A"/>
          </a:solidFill>
          <a:ln w="12700">
            <a:solidFill>
              <a:srgbClr val="2B2B4A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400050" y="4000500"/>
            <a:ext cx="57150" cy="1143000"/>
          </a:xfrm>
          <a:prstGeom prst="rect">
            <a:avLst/>
          </a:prstGeom>
          <a:solidFill>
            <a:srgbClr val="76B7B2"/>
          </a:solidFill>
          <a:ln w="12700">
            <a:solidFill>
              <a:srgbClr val="76B7B2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571500" y="4152900"/>
            <a:ext cx="310515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76B7B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1. PICK PILOTS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571500" y="4419600"/>
            <a:ext cx="310515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High-volume categories with residual risk</a:t>
            </a:r>
            <a:endParaRPr lang="en-US" sz="1600" dirty="0"/>
          </a:p>
        </p:txBody>
      </p:sp>
      <p:sp>
        <p:nvSpPr>
          <p:cNvPr id="10" name="Shape 7"/>
          <p:cNvSpPr/>
          <p:nvPr/>
        </p:nvSpPr>
        <p:spPr>
          <a:xfrm>
            <a:off x="4171950" y="4000500"/>
            <a:ext cx="3448050" cy="1143000"/>
          </a:xfrm>
          <a:prstGeom prst="roundRect">
            <a:avLst>
              <a:gd name="adj" fmla="val 8000"/>
            </a:avLst>
          </a:prstGeom>
          <a:solidFill>
            <a:srgbClr val="2B2B4A"/>
          </a:solidFill>
          <a:ln w="12700">
            <a:solidFill>
              <a:srgbClr val="2B2B4A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4171950" y="4000500"/>
            <a:ext cx="57150" cy="1143000"/>
          </a:xfrm>
          <a:prstGeom prst="rect">
            <a:avLst/>
          </a:prstGeom>
          <a:solidFill>
            <a:srgbClr val="4E79A7"/>
          </a:solidFill>
          <a:ln w="12700">
            <a:solidFill>
              <a:srgbClr val="4E79A7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4343400" y="4152900"/>
            <a:ext cx="310515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4E79A7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2. PROVE INCREMENTALITY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4343400" y="4419600"/>
            <a:ext cx="310515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Holdouts on price depth and timing</a:t>
            </a:r>
            <a:endParaRPr lang="en-US" sz="1600" dirty="0"/>
          </a:p>
        </p:txBody>
      </p:sp>
      <p:sp>
        <p:nvSpPr>
          <p:cNvPr id="14" name="Shape 11"/>
          <p:cNvSpPr/>
          <p:nvPr/>
        </p:nvSpPr>
        <p:spPr>
          <a:xfrm>
            <a:off x="7943850" y="4000500"/>
            <a:ext cx="3448050" cy="1143000"/>
          </a:xfrm>
          <a:prstGeom prst="roundRect">
            <a:avLst>
              <a:gd name="adj" fmla="val 8000"/>
            </a:avLst>
          </a:prstGeom>
          <a:solidFill>
            <a:srgbClr val="2B2B4A"/>
          </a:solidFill>
          <a:ln w="12700">
            <a:solidFill>
              <a:srgbClr val="2B2B4A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7943850" y="4000500"/>
            <a:ext cx="57150" cy="1143000"/>
          </a:xfrm>
          <a:prstGeom prst="rect">
            <a:avLst/>
          </a:prstGeom>
          <a:solidFill>
            <a:srgbClr val="E94560"/>
          </a:solidFill>
          <a:ln w="12700">
            <a:solidFill>
              <a:srgbClr val="E94560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8115300" y="4152900"/>
            <a:ext cx="310515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E9456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3. SCALE THE FABRIC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8115300" y="4419600"/>
            <a:ext cx="310515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Reuse signals across channels</a:t>
            </a:r>
            <a:endParaRPr lang="en-US" sz="1600" dirty="0"/>
          </a:p>
        </p:txBody>
      </p:sp>
      <p:sp>
        <p:nvSpPr>
          <p:cNvPr id="18" name="Text 15"/>
          <p:cNvSpPr/>
          <p:nvPr/>
        </p:nvSpPr>
        <p:spPr>
          <a:xfrm>
            <a:off x="400050" y="5619750"/>
            <a:ext cx="1047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Next step: convene the 90-day squad and lock the first two categories.</a:t>
            </a:r>
            <a:endParaRPr lang="en-US" sz="1700" dirty="0"/>
          </a:p>
        </p:txBody>
      </p:sp>
      <p:sp>
        <p:nvSpPr>
          <p:cNvPr id="19" name="Text 16"/>
          <p:cNvSpPr/>
          <p:nvPr/>
        </p:nvSpPr>
        <p:spPr>
          <a:xfrm>
            <a:off x="400050" y="6457950"/>
            <a:ext cx="49530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APPAREL  ·  MARKDOWN STRATEGY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11334750" y="6457950"/>
            <a:ext cx="4572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09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Markdown optimization for US apparel</dc:title>
  <dc:subject>PptxGenJS Presentation</dc:subject>
  <dc:creator>ppt-gen</dc:creator>
  <cp:lastModifiedBy>ppt-gen</cp:lastModifiedBy>
  <cp:revision>1</cp:revision>
  <dcterms:created xsi:type="dcterms:W3CDTF">2026-09-20T11:01:44Z</dcterms:created>
  <dcterms:modified xsi:type="dcterms:W3CDTF">2026-09-20T11:01:44Z</dcterms:modified>
</cp:coreProperties>
</file>