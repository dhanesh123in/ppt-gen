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381000"/>
            <a:ext cx="3048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00050" y="838200"/>
            <a:ext cx="72390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practical roadmap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product analytics</a:t>
            </a:r>
            <a:endParaRPr lang="en-US" sz="4000" dirty="0"/>
          </a:p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00050" y="211455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 discovery, delivery and measurement into one learning system over 12–18 months.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00050" y="2914650"/>
            <a:ext cx="1238250" cy="2857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6250" y="2971800"/>
            <a:ext cx="1085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ROADMAP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00050" y="33337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product, data and engineering leaders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96250" y="381000"/>
            <a:ext cx="3333750" cy="5715000"/>
          </a:xfrm>
          <a:prstGeom prst="roundRect">
            <a:avLst>
              <a:gd name="adj" fmla="val 274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24875" y="952500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10750" y="857250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715625" y="1524000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858250" y="2333625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01250" y="2619375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858500" y="3476625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63000" y="4238625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906000" y="4857750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8829675" y="1162050"/>
            <a:ext cx="1285875" cy="95250"/>
          </a:xfrm>
          <a:prstGeom prst="line">
            <a:avLst/>
          </a:prstGeom>
          <a:noFill/>
          <a:ln w="25400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10115550" y="1162050"/>
            <a:ext cx="904875" cy="666750"/>
          </a:xfrm>
          <a:prstGeom prst="line">
            <a:avLst/>
          </a:prstGeom>
          <a:noFill/>
          <a:ln w="25400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9163050" y="2638425"/>
            <a:ext cx="1143000" cy="285750"/>
          </a:xfrm>
          <a:prstGeom prst="line">
            <a:avLst/>
          </a:prstGeom>
          <a:noFill/>
          <a:ln w="25400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10306050" y="2924175"/>
            <a:ext cx="857250" cy="857250"/>
          </a:xfrm>
          <a:prstGeom prst="line">
            <a:avLst/>
          </a:prstGeom>
          <a:noFill/>
          <a:ln w="25400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9067800" y="4543425"/>
            <a:ext cx="1143000" cy="619125"/>
          </a:xfrm>
          <a:prstGeom prst="line">
            <a:avLst/>
          </a:prstGeom>
          <a:noFill/>
          <a:ln w="25400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/>
          <p:nvPr/>
        </p:nvSpPr>
        <p:spPr>
          <a:xfrm>
            <a:off x="8305800" y="56197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258300" y="56197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210800" y="56197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CHANNEL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release should make the next decision sharper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Move from fragmented metrics to a shared decision fabric.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0050" y="1419225"/>
            <a:ext cx="5695950" cy="4905375"/>
          </a:xfrm>
          <a:prstGeom prst="roundRect">
            <a:avLst>
              <a:gd name="adj" fmla="val 186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0050" y="1419225"/>
            <a:ext cx="5695950" cy="762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9600" y="1647825"/>
            <a:ext cx="5276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9600" y="1943100"/>
            <a:ext cx="5276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Signals live in silos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09600" y="27908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" y="2619375"/>
            <a:ext cx="5086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Product, growth and support dashboards disagree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09600" y="32480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100" y="3076575"/>
            <a:ext cx="5086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Experiments optimize local KPIs, not portfolio outcomes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09600" y="37052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0100" y="3533775"/>
            <a:ext cx="5086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Roadmap bets lack a shared measurement design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324600" y="1419225"/>
            <a:ext cx="5467350" cy="4905375"/>
          </a:xfrm>
          <a:prstGeom prst="roundRect">
            <a:avLst>
              <a:gd name="adj" fmla="val 186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24600" y="1419225"/>
            <a:ext cx="5467350" cy="762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4150" y="1647825"/>
            <a:ext cx="504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34150" y="1943100"/>
            <a:ext cx="504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decision loop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6534150" y="27908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24650" y="2619375"/>
            <a:ext cx="485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Shared identity and event taxonomy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534150" y="32480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4650" y="3076575"/>
            <a:ext cx="485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Next-best action for surface and lifecycle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534150" y="37052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24650" y="3533775"/>
            <a:ext cx="485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Incrementality tied to retention and margin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Prioritize use cases that compound across the journey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where decisions are frequent, measurable and owned.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0050" y="1419225"/>
            <a:ext cx="2705100" cy="1905000"/>
          </a:xfrm>
          <a:prstGeom prst="roundRect">
            <a:avLst>
              <a:gd name="adj" fmla="val 48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0050" y="1419225"/>
            <a:ext cx="57150" cy="19050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1533525"/>
            <a:ext cx="2362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DISCOVER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" y="1800225"/>
            <a:ext cx="23622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Audience insight · Opportunity sizing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95650" y="1419225"/>
            <a:ext cx="2705100" cy="1905000"/>
          </a:xfrm>
          <a:prstGeom prst="roundRect">
            <a:avLst>
              <a:gd name="adj" fmla="val 48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5650" y="1419225"/>
            <a:ext cx="57150" cy="19050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67100" y="1533525"/>
            <a:ext cx="2362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CONSIDER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67100" y="1800225"/>
            <a:ext cx="23622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Personalized content · Fit / intent scoring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91250" y="1419225"/>
            <a:ext cx="2705100" cy="1905000"/>
          </a:xfrm>
          <a:prstGeom prst="roundRect">
            <a:avLst>
              <a:gd name="adj" fmla="val 48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1250" y="1419225"/>
            <a:ext cx="57150" cy="190500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62700" y="1533525"/>
            <a:ext cx="2362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ACTIVATE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62700" y="1800225"/>
            <a:ext cx="23622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Next-best offer · In-product guidance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086850" y="1419225"/>
            <a:ext cx="2705100" cy="1905000"/>
          </a:xfrm>
          <a:prstGeom prst="roundRect">
            <a:avLst>
              <a:gd name="adj" fmla="val 48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086850" y="1419225"/>
            <a:ext cx="57150" cy="190500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58300" y="1533525"/>
            <a:ext cx="2362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RETAIN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258300" y="1800225"/>
            <a:ext cx="23622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Churn early warning · Expansion plays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90550" y="3659981"/>
            <a:ext cx="11010900" cy="14288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47825" y="3562350"/>
            <a:ext cx="209550" cy="209550"/>
          </a:xfrm>
          <a:prstGeom prst="roundRect">
            <a:avLst>
              <a:gd name="adj" fmla="val 43636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43425" y="3562350"/>
            <a:ext cx="209550" cy="209550"/>
          </a:xfrm>
          <a:prstGeom prst="roundRect">
            <a:avLst>
              <a:gd name="adj" fmla="val 43636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39025" y="3562350"/>
            <a:ext cx="209550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334625" y="3562350"/>
            <a:ext cx="209550" cy="209550"/>
          </a:xfrm>
          <a:prstGeom prst="roundRect">
            <a:avLst>
              <a:gd name="adj" fmla="val 43636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0050" y="4010025"/>
            <a:ext cx="3048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SHARED DECISION SIGNALS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00050" y="4276725"/>
            <a:ext cx="2152650" cy="704850"/>
          </a:xfrm>
          <a:prstGeom prst="roundRect">
            <a:avLst>
              <a:gd name="adj" fmla="val 12973"/>
            </a:avLst>
          </a:prstGeom>
          <a:solidFill>
            <a:srgbClr val="EAEAEA"/>
          </a:solidFill>
          <a:ln w="15875">
            <a:solidFill>
              <a:srgbClr val="EAEA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4350" y="4276725"/>
            <a:ext cx="19240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2705100" y="4276725"/>
            <a:ext cx="2152650" cy="704850"/>
          </a:xfrm>
          <a:prstGeom prst="roundRect">
            <a:avLst>
              <a:gd name="adj" fmla="val 12973"/>
            </a:avLst>
          </a:prstGeom>
          <a:ln w="15875">
            <a:solidFill>
              <a:srgbClr val="3A3A5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819400" y="4276725"/>
            <a:ext cx="19240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context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010150" y="4276725"/>
            <a:ext cx="2152650" cy="704850"/>
          </a:xfrm>
          <a:prstGeom prst="roundRect">
            <a:avLst>
              <a:gd name="adj" fmla="val 12973"/>
            </a:avLst>
          </a:prstGeom>
          <a:ln w="15875">
            <a:solidFill>
              <a:srgbClr val="3A3A5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24450" y="4276725"/>
            <a:ext cx="19240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Channel state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7315200" y="4276725"/>
            <a:ext cx="2152650" cy="704850"/>
          </a:xfrm>
          <a:prstGeom prst="roundRect">
            <a:avLst>
              <a:gd name="adj" fmla="val 12973"/>
            </a:avLst>
          </a:prstGeom>
          <a:ln w="15875">
            <a:solidFill>
              <a:srgbClr val="3A3A5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429500" y="4276725"/>
            <a:ext cx="19240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Inventory / capacity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9620250" y="4276725"/>
            <a:ext cx="2152650" cy="704850"/>
          </a:xfrm>
          <a:prstGeom prst="roundRect">
            <a:avLst>
              <a:gd name="adj" fmla="val 12973"/>
            </a:avLst>
          </a:prstGeom>
          <a:ln w="15875">
            <a:solidFill>
              <a:srgbClr val="3A3A5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734550" y="4276725"/>
            <a:ext cx="19240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Experiment exposure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Sequence: prove the signal, scale decisions, then optimize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phase ships a production decision and a measurement design.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0050" y="1419225"/>
            <a:ext cx="3667125" cy="4448175"/>
          </a:xfrm>
          <a:prstGeom prst="roundRect">
            <a:avLst>
              <a:gd name="adj" fmla="val 249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0050" y="1419225"/>
            <a:ext cx="57150" cy="4448175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1590675"/>
            <a:ext cx="3324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0–90 DAYS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" y="1838325"/>
            <a:ext cx="3324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Prove the signal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71500" y="2257425"/>
            <a:ext cx="3324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Identity, baseline, 2–3 pilot use cases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71500" y="28860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2000" y="27527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 taxonomy MVP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71500" y="31146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2000" y="29813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Measurement baseline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" y="33432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2000" y="32099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[object Object]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257675" y="1419225"/>
            <a:ext cx="3667125" cy="4448175"/>
          </a:xfrm>
          <a:prstGeom prst="roundRect">
            <a:avLst>
              <a:gd name="adj" fmla="val 249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57675" y="1419225"/>
            <a:ext cx="57150" cy="4448175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29125" y="1590675"/>
            <a:ext cx="3324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3–9 MONTHS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429125" y="1838325"/>
            <a:ext cx="3324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the decisions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429125" y="2257425"/>
            <a:ext cx="3324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Reusable models and activation paths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429125" y="28860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19625" y="27527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Next-best-action service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429125" y="31146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19625" y="29813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CRM + in-product hooks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429125" y="33432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19625" y="32099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Always-on test engine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115300" y="1419225"/>
            <a:ext cx="3667125" cy="4448175"/>
          </a:xfrm>
          <a:prstGeom prst="roundRect">
            <a:avLst>
              <a:gd name="adj" fmla="val 249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115300" y="1419225"/>
            <a:ext cx="57150" cy="4448175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86750" y="1590675"/>
            <a:ext cx="3324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A1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9–18 MONTHS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286750" y="1838325"/>
            <a:ext cx="3324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Optimize the system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8286750" y="2257425"/>
            <a:ext cx="3324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Cross-surface optimization at scale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286750" y="28860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77250" y="27527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Budget via incrementality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8286750" y="31146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477250" y="29813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Capacity-aware offers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8286750" y="33432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477250" y="32099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Guarded automation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400050" y="5943600"/>
            <a:ext cx="11391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phase ends with a stop / scale gate owned by a commercial lead.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a decision fabric—not one-off models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Reusable foundations let new use cases launch in weeks.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0050" y="1419225"/>
            <a:ext cx="2714625" cy="4905375"/>
          </a:xfrm>
          <a:prstGeom prst="roundRect">
            <a:avLst>
              <a:gd name="adj" fmla="val 336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0050" y="1419225"/>
            <a:ext cx="57150" cy="4905375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1533525"/>
            <a:ext cx="2371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COLLECT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" y="1800225"/>
            <a:ext cx="2371725" cy="441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Shared events + identity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114675" y="3862387"/>
            <a:ext cx="171450" cy="1905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86125" y="1419225"/>
            <a:ext cx="2714625" cy="4905375"/>
          </a:xfrm>
          <a:prstGeom prst="roundRect">
            <a:avLst>
              <a:gd name="adj" fmla="val 336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86125" y="1419225"/>
            <a:ext cx="57150" cy="4905375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57575" y="1533525"/>
            <a:ext cx="2371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DECIDE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57575" y="1800225"/>
            <a:ext cx="2371725" cy="441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Models + policies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000750" y="3862387"/>
            <a:ext cx="171450" cy="1905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72200" y="1419225"/>
            <a:ext cx="2714625" cy="4905375"/>
          </a:xfrm>
          <a:prstGeom prst="roundRect">
            <a:avLst>
              <a:gd name="adj" fmla="val 336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72200" y="1419225"/>
            <a:ext cx="57150" cy="4905375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3650" y="1533525"/>
            <a:ext cx="2371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43650" y="1800225"/>
            <a:ext cx="2371725" cy="441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Surface + CRM hooks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886825" y="3862387"/>
            <a:ext cx="171450" cy="1905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58275" y="1419225"/>
            <a:ext cx="2714625" cy="4905375"/>
          </a:xfrm>
          <a:prstGeom prst="roundRect">
            <a:avLst>
              <a:gd name="adj" fmla="val 336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058275" y="1419225"/>
            <a:ext cx="57150" cy="4905375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29725" y="1533525"/>
            <a:ext cx="2371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229725" y="1800225"/>
            <a:ext cx="2371725" cy="441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Holdouts + readout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 incremental value, not vanity engagement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use case needs a test design before production.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0050" y="1419225"/>
            <a:ext cx="11391900" cy="1152525"/>
          </a:xfrm>
          <a:prstGeom prst="roundRect">
            <a:avLst>
              <a:gd name="adj" fmla="val 793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0050" y="1419225"/>
            <a:ext cx="114300" cy="1152525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6750" y="1885950"/>
            <a:ext cx="432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Reactivation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56810" y="1885950"/>
            <a:ext cx="6265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Incremental retained revenue vs holdout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00050" y="2667000"/>
            <a:ext cx="11391900" cy="1152525"/>
          </a:xfrm>
          <a:prstGeom prst="roundRect">
            <a:avLst>
              <a:gd name="adj" fmla="val 793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0050" y="2667000"/>
            <a:ext cx="114300" cy="1152525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6750" y="3133725"/>
            <a:ext cx="432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Next-best offer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56810" y="3133725"/>
            <a:ext cx="6265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Margin-aware conversion lift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00050" y="3914775"/>
            <a:ext cx="11391900" cy="1152525"/>
          </a:xfrm>
          <a:prstGeom prst="roundRect">
            <a:avLst>
              <a:gd name="adj" fmla="val 793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0050" y="3914775"/>
            <a:ext cx="114300" cy="1152525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6750" y="4381500"/>
            <a:ext cx="432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Guidance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956810" y="4381500"/>
            <a:ext cx="6265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Time-to-value / activation rate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00050" y="5162550"/>
            <a:ext cx="11391900" cy="1152525"/>
          </a:xfrm>
          <a:prstGeom prst="roundRect">
            <a:avLst>
              <a:gd name="adj" fmla="val 793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0050" y="5162550"/>
            <a:ext cx="114300" cy="1152525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6750" y="5629275"/>
            <a:ext cx="432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Churn warning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956810" y="5629275"/>
            <a:ext cx="6265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Saved accounts net of outreach cost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with a 90-day launch team that can ship and learn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 accountability close to commercial owners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905000" y="1419225"/>
            <a:ext cx="3168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1–3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226050" y="1419225"/>
            <a:ext cx="3168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4–7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47100" y="1419225"/>
            <a:ext cx="3168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8–12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00050" y="1762125"/>
            <a:ext cx="1257300" cy="83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828800" y="1762125"/>
            <a:ext cx="9963150" cy="836295"/>
          </a:xfrm>
          <a:prstGeom prst="rect">
            <a:avLst/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0050" y="2674620"/>
            <a:ext cx="1257300" cy="83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/ ML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828800" y="2674620"/>
            <a:ext cx="9963150" cy="836295"/>
          </a:xfrm>
          <a:prstGeom prst="rect">
            <a:avLst/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0050" y="3587115"/>
            <a:ext cx="1257300" cy="83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828800" y="3587115"/>
            <a:ext cx="9963150" cy="836295"/>
          </a:xfrm>
          <a:prstGeom prst="rect">
            <a:avLst/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0050" y="4499610"/>
            <a:ext cx="1257300" cy="83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Growth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828800" y="4499610"/>
            <a:ext cx="9963150" cy="836295"/>
          </a:xfrm>
          <a:prstGeom prst="rect">
            <a:avLst/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0050" y="5412105"/>
            <a:ext cx="1257300" cy="83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Finance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828800" y="5412105"/>
            <a:ext cx="9963150" cy="836295"/>
          </a:xfrm>
          <a:prstGeom prst="rect">
            <a:avLst/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924050" y="1989773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000250" y="1989773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Use-case charter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245100" y="2902268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21300" y="2902268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 + holdout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245100" y="3814763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21300" y="3814763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Hooks live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566150" y="4727257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42350" y="4727257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566150" y="5639753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42350" y="5639753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Stop / scale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4572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DECISION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00050" y="1143000"/>
            <a:ext cx="9525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Invest in a decision system—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isolated dashboards.</a:t>
            </a:r>
            <a:endParaRPr lang="en-US" sz="4000" dirty="0"/>
          </a:p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00050" y="27813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with two journeys, one shared taxonomy, and a finance co-owner.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00050" y="4000500"/>
            <a:ext cx="3448050" cy="1143000"/>
          </a:xfrm>
          <a:prstGeom prst="roundRect">
            <a:avLst>
              <a:gd name="adj" fmla="val 80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0050" y="4000500"/>
            <a:ext cx="57150" cy="114300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4114800"/>
            <a:ext cx="310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PICK PILOTS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" y="4362450"/>
            <a:ext cx="31051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High-frequency decisions with owners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71950" y="4000500"/>
            <a:ext cx="3448050" cy="1143000"/>
          </a:xfrm>
          <a:prstGeom prst="roundRect">
            <a:avLst>
              <a:gd name="adj" fmla="val 80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71950" y="4000500"/>
            <a:ext cx="57150" cy="11430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4114800"/>
            <a:ext cx="310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PROVE LIFT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43400" y="4362450"/>
            <a:ext cx="31051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Holdouts before scale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943850" y="4000500"/>
            <a:ext cx="3448050" cy="1143000"/>
          </a:xfrm>
          <a:prstGeom prst="roundRect">
            <a:avLst>
              <a:gd name="adj" fmla="val 80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43850" y="4000500"/>
            <a:ext cx="57150" cy="11430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15300" y="4114800"/>
            <a:ext cx="310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PRODUCTIZE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115300" y="4362450"/>
            <a:ext cx="31051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Playbooks + coverage goals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00050" y="5619750"/>
            <a:ext cx="1047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step: lock the 90-day squad and the first two journeys.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data roadmap</dc:title>
  <dc:subject>PptxGenJS Presentation</dc:subject>
  <dc:creator>ppt-gen</dc:creator>
  <cp:lastModifiedBy>ppt-gen</cp:lastModifiedBy>
  <cp:revision>1</cp:revision>
  <dcterms:created xsi:type="dcterms:W3CDTF">2026-09-27T06:56:53Z</dcterms:created>
  <dcterms:modified xsi:type="dcterms:W3CDTF">2026-09-27T06:56:53Z</dcterms:modified>
</cp:coreProperties>
</file>