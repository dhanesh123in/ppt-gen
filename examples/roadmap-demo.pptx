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2667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STRATEGY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333500"/>
            <a:ext cx="7429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practical roadmap
for product analytics
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00050" y="3619500"/>
            <a:ext cx="666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Connect discovery, delivery and measurement into one learning system over 12–18 months.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572000"/>
            <a:ext cx="1333500" cy="266700"/>
          </a:xfrm>
          <a:prstGeom prst="roundRect">
            <a:avLst>
              <a:gd name="adj" fmla="val 27429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6250" y="4619625"/>
            <a:ext cx="11811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00050" y="5048250"/>
            <a:ext cx="5715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product, data and engineering leaders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096250" y="381000"/>
            <a:ext cx="3333750" cy="5524500"/>
          </a:xfrm>
          <a:prstGeom prst="roundRect">
            <a:avLst>
              <a:gd name="adj" fmla="val 2194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24875" y="1095375"/>
            <a:ext cx="647700" cy="647700"/>
          </a:xfrm>
          <a:prstGeom prst="roundRect">
            <a:avLst>
              <a:gd name="adj" fmla="val 11294"/>
            </a:avLst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10750" y="1000125"/>
            <a:ext cx="647700" cy="647700"/>
          </a:xfrm>
          <a:prstGeom prst="roundRect">
            <a:avLst>
              <a:gd name="adj" fmla="val 11294"/>
            </a:avLst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15625" y="1666875"/>
            <a:ext cx="647700" cy="647700"/>
          </a:xfrm>
          <a:prstGeom prst="roundRect">
            <a:avLst>
              <a:gd name="adj" fmla="val 11294"/>
            </a:avLst>
          </a:prstGeom>
          <a:solidFill>
            <a:srgbClr val="59A14F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58250" y="2476500"/>
            <a:ext cx="647700" cy="647700"/>
          </a:xfrm>
          <a:prstGeom prst="roundRect">
            <a:avLst>
              <a:gd name="adj" fmla="val 11294"/>
            </a:avLst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01250" y="2762250"/>
            <a:ext cx="647700" cy="647700"/>
          </a:xfrm>
          <a:prstGeom prst="roundRect">
            <a:avLst>
              <a:gd name="adj" fmla="val 11294"/>
            </a:avLst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58500" y="3619500"/>
            <a:ext cx="647700" cy="647700"/>
          </a:xfrm>
          <a:prstGeom prst="roundRect">
            <a:avLst>
              <a:gd name="adj" fmla="val 11294"/>
            </a:avLst>
          </a:prstGeom>
          <a:solidFill>
            <a:srgbClr val="76B7B2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763000" y="4381500"/>
            <a:ext cx="647700" cy="647700"/>
          </a:xfrm>
          <a:prstGeom prst="roundRect">
            <a:avLst>
              <a:gd name="adj" fmla="val 11294"/>
            </a:avLst>
          </a:prstGeom>
          <a:solidFill>
            <a:srgbClr val="59A14F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906000" y="5000625"/>
            <a:ext cx="647700" cy="647700"/>
          </a:xfrm>
          <a:prstGeom prst="roundRect">
            <a:avLst>
              <a:gd name="adj" fmla="val 11294"/>
            </a:avLst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48725" y="1323975"/>
            <a:ext cx="1285875" cy="952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134600" y="1323975"/>
            <a:ext cx="904875" cy="666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82100" y="2800350"/>
            <a:ext cx="1143000" cy="285750"/>
          </a:xfrm>
          <a:prstGeom prst="line">
            <a:avLst/>
          </a:prstGeom>
          <a:noFill/>
          <a:ln w="25400">
            <a:solidFill>
              <a:srgbClr val="3A3A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33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release should make the next decision sharper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9334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Move from fragmented metrics to a shared decision fabric.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198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524000"/>
            <a:ext cx="5219700" cy="4000500"/>
          </a:xfrm>
          <a:prstGeom prst="roundRect">
            <a:avLst>
              <a:gd name="adj" fmla="val 1829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05500" y="1524000"/>
            <a:ext cx="5505450" cy="4000500"/>
          </a:xfrm>
          <a:prstGeom prst="roundRect">
            <a:avLst>
              <a:gd name="adj" fmla="val 1829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790700"/>
            <a:ext cx="1524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2152650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 live in silos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85800" y="32194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7250" y="3143250"/>
            <a:ext cx="4400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Product, growth and support dashboards disagree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85800" y="36766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250" y="3600450"/>
            <a:ext cx="4400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Experiments optimize local KPIs, not portfolio outcomes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85800" y="41338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250" y="4057650"/>
            <a:ext cx="44005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Roadmap bets lack a shared measurement design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10300" y="1790700"/>
            <a:ext cx="1524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10300" y="2152650"/>
            <a:ext cx="4762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decision loop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6210300" y="32194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81750" y="3143250"/>
            <a:ext cx="4591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identity and event taxonomy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210300" y="36766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81750" y="3600450"/>
            <a:ext cx="4591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action for surface and lifecycle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210300" y="41338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81750" y="4057650"/>
            <a:ext cx="45910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Incrementality tied to retention and margin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5800" y="571500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North-star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095500" y="5676900"/>
            <a:ext cx="8572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Faster learning with fewer wasted bets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33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Prioritize use cases that compound across the journey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9334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where decisions are frequent, measurable and owned.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198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62000" y="2667000"/>
            <a:ext cx="10287000" cy="9525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666875"/>
            <a:ext cx="2609850" cy="1905000"/>
          </a:xfrm>
          <a:prstGeom prst="roundRect">
            <a:avLst>
              <a:gd name="adj" fmla="val 3840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0050" y="1666875"/>
            <a:ext cx="2609850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71500" y="1933575"/>
            <a:ext cx="2266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71500" y="2381250"/>
            <a:ext cx="226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Audience insight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71500" y="2762250"/>
            <a:ext cx="226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Opportunity sizing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2562225"/>
            <a:ext cx="209550" cy="209550"/>
          </a:xfrm>
          <a:prstGeom prst="roundRect">
            <a:avLst>
              <a:gd name="adj" fmla="val 34909"/>
            </a:avLst>
          </a:prstGeom>
          <a:solidFill>
            <a:srgbClr val="76B7B2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666875"/>
            <a:ext cx="2609850" cy="1905000"/>
          </a:xfrm>
          <a:prstGeom prst="roundRect">
            <a:avLst>
              <a:gd name="adj" fmla="val 3840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1666875"/>
            <a:ext cx="26098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71850" y="1933575"/>
            <a:ext cx="2266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CONSIDER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371850" y="2381250"/>
            <a:ext cx="226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Personalized content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371850" y="2762250"/>
            <a:ext cx="226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Fit / intent scoring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400550" y="2562225"/>
            <a:ext cx="209550" cy="209550"/>
          </a:xfrm>
          <a:prstGeom prst="roundRect">
            <a:avLst>
              <a:gd name="adj" fmla="val 34909"/>
            </a:avLst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00750" y="1666875"/>
            <a:ext cx="2609850" cy="1905000"/>
          </a:xfrm>
          <a:prstGeom prst="roundRect">
            <a:avLst>
              <a:gd name="adj" fmla="val 3840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00750" y="1666875"/>
            <a:ext cx="2609850" cy="76200"/>
          </a:xfrm>
          <a:prstGeom prst="rect">
            <a:avLst/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72200" y="1933575"/>
            <a:ext cx="2266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172200" y="2381250"/>
            <a:ext cx="226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offer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72200" y="2762250"/>
            <a:ext cx="226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In-product guidance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200900" y="2562225"/>
            <a:ext cx="209550" cy="209550"/>
          </a:xfrm>
          <a:prstGeom prst="roundRect">
            <a:avLst>
              <a:gd name="adj" fmla="val 34909"/>
            </a:avLst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01100" y="1666875"/>
            <a:ext cx="2609850" cy="1905000"/>
          </a:xfrm>
          <a:prstGeom prst="roundRect">
            <a:avLst>
              <a:gd name="adj" fmla="val 3840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801100" y="1666875"/>
            <a:ext cx="2609850" cy="76200"/>
          </a:xfrm>
          <a:prstGeom prst="rect">
            <a:avLst/>
          </a:prstGeom>
          <a:solidFill>
            <a:srgbClr val="59A14F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972550" y="1933575"/>
            <a:ext cx="22669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972550" y="2381250"/>
            <a:ext cx="226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Churn early warning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972550" y="2762250"/>
            <a:ext cx="22669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Expansion plays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0001250" y="2562225"/>
            <a:ext cx="209550" cy="209550"/>
          </a:xfrm>
          <a:prstGeom prst="roundRect">
            <a:avLst>
              <a:gd name="adj" fmla="val 34909"/>
            </a:avLst>
          </a:prstGeom>
          <a:solidFill>
            <a:srgbClr val="59A14F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0050" y="4095750"/>
            <a:ext cx="2667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SHARED DECISION SIGNALS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00050" y="4476750"/>
            <a:ext cx="2000250" cy="590550"/>
          </a:xfrm>
          <a:prstGeom prst="roundRect">
            <a:avLst>
              <a:gd name="adj" fmla="val 12387"/>
            </a:avLst>
          </a:prstGeom>
          <a:solidFill>
            <a:srgbClr val="EAEAEA"/>
          </a:solidFill>
          <a:ln w="12700">
            <a:solidFill>
              <a:srgbClr val="EAEA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3400" y="4667250"/>
            <a:ext cx="1733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619375" y="4476750"/>
            <a:ext cx="2000250" cy="590550"/>
          </a:xfrm>
          <a:prstGeom prst="roundRect">
            <a:avLst>
              <a:gd name="adj" fmla="val 12387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52725" y="4667250"/>
            <a:ext cx="1733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context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4838700" y="4476750"/>
            <a:ext cx="2000250" cy="590550"/>
          </a:xfrm>
          <a:prstGeom prst="roundRect">
            <a:avLst>
              <a:gd name="adj" fmla="val 12387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972050" y="4667250"/>
            <a:ext cx="1733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Channel state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58025" y="4476750"/>
            <a:ext cx="2000250" cy="590550"/>
          </a:xfrm>
          <a:prstGeom prst="roundRect">
            <a:avLst>
              <a:gd name="adj" fmla="val 12387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91375" y="4667250"/>
            <a:ext cx="1733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Inventory / capacity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9277350" y="4476750"/>
            <a:ext cx="2000250" cy="590550"/>
          </a:xfrm>
          <a:prstGeom prst="roundRect">
            <a:avLst>
              <a:gd name="adj" fmla="val 12387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410700" y="4667250"/>
            <a:ext cx="17335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Experiment exposure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33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Sequence: prove the signal, scale decisions, then optimize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9334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ships a production decision and a measurement design.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198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66750" y="5219700"/>
            <a:ext cx="10382250" cy="9525"/>
          </a:xfrm>
          <a:prstGeom prst="line">
            <a:avLst/>
          </a:prstGeom>
          <a:noFill/>
          <a:ln w="19050">
            <a:solidFill>
              <a:srgbClr val="3A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666875"/>
            <a:ext cx="3514725" cy="3095625"/>
          </a:xfrm>
          <a:prstGeom prst="roundRect">
            <a:avLst>
              <a:gd name="adj" fmla="val 2363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00050" y="1666875"/>
            <a:ext cx="3514725" cy="95250"/>
          </a:xfrm>
          <a:prstGeom prst="rect">
            <a:avLst/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8650" y="1933575"/>
            <a:ext cx="171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28650" y="2219325"/>
            <a:ext cx="3057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Prove the signal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28650" y="2714625"/>
            <a:ext cx="3057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Identity, baseline, 2–3 pilot use cases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28650" y="3409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0100" y="3333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Event taxonomy MVP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8650" y="3790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0100" y="3714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Measurement baseline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28650" y="4171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0100" y="4095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[object Object]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2085975" y="5153025"/>
            <a:ext cx="133350" cy="133350"/>
          </a:xfrm>
          <a:prstGeom prst="roundRect">
            <a:avLst>
              <a:gd name="adj" fmla="val 54857"/>
            </a:avLst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43375" y="1666875"/>
            <a:ext cx="3514725" cy="3095625"/>
          </a:xfrm>
          <a:prstGeom prst="roundRect">
            <a:avLst>
              <a:gd name="adj" fmla="val 2363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43375" y="1666875"/>
            <a:ext cx="3514725" cy="95250"/>
          </a:xfrm>
          <a:prstGeom prst="rect">
            <a:avLst/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71975" y="1933575"/>
            <a:ext cx="171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371975" y="2219325"/>
            <a:ext cx="3057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the decisions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4371975" y="2714625"/>
            <a:ext cx="3057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models and activation paths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71975" y="3409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43425" y="3333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Next-best-action service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4371975" y="3790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3425" y="3714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CRM + in-product hooks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371975" y="4171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543425" y="4095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Always-on test engine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5829300" y="5153025"/>
            <a:ext cx="133350" cy="133350"/>
          </a:xfrm>
          <a:prstGeom prst="roundRect">
            <a:avLst>
              <a:gd name="adj" fmla="val 54857"/>
            </a:avLst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6700" y="1666875"/>
            <a:ext cx="3514725" cy="3095625"/>
          </a:xfrm>
          <a:prstGeom prst="roundRect">
            <a:avLst>
              <a:gd name="adj" fmla="val 2363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86700" y="1666875"/>
            <a:ext cx="3514725" cy="95250"/>
          </a:xfrm>
          <a:prstGeom prst="rect">
            <a:avLst/>
          </a:prstGeom>
          <a:solidFill>
            <a:srgbClr val="59A14F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15300" y="1933575"/>
            <a:ext cx="171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15300" y="2219325"/>
            <a:ext cx="30575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the system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8115300" y="2714625"/>
            <a:ext cx="30575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Cross-surface optimization at scale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8115300" y="3409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286750" y="3333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Budget via incrementality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8115300" y="3790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286750" y="3714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Capacity-aware offers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15300" y="4171950"/>
            <a:ext cx="66675" cy="66675"/>
          </a:xfrm>
          <a:prstGeom prst="roundRect">
            <a:avLst>
              <a:gd name="adj" fmla="val 109714"/>
            </a:avLst>
          </a:prstGeom>
          <a:solidFill>
            <a:srgbClr val="EAEAEA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286750" y="4095750"/>
            <a:ext cx="2886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Guarded automation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9572625" y="5153025"/>
            <a:ext cx="133350" cy="133350"/>
          </a:xfrm>
          <a:prstGeom prst="roundRect">
            <a:avLst>
              <a:gd name="adj" fmla="val 54857"/>
            </a:avLst>
          </a:prstGeom>
          <a:solidFill>
            <a:srgbClr val="59A14F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phase ends with a stop / scale gate owned by a commercial lead.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33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Build a decision fabric—not one-off models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9334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Reusable foundations let new use cases launch in weeks.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198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905000"/>
            <a:ext cx="2609850" cy="2047875"/>
          </a:xfrm>
          <a:prstGeom prst="roundRect">
            <a:avLst>
              <a:gd name="adj" fmla="val 3572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905000"/>
            <a:ext cx="2609850" cy="85725"/>
          </a:xfrm>
          <a:prstGeom prst="rect">
            <a:avLst/>
          </a:prstGeom>
          <a:solidFill>
            <a:srgbClr val="76B7B2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0550" y="2247900"/>
            <a:ext cx="2228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Signals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0550" y="2762250"/>
            <a:ext cx="2228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· CRM · support · billing · experiments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009900" y="2933700"/>
            <a:ext cx="190500" cy="9525"/>
          </a:xfrm>
          <a:prstGeom prst="line">
            <a:avLst/>
          </a:prstGeom>
          <a:noFill/>
          <a:ln w="25400">
            <a:solidFill>
              <a:srgbClr val="EAEA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00400" y="1905000"/>
            <a:ext cx="2609850" cy="2047875"/>
          </a:xfrm>
          <a:prstGeom prst="roundRect">
            <a:avLst>
              <a:gd name="adj" fmla="val 3572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1905000"/>
            <a:ext cx="2609850" cy="85725"/>
          </a:xfrm>
          <a:prstGeom prst="rect">
            <a:avLst/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90900" y="2247900"/>
            <a:ext cx="2228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Entities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90900" y="2762250"/>
            <a:ext cx="2228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Identity · catalog · consent · features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10250" y="2933700"/>
            <a:ext cx="190500" cy="9525"/>
          </a:xfrm>
          <a:prstGeom prst="line">
            <a:avLst/>
          </a:prstGeom>
          <a:noFill/>
          <a:ln w="25400">
            <a:solidFill>
              <a:srgbClr val="EAEA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000750" y="1905000"/>
            <a:ext cx="2609850" cy="2047875"/>
          </a:xfrm>
          <a:prstGeom prst="roundRect">
            <a:avLst>
              <a:gd name="adj" fmla="val 3572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00750" y="1905000"/>
            <a:ext cx="2609850" cy="85725"/>
          </a:xfrm>
          <a:prstGeom prst="rect">
            <a:avLst/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91250" y="2247900"/>
            <a:ext cx="2228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191250" y="2762250"/>
            <a:ext cx="2228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Propensity · recommend · optimize · guardrails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610600" y="2933700"/>
            <a:ext cx="190500" cy="9525"/>
          </a:xfrm>
          <a:prstGeom prst="line">
            <a:avLst/>
          </a:prstGeom>
          <a:noFill/>
          <a:ln w="25400">
            <a:solidFill>
              <a:srgbClr val="EAEA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01100" y="1905000"/>
            <a:ext cx="2609850" cy="2047875"/>
          </a:xfrm>
          <a:prstGeom prst="roundRect">
            <a:avLst>
              <a:gd name="adj" fmla="val 3572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801100" y="1905000"/>
            <a:ext cx="2609850" cy="85725"/>
          </a:xfrm>
          <a:prstGeom prst="rect">
            <a:avLst/>
          </a:prstGeom>
          <a:solidFill>
            <a:srgbClr val="59A14F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91600" y="2247900"/>
            <a:ext cx="2228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Learning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8991600" y="2762250"/>
            <a:ext cx="22288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holdouts · monitoring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00050" y="4476750"/>
            <a:ext cx="2667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NON-NEGOTIABLE CONTROLS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00050" y="4810125"/>
            <a:ext cx="2571750" cy="457200"/>
          </a:xfrm>
          <a:prstGeom prst="roundRect">
            <a:avLst>
              <a:gd name="adj" fmla="val 16000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3400" y="4953000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Consent enforcement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162300" y="4810125"/>
            <a:ext cx="2571750" cy="457200"/>
          </a:xfrm>
          <a:prstGeom prst="roundRect">
            <a:avLst>
              <a:gd name="adj" fmla="val 16000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5650" y="4953000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monitoring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924550" y="4810125"/>
            <a:ext cx="2571750" cy="457200"/>
          </a:xfrm>
          <a:prstGeom prst="roundRect">
            <a:avLst>
              <a:gd name="adj" fmla="val 16000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57900" y="4953000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 override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686800" y="4810125"/>
            <a:ext cx="2571750" cy="457200"/>
          </a:xfrm>
          <a:prstGeom prst="roundRect">
            <a:avLst>
              <a:gd name="adj" fmla="val 16000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0150" y="4953000"/>
            <a:ext cx="23336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Incrementality ledger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00050" y="561975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Principle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809750" y="558165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Services return an action, confidence, rationale and measurement plan—not just a score.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33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Measure incremental value, not vanity engagement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9334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use case needs a test design before production.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198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0050" y="1619250"/>
            <a:ext cx="6286500" cy="685800"/>
          </a:xfrm>
          <a:prstGeom prst="roundRect">
            <a:avLst>
              <a:gd name="adj" fmla="val 10667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00050" y="1619250"/>
            <a:ext cx="114300" cy="685800"/>
          </a:xfrm>
          <a:prstGeom prst="rect">
            <a:avLst/>
          </a:prstGeom>
          <a:solidFill>
            <a:srgbClr val="76B7B2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04850" y="182880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81250" y="1809750"/>
            <a:ext cx="400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Relevance · trust · retention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00050" y="2533650"/>
            <a:ext cx="6286500" cy="685800"/>
          </a:xfrm>
          <a:prstGeom prst="roundRect">
            <a:avLst>
              <a:gd name="adj" fmla="val 10667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00050" y="2533650"/>
            <a:ext cx="114300" cy="685800"/>
          </a:xfrm>
          <a:prstGeom prst="rect">
            <a:avLst/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04850" y="274320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81250" y="2724150"/>
            <a:ext cx="400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· conversion · time-to-value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00050" y="3448050"/>
            <a:ext cx="6286500" cy="685800"/>
          </a:xfrm>
          <a:prstGeom prst="roundRect">
            <a:avLst>
              <a:gd name="adj" fmla="val 10667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" y="3448050"/>
            <a:ext cx="114300" cy="685800"/>
          </a:xfrm>
          <a:prstGeom prst="rect">
            <a:avLst/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850" y="365760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COMMERCIAL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81250" y="3638550"/>
            <a:ext cx="400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Incremental revenue · margin · LTV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7124700" y="1619250"/>
            <a:ext cx="4286250" cy="3619500"/>
          </a:xfrm>
          <a:prstGeom prst="roundRect">
            <a:avLst>
              <a:gd name="adj" fmla="val 2021"/>
            </a:avLst>
          </a:prstGeom>
          <a:solidFill>
            <a:srgbClr val="1A1A2E"/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48550" y="1885950"/>
            <a:ext cx="2667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TEST-AND-LEARN CADENCE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48550" y="2381250"/>
            <a:ext cx="304800" cy="3048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48550" y="2438400"/>
            <a:ext cx="30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934325" y="2419350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Define decision &amp; population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7448550" y="2962275"/>
            <a:ext cx="304800" cy="3048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48550" y="3019425"/>
            <a:ext cx="30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934325" y="3000375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Choose control / holdout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448550" y="3543300"/>
            <a:ext cx="304800" cy="3048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48550" y="3600450"/>
            <a:ext cx="30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934325" y="3581400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Monitor incrementality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448550" y="4124325"/>
            <a:ext cx="304800" cy="304800"/>
          </a:xfrm>
          <a:prstGeom prst="roundRect">
            <a:avLst>
              <a:gd name="adj" fmla="val 24000"/>
            </a:avLst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48550" y="4181475"/>
            <a:ext cx="3048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934325" y="4162425"/>
            <a:ext cx="31432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Promote, tune or stop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00050" y="57150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Watchout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571625" y="56769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Avoid optimizing click-through when the real decision is retention or margin.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333375"/>
            <a:ext cx="1066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a 90-day launch team that can ship and learn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00050" y="9334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accountability close to commercial owners.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1334750" y="64198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0050" y="19526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514600" y="20574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0050" y="26003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Growth / CRM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514600" y="27051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050" y="32480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514600" y="33528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0050" y="38957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engineering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14600" y="40005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0050" y="4543425"/>
            <a:ext cx="2095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 / measure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514600" y="4648200"/>
            <a:ext cx="8867775" cy="9525"/>
          </a:xfrm>
          <a:prstGeom prst="line">
            <a:avLst/>
          </a:prstGeom>
          <a:noFill/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24150" y="1571625"/>
            <a:ext cx="2381250" cy="3619500"/>
          </a:xfrm>
          <a:prstGeom prst="roundRect">
            <a:avLst>
              <a:gd name="adj" fmla="val 3072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24150" y="1571625"/>
            <a:ext cx="2381250" cy="400050"/>
          </a:xfrm>
          <a:prstGeom prst="rect">
            <a:avLst/>
          </a:prstGeom>
          <a:solidFill>
            <a:srgbClr val="76B7B2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876550" y="1666875"/>
            <a:ext cx="2076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334000" y="1571625"/>
            <a:ext cx="2381250" cy="3619500"/>
          </a:xfrm>
          <a:prstGeom prst="roundRect">
            <a:avLst>
              <a:gd name="adj" fmla="val 3072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34000" y="1571625"/>
            <a:ext cx="2381250" cy="400050"/>
          </a:xfrm>
          <a:prstGeom prst="rect">
            <a:avLst/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0" y="1666875"/>
            <a:ext cx="2076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943850" y="1571625"/>
            <a:ext cx="3143250" cy="3619500"/>
          </a:xfrm>
          <a:prstGeom prst="roundRect">
            <a:avLst>
              <a:gd name="adj" fmla="val 2327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43850" y="1571625"/>
            <a:ext cx="3143250" cy="400050"/>
          </a:xfrm>
          <a:prstGeom prst="rect">
            <a:avLst/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96250" y="1666875"/>
            <a:ext cx="28384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876550" y="2133600"/>
            <a:ext cx="2076450" cy="361950"/>
          </a:xfrm>
          <a:prstGeom prst="roundRect">
            <a:avLst>
              <a:gd name="adj" fmla="val 20211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0850" y="22098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Pilot charter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876550" y="2781300"/>
            <a:ext cx="2076450" cy="361950"/>
          </a:xfrm>
          <a:prstGeom prst="roundRect">
            <a:avLst>
              <a:gd name="adj" fmla="val 20211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990850" y="28575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Activation design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486400" y="3429000"/>
            <a:ext cx="2076450" cy="361950"/>
          </a:xfrm>
          <a:prstGeom prst="roundRect">
            <a:avLst>
              <a:gd name="adj" fmla="val 20211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00700" y="35052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rules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0" y="4076700"/>
            <a:ext cx="2076450" cy="361950"/>
          </a:xfrm>
          <a:prstGeom prst="roundRect">
            <a:avLst>
              <a:gd name="adj" fmla="val 20211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00700" y="4152900"/>
            <a:ext cx="190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Feature set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96250" y="4724400"/>
            <a:ext cx="2838450" cy="361950"/>
          </a:xfrm>
          <a:prstGeom prst="roundRect">
            <a:avLst>
              <a:gd name="adj" fmla="val 20211"/>
            </a:avLst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10550" y="4800600"/>
            <a:ext cx="2667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Readout + scale gate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00050" y="571500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Launch criterion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809750" y="5676900"/>
            <a:ext cx="914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commercial owner, a frontline action, a measurement design and a clear stop / scale rule.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00050" y="1238250"/>
            <a:ext cx="9525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Invest in a decision system—
not isolated dashboards.
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00050" y="2952750"/>
            <a:ext cx="857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connected use cases that move retention and learning speed.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00050" y="4000500"/>
            <a:ext cx="3238500" cy="1143000"/>
          </a:xfrm>
          <a:prstGeom prst="roundRect">
            <a:avLst>
              <a:gd name="adj" fmla="val 6400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00050" y="4000500"/>
            <a:ext cx="3238500" cy="76200"/>
          </a:xfrm>
          <a:prstGeom prst="rect">
            <a:avLst/>
          </a:prstGeom>
          <a:solidFill>
            <a:srgbClr val="76B7B2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550" y="4286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Choose pilots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0550" y="4667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High-frequency decisions with clear owners.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962400" y="4000500"/>
            <a:ext cx="3238500" cy="1143000"/>
          </a:xfrm>
          <a:prstGeom prst="roundRect">
            <a:avLst>
              <a:gd name="adj" fmla="val 6400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962400" y="4000500"/>
            <a:ext cx="323850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52900" y="4286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152900" y="4667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and margin-aware readouts.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524750" y="4000500"/>
            <a:ext cx="3238500" cy="1143000"/>
          </a:xfrm>
          <a:prstGeom prst="roundRect">
            <a:avLst>
              <a:gd name="adj" fmla="val 6400"/>
            </a:avLst>
          </a:prstGeom>
          <a:solidFill>
            <a:srgbClr val="3A3A5C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24750" y="4000500"/>
            <a:ext cx="3238500" cy="76200"/>
          </a:xfrm>
          <a:prstGeom prst="rect">
            <a:avLst/>
          </a:prstGeom>
          <a:solidFill>
            <a:srgbClr val="E94560"/>
          </a:solidFill>
          <a:ln w="12700">
            <a:solidFill>
              <a:srgbClr val="1A1A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15250" y="42862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715250" y="46672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identity, features and activation.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pick the first two decisions.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00050" y="6419850"/>
            <a:ext cx="857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  ·  DATA ROADMAP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Product data roadmap</dc:title>
  <dc:subject>PptxGenJS Presentation</dc:subject>
  <dc:creator>ppt-gen</dc:creator>
  <cp:lastModifiedBy>ppt-gen</cp:lastModifiedBy>
  <cp:revision>1</cp:revision>
  <dcterms:created xsi:type="dcterms:W3CDTF">2026-08-03T17:38:36Z</dcterms:created>
  <dcterms:modified xsi:type="dcterms:W3CDTF">2026-08-03T17:38:36Z</dcterms:modified>
</cp:coreProperties>
</file>