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3810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TEMPLATE PACKS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00050" y="83820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Smart visuals for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consulting &amp; science</a:t>
            </a:r>
            <a:endParaRPr lang="en-US" sz="4000" dirty="0"/>
          </a:p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00050" y="1924050"/>
            <a:ext cx="685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Standardized mjs layouts — fill YAML, get presentation-grade shapes PowerPoint SmartArt rarely nails.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400050" y="2609850"/>
            <a:ext cx="1238250" cy="28575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76250" y="2667000"/>
            <a:ext cx="1085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GALLERY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096250" y="381000"/>
            <a:ext cx="3333750" cy="5715000"/>
          </a:xfrm>
          <a:prstGeom prst="roundRect">
            <a:avLst>
              <a:gd name="adj" fmla="val 274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24850" y="838200"/>
            <a:ext cx="2876550" cy="1533525"/>
          </a:xfrm>
          <a:prstGeom prst="roundRect">
            <a:avLst>
              <a:gd name="adj" fmla="val 5963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496300" y="971550"/>
            <a:ext cx="2533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CONSULTING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496300" y="1200150"/>
            <a:ext cx="25336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chevron · stair · venn · raci · matrix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324850" y="2486025"/>
            <a:ext cx="2876550" cy="1533525"/>
          </a:xfrm>
          <a:prstGeom prst="roundRect">
            <a:avLst>
              <a:gd name="adj" fmla="val 5963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96300" y="2619375"/>
            <a:ext cx="2533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SCIENTIFIC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496300" y="2847975"/>
            <a:ext cx="25336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equation · hierarchy · big-number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324850" y="4133850"/>
            <a:ext cx="2876550" cy="1533525"/>
          </a:xfrm>
          <a:prstGeom prst="roundRect">
            <a:avLst>
              <a:gd name="adj" fmla="val 5963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496300" y="4267200"/>
            <a:ext cx="2533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CHROME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496300" y="4495800"/>
            <a:ext cx="25336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logo · footer · classification tag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2381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SECTION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1524000" y="219075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Consulting pack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1524000" y="3381375"/>
            <a:ext cx="9144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Argument, ownership, and action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Process (chevron)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0050" y="2409825"/>
            <a:ext cx="2762250" cy="800100"/>
          </a:xfrm>
          <a:prstGeom prst="chevron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6750" y="2409825"/>
            <a:ext cx="20764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Discover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00050" y="3362325"/>
            <a:ext cx="276225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00050" y="3362325"/>
            <a:ext cx="47625" cy="13335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3400" y="3457575"/>
            <a:ext cx="25336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Frame the problem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276600" y="2409825"/>
            <a:ext cx="2762250" cy="800100"/>
          </a:xfrm>
          <a:prstGeom prst="chevron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43300" y="2409825"/>
            <a:ext cx="20764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Diagnose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276600" y="3362325"/>
            <a:ext cx="276225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76600" y="3362325"/>
            <a:ext cx="47625" cy="13335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409950" y="3457575"/>
            <a:ext cx="25336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Drivers &amp; evidence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153150" y="2409825"/>
            <a:ext cx="2762250" cy="800100"/>
          </a:xfrm>
          <a:prstGeom prst="chevron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19850" y="2409825"/>
            <a:ext cx="20764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53150" y="3362325"/>
            <a:ext cx="276225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153150" y="3362325"/>
            <a:ext cx="47625" cy="13335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86500" y="3457575"/>
            <a:ext cx="25336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Options &amp; tradeoffs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9029700" y="2409825"/>
            <a:ext cx="2762250" cy="800100"/>
          </a:xfrm>
          <a:prstGeom prst="chevron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296400" y="2409825"/>
            <a:ext cx="20764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Deliver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9029700" y="3362325"/>
            <a:ext cx="276225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029700" y="3362325"/>
            <a:ext cx="47625" cy="13335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163050" y="3457575"/>
            <a:ext cx="25336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Pilot → scale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Capability maturity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0050" y="3686175"/>
            <a:ext cx="2743200" cy="2638425"/>
          </a:xfrm>
          <a:prstGeom prst="roundRect">
            <a:avLst>
              <a:gd name="adj" fmla="val 346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0050" y="3686175"/>
            <a:ext cx="274320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3400" y="3838575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533400" y="4124325"/>
            <a:ext cx="247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 hoc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33400" y="4543425"/>
            <a:ext cx="247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Heroics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76600" y="2733675"/>
            <a:ext cx="2743200" cy="3590925"/>
          </a:xfrm>
          <a:prstGeom prst="roundRect">
            <a:avLst>
              <a:gd name="adj" fmla="val 333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76600" y="2733675"/>
            <a:ext cx="2743200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9950" y="2886075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409950" y="3171825"/>
            <a:ext cx="247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Repeatable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3409950" y="3590925"/>
            <a:ext cx="247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Playbooks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53150" y="1771650"/>
            <a:ext cx="2743200" cy="4552950"/>
          </a:xfrm>
          <a:prstGeom prst="roundRect">
            <a:avLst>
              <a:gd name="adj" fmla="val 333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153150" y="1771650"/>
            <a:ext cx="2743200" cy="762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86500" y="19240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286500" y="2209800"/>
            <a:ext cx="247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Managed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286500" y="2628900"/>
            <a:ext cx="247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Metrics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29700" y="819150"/>
            <a:ext cx="2743200" cy="5505450"/>
          </a:xfrm>
          <a:prstGeom prst="roundRect">
            <a:avLst>
              <a:gd name="adj" fmla="val 333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029700" y="819150"/>
            <a:ext cx="2743200" cy="762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163050" y="9715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9163050" y="1257300"/>
            <a:ext cx="247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Optimized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9163050" y="1676400"/>
            <a:ext cx="247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Feedback loops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Where product and GTM must overlap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90987" y="1857375"/>
            <a:ext cx="2476500" cy="2476500"/>
          </a:xfrm>
          <a:prstGeom prst="ellipse">
            <a:avLst/>
          </a:prstGeom>
          <a:solidFill>
            <a:srgbClr val="4E79A7">
              <a:alpha val="45000"/>
            </a:srgbClr>
          </a:solidFill>
          <a:ln w="19050">
            <a:solidFill>
              <a:srgbClr val="4E79A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24513" y="1857375"/>
            <a:ext cx="2476500" cy="2476500"/>
          </a:xfrm>
          <a:prstGeom prst="ellipse">
            <a:avLst/>
          </a:prstGeom>
          <a:solidFill>
            <a:srgbClr val="E94560">
              <a:alpha val="45000"/>
            </a:srgbClr>
          </a:solidFill>
          <a:ln w="19050">
            <a:solidFill>
              <a:srgbClr val="E9456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243388" y="2552700"/>
            <a:ext cx="1038225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910388" y="2552700"/>
            <a:ext cx="1038225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GTM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553075" y="2695575"/>
            <a:ext cx="1085850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Retention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00050" y="5076825"/>
            <a:ext cx="3724275" cy="742950"/>
          </a:xfrm>
          <a:prstGeom prst="roundRect">
            <a:avLst>
              <a:gd name="adj" fmla="val 1230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00050" y="5076825"/>
            <a:ext cx="47625" cy="7429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3400" y="5172075"/>
            <a:ext cx="349567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Surface + reliability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238625" y="5076825"/>
            <a:ext cx="3724275" cy="742950"/>
          </a:xfrm>
          <a:prstGeom prst="roundRect">
            <a:avLst>
              <a:gd name="adj" fmla="val 1230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38625" y="5076825"/>
            <a:ext cx="47625" cy="74295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71975" y="5172075"/>
            <a:ext cx="349567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Habit loops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8077200" y="5076825"/>
            <a:ext cx="3724275" cy="742950"/>
          </a:xfrm>
          <a:prstGeom prst="roundRect">
            <a:avLst>
              <a:gd name="adj" fmla="val 1230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77200" y="5076825"/>
            <a:ext cx="47625" cy="74295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10550" y="5172075"/>
            <a:ext cx="349567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Narrative + channels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Launch ownership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143250" y="2228850"/>
            <a:ext cx="2028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324475" y="2228850"/>
            <a:ext cx="2028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ENG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505700" y="2228850"/>
            <a:ext cx="2028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686925" y="2228850"/>
            <a:ext cx="2028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GTM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0050" y="2590800"/>
            <a:ext cx="11391900" cy="43815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3400" y="2590800"/>
            <a:ext cx="24384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PRD freeze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067050" y="25908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248275" y="25908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429500" y="25908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9610725" y="25908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00050" y="3086100"/>
            <a:ext cx="11391900" cy="438150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3400" y="3086100"/>
            <a:ext cx="24384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Architecture ADR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067050" y="30861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248275" y="30861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429500" y="30861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9610725" y="30861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400050" y="3581400"/>
            <a:ext cx="11391900" cy="43815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3400" y="3581400"/>
            <a:ext cx="24384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Beta cohort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067050" y="35814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248275" y="35814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7429500" y="35814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9610725" y="35814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400050" y="4076700"/>
            <a:ext cx="11391900" cy="438150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33400" y="4076700"/>
            <a:ext cx="24384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Pricing page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3067050" y="40767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248275" y="40767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429500" y="40767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9610725" y="40767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400050" y="4667250"/>
            <a:ext cx="11391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Responsible · A Accountable · C Consulted · I Informed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Prioritize the portfolio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543050" y="895350"/>
            <a:ext cx="4933950" cy="2390775"/>
          </a:xfrm>
          <a:prstGeom prst="roundRect">
            <a:avLst>
              <a:gd name="adj" fmla="val 382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72250" y="895350"/>
            <a:ext cx="4933950" cy="2390775"/>
          </a:xfrm>
          <a:prstGeom prst="roundRect">
            <a:avLst>
              <a:gd name="adj" fmla="val 382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43050" y="3381375"/>
            <a:ext cx="4933950" cy="2390775"/>
          </a:xfrm>
          <a:prstGeom prst="roundRect">
            <a:avLst>
              <a:gd name="adj" fmla="val 382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72250" y="3381375"/>
            <a:ext cx="4933950" cy="2390775"/>
          </a:xfrm>
          <a:prstGeom prst="roundRect">
            <a:avLst>
              <a:gd name="adj" fmla="val 382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00050" y="895350"/>
            <a:ext cx="1047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Impact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543050" y="5924550"/>
            <a:ext cx="9963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Ease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695450" y="1028700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BIG BETS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724650" y="1028700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QUICK WINS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695450" y="3514725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IGNORE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24650" y="3514725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FILL-INS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695450" y="131445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809750" y="131445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Platform rewrite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724650" y="131445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838950" y="131445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Onboarding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1695450" y="3800475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809750" y="3800475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Vanity dashboards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724650" y="3800475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38950" y="3800475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Dark mode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2381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SECTION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1524000" y="219075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Scientific pack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1524000" y="3381375"/>
            <a:ext cx="9144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Structure, method, and results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Exponential smoothing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0050" y="2305050"/>
            <a:ext cx="11391900" cy="2495550"/>
          </a:xfrm>
          <a:prstGeom prst="roundRect">
            <a:avLst>
              <a:gd name="adj" fmla="val 366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9" name="Image 1" descr="/Users/dpadmana/projects/ppt-gen/assets/math/math-08f4b5287431d4d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6625" y="2609850"/>
            <a:ext cx="5238750" cy="12001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57250" y="4114800"/>
            <a:ext cx="10477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Learning rate α trades responsiveness against noise in the experiment cadence.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System decomposition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45458" y="857250"/>
            <a:ext cx="4101084" cy="838200"/>
          </a:xfrm>
          <a:prstGeom prst="roundRect">
            <a:avLst>
              <a:gd name="adj" fmla="val 1090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45458" y="857250"/>
            <a:ext cx="57150" cy="838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216908" y="1009650"/>
            <a:ext cx="37581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INFERENCE STACK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16908" y="1276350"/>
            <a:ext cx="3758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Serving path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081713" y="169545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233613" y="2024062"/>
            <a:ext cx="7715250" cy="28575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19325" y="203835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76950" y="203835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934575" y="203835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" y="2381250"/>
            <a:ext cx="3667125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00050" y="2381250"/>
            <a:ext cx="57150" cy="10477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1500" y="253365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ROUTER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71500" y="2800350"/>
            <a:ext cx="3324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Policy + fallback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257675" y="2381250"/>
            <a:ext cx="3667125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57675" y="2381250"/>
            <a:ext cx="57150" cy="104775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429125" y="253365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EXPERTS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429125" y="2800350"/>
            <a:ext cx="3324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MoE shards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115300" y="2381250"/>
            <a:ext cx="3667125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115300" y="2381250"/>
            <a:ext cx="57150" cy="104775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286750" y="253365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RUNTIME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286750" y="2800350"/>
            <a:ext cx="3324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Batching + KV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Result snapshot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0050" y="2124075"/>
            <a:ext cx="3638550" cy="2857500"/>
          </a:xfrm>
          <a:prstGeom prst="roundRect">
            <a:avLst>
              <a:gd name="adj" fmla="val 32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0050" y="2124075"/>
            <a:ext cx="363855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0550" y="2371725"/>
            <a:ext cx="32575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0550" y="2771775"/>
            <a:ext cx="3257550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−38%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590550" y="4429125"/>
            <a:ext cx="325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p50 vs baseline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267200" y="2124075"/>
            <a:ext cx="3638550" cy="2857500"/>
          </a:xfrm>
          <a:prstGeom prst="roundRect">
            <a:avLst>
              <a:gd name="adj" fmla="val 32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67200" y="2124075"/>
            <a:ext cx="3638550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57700" y="2371725"/>
            <a:ext cx="32575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QUALITY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457700" y="2771775"/>
            <a:ext cx="3257550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+0.12</a:t>
            </a:r>
            <a:endParaRPr lang="en-US" sz="4000" dirty="0"/>
          </a:p>
        </p:txBody>
      </p:sp>
      <p:sp>
        <p:nvSpPr>
          <p:cNvPr id="17" name="Text 14"/>
          <p:cNvSpPr/>
          <p:nvPr/>
        </p:nvSpPr>
        <p:spPr>
          <a:xfrm>
            <a:off x="4457700" y="4429125"/>
            <a:ext cx="325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Win rate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134350" y="2124075"/>
            <a:ext cx="3638550" cy="2857500"/>
          </a:xfrm>
          <a:prstGeom prst="roundRect">
            <a:avLst>
              <a:gd name="adj" fmla="val 32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34350" y="2124075"/>
            <a:ext cx="3638550" cy="762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324850" y="2371725"/>
            <a:ext cx="32575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COST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24850" y="2771775"/>
            <a:ext cx="3257550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0.7×</a:t>
            </a:r>
            <a:endParaRPr lang="en-US" sz="4000" dirty="0"/>
          </a:p>
        </p:txBody>
      </p:sp>
      <p:sp>
        <p:nvSpPr>
          <p:cNvPr id="22" name="Text 19"/>
          <p:cNvSpPr/>
          <p:nvPr/>
        </p:nvSpPr>
        <p:spPr>
          <a:xfrm>
            <a:off x="8324850" y="4429125"/>
            <a:ext cx="325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 1k tokens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Compose — two-up (columns)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00050" y="819150"/>
            <a:ext cx="5619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OUTCOMES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0050" y="2247900"/>
            <a:ext cx="2695575" cy="2857500"/>
          </a:xfrm>
          <a:prstGeom prst="roundRect">
            <a:avLst>
              <a:gd name="adj" fmla="val 3392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00050" y="2247900"/>
            <a:ext cx="2695575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0550" y="2495550"/>
            <a:ext cx="2314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90550" y="2895600"/>
            <a:ext cx="2314575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−38%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590550" y="4552950"/>
            <a:ext cx="23145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p50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324225" y="2247900"/>
            <a:ext cx="2695575" cy="2857500"/>
          </a:xfrm>
          <a:prstGeom prst="roundRect">
            <a:avLst>
              <a:gd name="adj" fmla="val 3392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24225" y="2247900"/>
            <a:ext cx="2695575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4725" y="2495550"/>
            <a:ext cx="2314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QUALITY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514725" y="2895600"/>
            <a:ext cx="2314575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+0.12</a:t>
            </a:r>
            <a:endParaRPr lang="en-US" sz="4000" dirty="0"/>
          </a:p>
        </p:txBody>
      </p:sp>
      <p:sp>
        <p:nvSpPr>
          <p:cNvPr id="18" name="Text 15"/>
          <p:cNvSpPr/>
          <p:nvPr/>
        </p:nvSpPr>
        <p:spPr>
          <a:xfrm>
            <a:off x="3514725" y="4552950"/>
            <a:ext cx="23145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Win rate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172200" y="819150"/>
            <a:ext cx="5619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PATH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172200" y="2533650"/>
            <a:ext cx="1790700" cy="800100"/>
          </a:xfrm>
          <a:prstGeom prst="chevron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38900" y="2533650"/>
            <a:ext cx="11049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Frame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172200" y="3486150"/>
            <a:ext cx="179070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72200" y="3486150"/>
            <a:ext cx="47625" cy="13335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05550" y="3581400"/>
            <a:ext cx="15621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Frame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8077200" y="2533650"/>
            <a:ext cx="1790700" cy="800100"/>
          </a:xfrm>
          <a:prstGeom prst="chevron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343900" y="2533650"/>
            <a:ext cx="11049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Prove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8077200" y="3486150"/>
            <a:ext cx="179070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077200" y="3486150"/>
            <a:ext cx="47625" cy="13335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210550" y="3581400"/>
            <a:ext cx="15621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Prove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9982200" y="2533650"/>
            <a:ext cx="1790700" cy="800100"/>
          </a:xfrm>
          <a:prstGeom prst="chevron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248900" y="2533650"/>
            <a:ext cx="11049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9982200" y="3486150"/>
            <a:ext cx="179070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982200" y="3486150"/>
            <a:ext cx="47625" cy="13335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115550" y="3581400"/>
            <a:ext cx="15621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Compose — stacked (rows)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00050" y="819150"/>
            <a:ext cx="11391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PORTFOLIO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543050" y="1143000"/>
            <a:ext cx="4933950" cy="904875"/>
          </a:xfrm>
          <a:prstGeom prst="roundRect">
            <a:avLst>
              <a:gd name="adj" fmla="val 1010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72250" y="1143000"/>
            <a:ext cx="4933950" cy="904875"/>
          </a:xfrm>
          <a:prstGeom prst="roundRect">
            <a:avLst>
              <a:gd name="adj" fmla="val 1010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43050" y="2143125"/>
            <a:ext cx="4933950" cy="904875"/>
          </a:xfrm>
          <a:prstGeom prst="roundRect">
            <a:avLst>
              <a:gd name="adj" fmla="val 1010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72250" y="2143125"/>
            <a:ext cx="4933950" cy="904875"/>
          </a:xfrm>
          <a:prstGeom prst="roundRect">
            <a:avLst>
              <a:gd name="adj" fmla="val 1010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00050" y="1143000"/>
            <a:ext cx="1047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Impact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543050" y="3200400"/>
            <a:ext cx="9963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Ease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695450" y="131445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809750" y="131445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Rewrite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724650" y="131445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38950" y="131445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Onboarding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00050" y="3543300"/>
            <a:ext cx="11391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OWNERS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143250" y="4210050"/>
            <a:ext cx="42100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PM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505700" y="4210050"/>
            <a:ext cx="42100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ENG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00050" y="4572000"/>
            <a:ext cx="11391900" cy="43815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33400" y="4572000"/>
            <a:ext cx="24384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Spec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067050" y="4572000"/>
            <a:ext cx="43624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7429500" y="4572000"/>
            <a:ext cx="43624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400050" y="5067300"/>
            <a:ext cx="11391900" cy="438150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33400" y="5067300"/>
            <a:ext cx="24384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067050" y="5067300"/>
            <a:ext cx="43624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429500" y="5067300"/>
            <a:ext cx="43624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400050" y="5657850"/>
            <a:ext cx="11391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Responsible · A Accountable · C Consulted · I Informed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Compose — main + side stack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00050" y="819150"/>
            <a:ext cx="66008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OVERLAP STORY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885950" y="2105025"/>
            <a:ext cx="2238375" cy="2238375"/>
          </a:xfrm>
          <a:prstGeom prst="ellipse">
            <a:avLst/>
          </a:prstGeom>
          <a:solidFill>
            <a:srgbClr val="4E79A7">
              <a:alpha val="45000"/>
            </a:srgbClr>
          </a:solidFill>
          <a:ln w="19050">
            <a:solidFill>
              <a:srgbClr val="4E79A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276600" y="2105025"/>
            <a:ext cx="2238375" cy="2238375"/>
          </a:xfrm>
          <a:prstGeom prst="ellipse">
            <a:avLst/>
          </a:prstGeom>
          <a:solidFill>
            <a:srgbClr val="E94560">
              <a:alpha val="45000"/>
            </a:srgbClr>
          </a:solidFill>
          <a:ln w="19050">
            <a:solidFill>
              <a:srgbClr val="E945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019300" y="2733675"/>
            <a:ext cx="94297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438650" y="2733675"/>
            <a:ext cx="94297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GTM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3205163" y="2867025"/>
            <a:ext cx="981075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Retention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00050" y="5200650"/>
            <a:ext cx="2124075" cy="742950"/>
          </a:xfrm>
          <a:prstGeom prst="roundRect">
            <a:avLst>
              <a:gd name="adj" fmla="val 1230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" y="5200650"/>
            <a:ext cx="47625" cy="7429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33400" y="5295900"/>
            <a:ext cx="189547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Reliability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2638425" y="5200650"/>
            <a:ext cx="2124075" cy="742950"/>
          </a:xfrm>
          <a:prstGeom prst="roundRect">
            <a:avLst>
              <a:gd name="adj" fmla="val 1230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638425" y="5200650"/>
            <a:ext cx="47625" cy="74295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771775" y="5295900"/>
            <a:ext cx="189547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Habit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876800" y="5200650"/>
            <a:ext cx="2124075" cy="742950"/>
          </a:xfrm>
          <a:prstGeom prst="roundRect">
            <a:avLst>
              <a:gd name="adj" fmla="val 1230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876800" y="5200650"/>
            <a:ext cx="47625" cy="74295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010150" y="5295900"/>
            <a:ext cx="189547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Narrative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153275" y="819150"/>
            <a:ext cx="46386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153275" y="1143000"/>
            <a:ext cx="4638675" cy="2343150"/>
          </a:xfrm>
          <a:prstGeom prst="roundRect">
            <a:avLst>
              <a:gd name="adj" fmla="val 3902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153275" y="1143000"/>
            <a:ext cx="4638675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343775" y="1390650"/>
            <a:ext cx="42576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NPS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343775" y="1790700"/>
            <a:ext cx="4257675" cy="1009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+12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7343775" y="2933700"/>
            <a:ext cx="42576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Trailing 90d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153275" y="3543300"/>
            <a:ext cx="46386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153275" y="3752850"/>
            <a:ext cx="114300" cy="257175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553325" y="4095750"/>
            <a:ext cx="3876675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Fund the habit-loop bet; pause vanity dashboards.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00050" y="1238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Author in YAML. Render with ppt-gen.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00050" y="2952750"/>
            <a:ext cx="857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Pick a pack layout, fill items, regenerate — same visual language every time.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00050" y="5619750"/>
            <a:ext cx="1047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See README · Template packs (consulting / scientific / core) · compose for multi-panel slides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gallery — consulting &amp; scientific SmartArt</dc:title>
  <dc:subject>PptxGenJS Presentation</dc:subject>
  <dc:creator>ppt-gen</dc:creator>
  <cp:lastModifiedBy>ppt-gen</cp:lastModifiedBy>
  <cp:revision>1</cp:revision>
  <dcterms:created xsi:type="dcterms:W3CDTF">2026-09-20T11:01:37Z</dcterms:created>
  <dcterms:modified xsi:type="dcterms:W3CDTF">2026-09-20T11:01:37Z</dcterms:modified>
</cp:coreProperties>
</file>