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assets/brand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68100" y="266700"/>
            <a:ext cx="381000" cy="381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381000"/>
            <a:ext cx="3048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TEMPLATE PACKS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00050" y="838200"/>
            <a:ext cx="723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Smart visuals for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consulting &amp; science</a:t>
            </a:r>
            <a:endParaRPr lang="en-US" sz="4000" dirty="0"/>
          </a:p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00050" y="1924050"/>
            <a:ext cx="6858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Standardized mjs layouts — fill YAML, get presentation-grade shapes PowerPoint SmartArt rarely nails.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400050" y="2609850"/>
            <a:ext cx="1238250" cy="28575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76250" y="2667000"/>
            <a:ext cx="10858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GALLERY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8096250" y="381000"/>
            <a:ext cx="3333750" cy="5715000"/>
          </a:xfrm>
          <a:prstGeom prst="roundRect">
            <a:avLst>
              <a:gd name="adj" fmla="val 2743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324850" y="838200"/>
            <a:ext cx="2876550" cy="1533525"/>
          </a:xfrm>
          <a:prstGeom prst="roundRect">
            <a:avLst>
              <a:gd name="adj" fmla="val 5963"/>
            </a:avLst>
          </a:prstGeom>
          <a:solidFill>
            <a:srgbClr val="1F1F36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496300" y="971550"/>
            <a:ext cx="25336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CONSULTING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496300" y="1200150"/>
            <a:ext cx="25336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chevron · stair · venn · raci · matrix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8324850" y="2486025"/>
            <a:ext cx="2876550" cy="1533525"/>
          </a:xfrm>
          <a:prstGeom prst="roundRect">
            <a:avLst>
              <a:gd name="adj" fmla="val 5963"/>
            </a:avLst>
          </a:prstGeom>
          <a:solidFill>
            <a:srgbClr val="1F1F36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96300" y="2619375"/>
            <a:ext cx="25336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SCIENTIFIC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496300" y="2847975"/>
            <a:ext cx="25336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equation · hierarchy · big-number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8324850" y="4133850"/>
            <a:ext cx="2876550" cy="1533525"/>
          </a:xfrm>
          <a:prstGeom prst="roundRect">
            <a:avLst>
              <a:gd name="adj" fmla="val 5963"/>
            </a:avLst>
          </a:prstGeom>
          <a:solidFill>
            <a:srgbClr val="1F1F36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496300" y="4267200"/>
            <a:ext cx="25336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CHROME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496300" y="4495800"/>
            <a:ext cx="25336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logo · footer · classification tag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PPT-GEN  ·  TEMPLATE GALLERY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405438" y="6438900"/>
            <a:ext cx="1381125" cy="209550"/>
          </a:xfrm>
          <a:prstGeom prst="roundRect">
            <a:avLst>
              <a:gd name="adj" fmla="val 43636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405438" y="6457950"/>
            <a:ext cx="13811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INTERNAL ONLY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assets/brand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68100" y="266700"/>
            <a:ext cx="381000" cy="381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457200"/>
            <a:ext cx="23812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SECTION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1524000" y="2190750"/>
            <a:ext cx="9144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Consulting pack</a:t>
            </a:r>
            <a:endParaRPr lang="en-US" sz="4800" dirty="0"/>
          </a:p>
        </p:txBody>
      </p:sp>
      <p:sp>
        <p:nvSpPr>
          <p:cNvPr id="5" name="Text 2"/>
          <p:cNvSpPr/>
          <p:nvPr/>
        </p:nvSpPr>
        <p:spPr>
          <a:xfrm>
            <a:off x="1524000" y="3381375"/>
            <a:ext cx="9144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Argument, ownership, and action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PPT-GEN  ·  TEMPLATE GALLERY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405438" y="6438900"/>
            <a:ext cx="1381125" cy="209550"/>
          </a:xfrm>
          <a:prstGeom prst="roundRect">
            <a:avLst>
              <a:gd name="adj" fmla="val 43636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05438" y="6457950"/>
            <a:ext cx="13811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INTERNAL ONLY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assets/brand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68100" y="266700"/>
            <a:ext cx="381000" cy="381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77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Process (chevron)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PPT-GEN  ·  TEMPLATE GALLERY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5405438" y="6438900"/>
            <a:ext cx="1381125" cy="209550"/>
          </a:xfrm>
          <a:prstGeom prst="roundRect">
            <a:avLst>
              <a:gd name="adj" fmla="val 43636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05438" y="6457950"/>
            <a:ext cx="13811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INTERNAL ONLY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03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00050" y="2409825"/>
            <a:ext cx="2762250" cy="800100"/>
          </a:xfrm>
          <a:prstGeom prst="chevron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66750" y="2409825"/>
            <a:ext cx="207645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Discover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00050" y="3362325"/>
            <a:ext cx="2762250" cy="1333500"/>
          </a:xfrm>
          <a:prstGeom prst="roundRect">
            <a:avLst>
              <a:gd name="adj" fmla="val 685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00050" y="3362325"/>
            <a:ext cx="47625" cy="133350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33400" y="3457575"/>
            <a:ext cx="25336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Frame the problem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3276600" y="2409825"/>
            <a:ext cx="2762250" cy="800100"/>
          </a:xfrm>
          <a:prstGeom prst="chevron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543300" y="2409825"/>
            <a:ext cx="207645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Diagnose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276600" y="3362325"/>
            <a:ext cx="2762250" cy="1333500"/>
          </a:xfrm>
          <a:prstGeom prst="roundRect">
            <a:avLst>
              <a:gd name="adj" fmla="val 685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276600" y="3362325"/>
            <a:ext cx="47625" cy="1333500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409950" y="3457575"/>
            <a:ext cx="25336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Drivers &amp; evidence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153150" y="2409825"/>
            <a:ext cx="2762250" cy="800100"/>
          </a:xfrm>
          <a:prstGeom prst="chevron">
            <a:avLst/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19850" y="2409825"/>
            <a:ext cx="207645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Design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53150" y="3362325"/>
            <a:ext cx="2762250" cy="1333500"/>
          </a:xfrm>
          <a:prstGeom prst="roundRect">
            <a:avLst>
              <a:gd name="adj" fmla="val 685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153150" y="3362325"/>
            <a:ext cx="47625" cy="1333500"/>
          </a:xfrm>
          <a:prstGeom prst="rect">
            <a:avLst/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286500" y="3457575"/>
            <a:ext cx="25336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Options &amp; tradeoffs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9029700" y="2409825"/>
            <a:ext cx="2762250" cy="800100"/>
          </a:xfrm>
          <a:prstGeom prst="chevron">
            <a:avLst/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296400" y="2409825"/>
            <a:ext cx="207645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Deliver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9029700" y="3362325"/>
            <a:ext cx="2762250" cy="1333500"/>
          </a:xfrm>
          <a:prstGeom prst="roundRect">
            <a:avLst>
              <a:gd name="adj" fmla="val 685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9029700" y="3362325"/>
            <a:ext cx="47625" cy="1333500"/>
          </a:xfrm>
          <a:prstGeom prst="rect">
            <a:avLst/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163050" y="3457575"/>
            <a:ext cx="25336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Pilot → scale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assets/brand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68100" y="266700"/>
            <a:ext cx="381000" cy="381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77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Capability maturity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PPT-GEN  ·  TEMPLATE GALLERY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5405438" y="6438900"/>
            <a:ext cx="1381125" cy="209550"/>
          </a:xfrm>
          <a:prstGeom prst="roundRect">
            <a:avLst>
              <a:gd name="adj" fmla="val 43636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05438" y="6457950"/>
            <a:ext cx="13811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INTERNAL ONLY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04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00050" y="3686175"/>
            <a:ext cx="2743200" cy="2638425"/>
          </a:xfrm>
          <a:prstGeom prst="roundRect">
            <a:avLst>
              <a:gd name="adj" fmla="val 3466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00050" y="3686175"/>
            <a:ext cx="2743200" cy="7620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33400" y="3838575"/>
            <a:ext cx="3429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533400" y="4124325"/>
            <a:ext cx="2476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Ad hoc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533400" y="4543425"/>
            <a:ext cx="2476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Heroics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3276600" y="2733675"/>
            <a:ext cx="2743200" cy="3590925"/>
          </a:xfrm>
          <a:prstGeom prst="roundRect">
            <a:avLst>
              <a:gd name="adj" fmla="val 3333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276600" y="2733675"/>
            <a:ext cx="2743200" cy="76200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9950" y="2886075"/>
            <a:ext cx="3429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28E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3409950" y="3171825"/>
            <a:ext cx="2476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Repeatable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3409950" y="3590925"/>
            <a:ext cx="2476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Playbooks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153150" y="1771650"/>
            <a:ext cx="2743200" cy="4552950"/>
          </a:xfrm>
          <a:prstGeom prst="roundRect">
            <a:avLst>
              <a:gd name="adj" fmla="val 3333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153150" y="1771650"/>
            <a:ext cx="2743200" cy="76200"/>
          </a:xfrm>
          <a:prstGeom prst="rect">
            <a:avLst/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286500" y="1924050"/>
            <a:ext cx="3429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1575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6286500" y="2209800"/>
            <a:ext cx="2476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Managed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6286500" y="2628900"/>
            <a:ext cx="2476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Metrics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9029700" y="819150"/>
            <a:ext cx="2743200" cy="5505450"/>
          </a:xfrm>
          <a:prstGeom prst="roundRect">
            <a:avLst>
              <a:gd name="adj" fmla="val 3333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9029700" y="819150"/>
            <a:ext cx="2743200" cy="76200"/>
          </a:xfrm>
          <a:prstGeom prst="rect">
            <a:avLst/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9163050" y="971550"/>
            <a:ext cx="3429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76B7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9163050" y="1257300"/>
            <a:ext cx="2476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Optimized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9163050" y="1676400"/>
            <a:ext cx="2476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Feedback loops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assets/brand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68100" y="266700"/>
            <a:ext cx="381000" cy="381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77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Where product and GTM must overlap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PPT-GEN  ·  TEMPLATE GALLERY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5405438" y="6438900"/>
            <a:ext cx="1381125" cy="209550"/>
          </a:xfrm>
          <a:prstGeom prst="roundRect">
            <a:avLst>
              <a:gd name="adj" fmla="val 43636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05438" y="6457950"/>
            <a:ext cx="13811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INTERNAL ONLY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05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090987" y="1857375"/>
            <a:ext cx="2476500" cy="2476500"/>
          </a:xfrm>
          <a:prstGeom prst="ellipse">
            <a:avLst/>
          </a:prstGeom>
          <a:solidFill>
            <a:srgbClr val="4E79A7">
              <a:alpha val="45000"/>
            </a:srgbClr>
          </a:solidFill>
          <a:ln w="19050">
            <a:solidFill>
              <a:srgbClr val="4E79A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624513" y="1857375"/>
            <a:ext cx="2476500" cy="2476500"/>
          </a:xfrm>
          <a:prstGeom prst="ellipse">
            <a:avLst/>
          </a:prstGeom>
          <a:solidFill>
            <a:srgbClr val="E94560">
              <a:alpha val="45000"/>
            </a:srgbClr>
          </a:solidFill>
          <a:ln w="19050">
            <a:solidFill>
              <a:srgbClr val="E9456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243388" y="2552700"/>
            <a:ext cx="1038225" cy="895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910388" y="2552700"/>
            <a:ext cx="1038225" cy="895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GTM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5553075" y="2695575"/>
            <a:ext cx="1085850" cy="695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Retention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00050" y="5076825"/>
            <a:ext cx="3724275" cy="742950"/>
          </a:xfrm>
          <a:prstGeom prst="roundRect">
            <a:avLst>
              <a:gd name="adj" fmla="val 12308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00050" y="5076825"/>
            <a:ext cx="47625" cy="74295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33400" y="5172075"/>
            <a:ext cx="3495675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Surface + reliability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4238625" y="5076825"/>
            <a:ext cx="3724275" cy="742950"/>
          </a:xfrm>
          <a:prstGeom prst="roundRect">
            <a:avLst>
              <a:gd name="adj" fmla="val 12308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238625" y="5076825"/>
            <a:ext cx="47625" cy="74295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371975" y="5172075"/>
            <a:ext cx="3495675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Habit loops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8077200" y="5076825"/>
            <a:ext cx="3724275" cy="742950"/>
          </a:xfrm>
          <a:prstGeom prst="roundRect">
            <a:avLst>
              <a:gd name="adj" fmla="val 12308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077200" y="5076825"/>
            <a:ext cx="47625" cy="74295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10550" y="5172075"/>
            <a:ext cx="3495675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Narrative + channels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assets/brand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68100" y="266700"/>
            <a:ext cx="381000" cy="381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77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Launch ownership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PPT-GEN  ·  TEMPLATE GALLERY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5405438" y="6438900"/>
            <a:ext cx="1381125" cy="209550"/>
          </a:xfrm>
          <a:prstGeom prst="roundRect">
            <a:avLst>
              <a:gd name="adj" fmla="val 43636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05438" y="6457950"/>
            <a:ext cx="13811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INTERNAL ONLY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06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3143250" y="2228850"/>
            <a:ext cx="20288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324475" y="2228850"/>
            <a:ext cx="20288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ENG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505700" y="2228850"/>
            <a:ext cx="20288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DESIGN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686925" y="2228850"/>
            <a:ext cx="20288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GTM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00050" y="2590800"/>
            <a:ext cx="11391900" cy="438150"/>
          </a:xfrm>
          <a:prstGeom prst="rect">
            <a:avLst/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33400" y="2590800"/>
            <a:ext cx="24384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PRD freeze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3067050" y="2590800"/>
            <a:ext cx="2181225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5248275" y="2590800"/>
            <a:ext cx="2181225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6B7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7429500" y="2590800"/>
            <a:ext cx="2181225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6B7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9610725" y="2590800"/>
            <a:ext cx="2181225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·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400050" y="3086100"/>
            <a:ext cx="11391900" cy="438150"/>
          </a:xfrm>
          <a:prstGeom prst="rect">
            <a:avLst/>
          </a:prstGeom>
          <a:solidFill>
            <a:srgbClr val="1F1F36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33400" y="3086100"/>
            <a:ext cx="24384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Architecture ADR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3067050" y="3086100"/>
            <a:ext cx="2181225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6B7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248275" y="3086100"/>
            <a:ext cx="2181225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7429500" y="3086100"/>
            <a:ext cx="2181225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·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9610725" y="3086100"/>
            <a:ext cx="2181225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·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400050" y="3581400"/>
            <a:ext cx="11391900" cy="438150"/>
          </a:xfrm>
          <a:prstGeom prst="rect">
            <a:avLst/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33400" y="3581400"/>
            <a:ext cx="24384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Beta cohort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3067050" y="3581400"/>
            <a:ext cx="2181225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5248275" y="3581400"/>
            <a:ext cx="2181225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7429500" y="3581400"/>
            <a:ext cx="2181225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9610725" y="3581400"/>
            <a:ext cx="2181225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</a:t>
            </a:r>
            <a:endParaRPr lang="en-US" sz="1600" dirty="0"/>
          </a:p>
        </p:txBody>
      </p:sp>
      <p:sp>
        <p:nvSpPr>
          <p:cNvPr id="30" name="Shape 27"/>
          <p:cNvSpPr/>
          <p:nvPr/>
        </p:nvSpPr>
        <p:spPr>
          <a:xfrm>
            <a:off x="400050" y="4076700"/>
            <a:ext cx="11391900" cy="438150"/>
          </a:xfrm>
          <a:prstGeom prst="rect">
            <a:avLst/>
          </a:prstGeom>
          <a:solidFill>
            <a:srgbClr val="1F1F36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33400" y="4076700"/>
            <a:ext cx="24384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Pricing page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3067050" y="4076700"/>
            <a:ext cx="2181225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6B7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5248275" y="4076700"/>
            <a:ext cx="2181225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429500" y="4076700"/>
            <a:ext cx="2181225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</a:t>
            </a:r>
            <a:endParaRPr lang="en-US" sz="1600" dirty="0"/>
          </a:p>
        </p:txBody>
      </p:sp>
      <p:sp>
        <p:nvSpPr>
          <p:cNvPr id="35" name="Text 32"/>
          <p:cNvSpPr/>
          <p:nvPr/>
        </p:nvSpPr>
        <p:spPr>
          <a:xfrm>
            <a:off x="9610725" y="4076700"/>
            <a:ext cx="2181225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</a:t>
            </a:r>
            <a:endParaRPr lang="en-US" sz="1600" dirty="0"/>
          </a:p>
        </p:txBody>
      </p:sp>
      <p:sp>
        <p:nvSpPr>
          <p:cNvPr id="36" name="Text 33"/>
          <p:cNvSpPr/>
          <p:nvPr/>
        </p:nvSpPr>
        <p:spPr>
          <a:xfrm>
            <a:off x="400050" y="4667250"/>
            <a:ext cx="113919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 Responsible · A Accountable · C Consulted · I Informed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assets/brand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68100" y="266700"/>
            <a:ext cx="381000" cy="381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77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Prioritize the portfolio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PPT-GEN  ·  TEMPLATE GALLERY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5405438" y="6438900"/>
            <a:ext cx="1381125" cy="209550"/>
          </a:xfrm>
          <a:prstGeom prst="roundRect">
            <a:avLst>
              <a:gd name="adj" fmla="val 43636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05438" y="6457950"/>
            <a:ext cx="13811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INTERNAL ONLY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07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543050" y="895350"/>
            <a:ext cx="4933950" cy="2390775"/>
          </a:xfrm>
          <a:prstGeom prst="roundRect">
            <a:avLst>
              <a:gd name="adj" fmla="val 3825"/>
            </a:avLst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572250" y="895350"/>
            <a:ext cx="4933950" cy="2390775"/>
          </a:xfrm>
          <a:prstGeom prst="roundRect">
            <a:avLst>
              <a:gd name="adj" fmla="val 3825"/>
            </a:avLst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543050" y="3381375"/>
            <a:ext cx="4933950" cy="2390775"/>
          </a:xfrm>
          <a:prstGeom prst="roundRect">
            <a:avLst>
              <a:gd name="adj" fmla="val 3825"/>
            </a:avLst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572250" y="3381375"/>
            <a:ext cx="4933950" cy="2390775"/>
          </a:xfrm>
          <a:prstGeom prst="roundRect">
            <a:avLst>
              <a:gd name="adj" fmla="val 3825"/>
            </a:avLst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00050" y="895350"/>
            <a:ext cx="10477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Impact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543050" y="5924550"/>
            <a:ext cx="99631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Ease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695450" y="1028700"/>
            <a:ext cx="4629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BIG BETS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724650" y="1028700"/>
            <a:ext cx="4629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QUICK WINS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1695450" y="3514725"/>
            <a:ext cx="4629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IGNORE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724650" y="3514725"/>
            <a:ext cx="4629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FILL-INS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1695450" y="1314450"/>
            <a:ext cx="4629150" cy="381000"/>
          </a:xfrm>
          <a:prstGeom prst="roundRect">
            <a:avLst>
              <a:gd name="adj" fmla="val 24000"/>
            </a:avLst>
          </a:prstGeom>
          <a:solidFill>
            <a:srgbClr val="1F1F36"/>
          </a:solidFill>
          <a:ln w="15875">
            <a:solidFill>
              <a:srgbClr val="4E79A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809750" y="1314450"/>
            <a:ext cx="4400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Platform rewrite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6724650" y="1314450"/>
            <a:ext cx="4629150" cy="381000"/>
          </a:xfrm>
          <a:prstGeom prst="roundRect">
            <a:avLst>
              <a:gd name="adj" fmla="val 24000"/>
            </a:avLst>
          </a:prstGeom>
          <a:solidFill>
            <a:srgbClr val="1F1F36"/>
          </a:solidFill>
          <a:ln w="15875">
            <a:solidFill>
              <a:srgbClr val="4E79A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838950" y="1314450"/>
            <a:ext cx="4400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Onboarding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1695450" y="3800475"/>
            <a:ext cx="4629150" cy="381000"/>
          </a:xfrm>
          <a:prstGeom prst="roundRect">
            <a:avLst>
              <a:gd name="adj" fmla="val 24000"/>
            </a:avLst>
          </a:prstGeom>
          <a:solidFill>
            <a:srgbClr val="1F1F36"/>
          </a:solidFill>
          <a:ln w="15875">
            <a:solidFill>
              <a:srgbClr val="4E79A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809750" y="3800475"/>
            <a:ext cx="4400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Vanity dashboards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6724650" y="3800475"/>
            <a:ext cx="4629150" cy="381000"/>
          </a:xfrm>
          <a:prstGeom prst="roundRect">
            <a:avLst>
              <a:gd name="adj" fmla="val 24000"/>
            </a:avLst>
          </a:prstGeom>
          <a:solidFill>
            <a:srgbClr val="1F1F36"/>
          </a:solidFill>
          <a:ln w="15875">
            <a:solidFill>
              <a:srgbClr val="4E79A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838950" y="3800475"/>
            <a:ext cx="4400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Dark mode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assets/brand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68100" y="266700"/>
            <a:ext cx="381000" cy="381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457200"/>
            <a:ext cx="23812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SECTION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1524000" y="2190750"/>
            <a:ext cx="9144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Scientific pack</a:t>
            </a:r>
            <a:endParaRPr lang="en-US" sz="4800" dirty="0"/>
          </a:p>
        </p:txBody>
      </p:sp>
      <p:sp>
        <p:nvSpPr>
          <p:cNvPr id="5" name="Text 2"/>
          <p:cNvSpPr/>
          <p:nvPr/>
        </p:nvSpPr>
        <p:spPr>
          <a:xfrm>
            <a:off x="1524000" y="3381375"/>
            <a:ext cx="9144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Structure, method, and results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PPT-GEN  ·  TEMPLATE GALLERY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405438" y="6438900"/>
            <a:ext cx="1381125" cy="209550"/>
          </a:xfrm>
          <a:prstGeom prst="roundRect">
            <a:avLst>
              <a:gd name="adj" fmla="val 43636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05438" y="6457950"/>
            <a:ext cx="13811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INTERNAL ONLY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assets/brand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68100" y="266700"/>
            <a:ext cx="381000" cy="381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77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Exponential smoothing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PPT-GEN  ·  TEMPLATE GALLERY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5405438" y="6438900"/>
            <a:ext cx="1381125" cy="209550"/>
          </a:xfrm>
          <a:prstGeom prst="roundRect">
            <a:avLst>
              <a:gd name="adj" fmla="val 43636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05438" y="6457950"/>
            <a:ext cx="13811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INTERNAL ONLY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09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00050" y="2305050"/>
            <a:ext cx="11391900" cy="2495550"/>
          </a:xfrm>
          <a:prstGeom prst="roundRect">
            <a:avLst>
              <a:gd name="adj" fmla="val 3664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pic>
        <p:nvPicPr>
          <p:cNvPr id="9" name="Image 1" descr="/Users/dpadmana/projects/ppt-gen/assets/math/math-08f4b5287431d4d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6625" y="2609850"/>
            <a:ext cx="5238750" cy="120015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57250" y="4114800"/>
            <a:ext cx="10477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Learning rate α trades responsiveness against noise in the experiment cadence.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assets/brand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68100" y="266700"/>
            <a:ext cx="381000" cy="381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77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System decomposition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PPT-GEN  ·  TEMPLATE GALLERY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5405438" y="6438900"/>
            <a:ext cx="1381125" cy="209550"/>
          </a:xfrm>
          <a:prstGeom prst="roundRect">
            <a:avLst>
              <a:gd name="adj" fmla="val 43636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05438" y="6457950"/>
            <a:ext cx="13811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INTERNAL ONLY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10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045458" y="857250"/>
            <a:ext cx="4101084" cy="838200"/>
          </a:xfrm>
          <a:prstGeom prst="roundRect">
            <a:avLst>
              <a:gd name="adj" fmla="val 10909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045458" y="857250"/>
            <a:ext cx="57150" cy="8382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216908" y="1009650"/>
            <a:ext cx="375818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INFERENCE STACK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216908" y="1276350"/>
            <a:ext cx="375818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Serving path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6081713" y="1695450"/>
            <a:ext cx="28575" cy="342900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233613" y="2024062"/>
            <a:ext cx="7715250" cy="28575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219325" y="2038350"/>
            <a:ext cx="28575" cy="342900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076950" y="2038350"/>
            <a:ext cx="28575" cy="342900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9934575" y="2038350"/>
            <a:ext cx="28575" cy="342900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0050" y="2381250"/>
            <a:ext cx="3667125" cy="1047750"/>
          </a:xfrm>
          <a:prstGeom prst="roundRect">
            <a:avLst>
              <a:gd name="adj" fmla="val 872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00050" y="2381250"/>
            <a:ext cx="57150" cy="104775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71500" y="2533650"/>
            <a:ext cx="33242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ROUTER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71500" y="2800350"/>
            <a:ext cx="332422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Policy + fallback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4257675" y="2381250"/>
            <a:ext cx="3667125" cy="1047750"/>
          </a:xfrm>
          <a:prstGeom prst="roundRect">
            <a:avLst>
              <a:gd name="adj" fmla="val 872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257675" y="2381250"/>
            <a:ext cx="57150" cy="1047750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429125" y="2533650"/>
            <a:ext cx="33242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8E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EXPERTS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4429125" y="2800350"/>
            <a:ext cx="332422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MoE shards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8115300" y="2381250"/>
            <a:ext cx="3667125" cy="1047750"/>
          </a:xfrm>
          <a:prstGeom prst="roundRect">
            <a:avLst>
              <a:gd name="adj" fmla="val 872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8115300" y="2381250"/>
            <a:ext cx="57150" cy="1047750"/>
          </a:xfrm>
          <a:prstGeom prst="rect">
            <a:avLst/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286750" y="2533650"/>
            <a:ext cx="33242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1575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RUNTIME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8286750" y="2800350"/>
            <a:ext cx="332422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Batching + KV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assets/brand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68100" y="266700"/>
            <a:ext cx="381000" cy="381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77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Result snapshot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PPT-GEN  ·  TEMPLATE GALLERY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5405438" y="6438900"/>
            <a:ext cx="1381125" cy="209550"/>
          </a:xfrm>
          <a:prstGeom prst="roundRect">
            <a:avLst>
              <a:gd name="adj" fmla="val 43636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05438" y="6457950"/>
            <a:ext cx="13811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INTERNAL ONLY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00050" y="2124075"/>
            <a:ext cx="3638550" cy="2857500"/>
          </a:xfrm>
          <a:prstGeom prst="roundRect">
            <a:avLst>
              <a:gd name="adj" fmla="val 3200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00050" y="2124075"/>
            <a:ext cx="3638550" cy="7620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0550" y="2371725"/>
            <a:ext cx="32575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LATENCY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90550" y="2771775"/>
            <a:ext cx="3257550" cy="152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−38%</a:t>
            </a:r>
            <a:endParaRPr lang="en-US" sz="4000" dirty="0"/>
          </a:p>
        </p:txBody>
      </p:sp>
      <p:sp>
        <p:nvSpPr>
          <p:cNvPr id="12" name="Text 9"/>
          <p:cNvSpPr/>
          <p:nvPr/>
        </p:nvSpPr>
        <p:spPr>
          <a:xfrm>
            <a:off x="590550" y="4429125"/>
            <a:ext cx="3257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p50 vs baseline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267200" y="2124075"/>
            <a:ext cx="3638550" cy="2857500"/>
          </a:xfrm>
          <a:prstGeom prst="roundRect">
            <a:avLst>
              <a:gd name="adj" fmla="val 3200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267200" y="2124075"/>
            <a:ext cx="3638550" cy="76200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457700" y="2371725"/>
            <a:ext cx="32575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QUALITY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4457700" y="2771775"/>
            <a:ext cx="3257550" cy="152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28E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+0.12</a:t>
            </a:r>
            <a:endParaRPr lang="en-US" sz="4000" dirty="0"/>
          </a:p>
        </p:txBody>
      </p:sp>
      <p:sp>
        <p:nvSpPr>
          <p:cNvPr id="17" name="Text 14"/>
          <p:cNvSpPr/>
          <p:nvPr/>
        </p:nvSpPr>
        <p:spPr>
          <a:xfrm>
            <a:off x="4457700" y="4429125"/>
            <a:ext cx="3257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Win rate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8134350" y="2124075"/>
            <a:ext cx="3638550" cy="2857500"/>
          </a:xfrm>
          <a:prstGeom prst="roundRect">
            <a:avLst>
              <a:gd name="adj" fmla="val 3200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134350" y="2124075"/>
            <a:ext cx="3638550" cy="76200"/>
          </a:xfrm>
          <a:prstGeom prst="rect">
            <a:avLst/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324850" y="2371725"/>
            <a:ext cx="32575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COST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324850" y="2771775"/>
            <a:ext cx="3257550" cy="152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1575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0.7×</a:t>
            </a:r>
            <a:endParaRPr lang="en-US" sz="4000" dirty="0"/>
          </a:p>
        </p:txBody>
      </p:sp>
      <p:sp>
        <p:nvSpPr>
          <p:cNvPr id="22" name="Text 19"/>
          <p:cNvSpPr/>
          <p:nvPr/>
        </p:nvSpPr>
        <p:spPr>
          <a:xfrm>
            <a:off x="8324850" y="4429125"/>
            <a:ext cx="3257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Per 1k tokens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assets/brand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68100" y="266700"/>
            <a:ext cx="381000" cy="381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77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Compose — two-up (columns)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PPT-GEN  ·  TEMPLATE GALLERY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5405438" y="6438900"/>
            <a:ext cx="1381125" cy="209550"/>
          </a:xfrm>
          <a:prstGeom prst="roundRect">
            <a:avLst>
              <a:gd name="adj" fmla="val 43636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05438" y="6457950"/>
            <a:ext cx="13811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INTERNAL ONLY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00050" y="819150"/>
            <a:ext cx="56197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OUTCOMES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00050" y="2247900"/>
            <a:ext cx="2695575" cy="2857500"/>
          </a:xfrm>
          <a:prstGeom prst="roundRect">
            <a:avLst>
              <a:gd name="adj" fmla="val 3392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00050" y="2247900"/>
            <a:ext cx="2695575" cy="7620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0550" y="2495550"/>
            <a:ext cx="23145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LATENCY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90550" y="2895600"/>
            <a:ext cx="2314575" cy="152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−38%</a:t>
            </a:r>
            <a:endParaRPr lang="en-US" sz="4000" dirty="0"/>
          </a:p>
        </p:txBody>
      </p:sp>
      <p:sp>
        <p:nvSpPr>
          <p:cNvPr id="13" name="Text 10"/>
          <p:cNvSpPr/>
          <p:nvPr/>
        </p:nvSpPr>
        <p:spPr>
          <a:xfrm>
            <a:off x="590550" y="4552950"/>
            <a:ext cx="231457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p50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3324225" y="2247900"/>
            <a:ext cx="2695575" cy="2857500"/>
          </a:xfrm>
          <a:prstGeom prst="roundRect">
            <a:avLst>
              <a:gd name="adj" fmla="val 3392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324225" y="2247900"/>
            <a:ext cx="2695575" cy="76200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4725" y="2495550"/>
            <a:ext cx="23145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QUALITY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3514725" y="2895600"/>
            <a:ext cx="2314575" cy="152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28E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+0.12</a:t>
            </a:r>
            <a:endParaRPr lang="en-US" sz="4000" dirty="0"/>
          </a:p>
        </p:txBody>
      </p:sp>
      <p:sp>
        <p:nvSpPr>
          <p:cNvPr id="18" name="Text 15"/>
          <p:cNvSpPr/>
          <p:nvPr/>
        </p:nvSpPr>
        <p:spPr>
          <a:xfrm>
            <a:off x="3514725" y="4552950"/>
            <a:ext cx="231457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Win rate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172200" y="819150"/>
            <a:ext cx="56197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PATH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172200" y="2533650"/>
            <a:ext cx="1790700" cy="800100"/>
          </a:xfrm>
          <a:prstGeom prst="chevron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438900" y="2533650"/>
            <a:ext cx="11049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Frame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6172200" y="3486150"/>
            <a:ext cx="1790700" cy="1333500"/>
          </a:xfrm>
          <a:prstGeom prst="roundRect">
            <a:avLst>
              <a:gd name="adj" fmla="val 685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172200" y="3486150"/>
            <a:ext cx="47625" cy="133350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305550" y="3581400"/>
            <a:ext cx="15621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Frame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8077200" y="2533650"/>
            <a:ext cx="1790700" cy="800100"/>
          </a:xfrm>
          <a:prstGeom prst="chevron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343900" y="2533650"/>
            <a:ext cx="11049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Prove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8077200" y="3486150"/>
            <a:ext cx="1790700" cy="1333500"/>
          </a:xfrm>
          <a:prstGeom prst="roundRect">
            <a:avLst>
              <a:gd name="adj" fmla="val 685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077200" y="3486150"/>
            <a:ext cx="47625" cy="1333500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210550" y="3581400"/>
            <a:ext cx="15621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Prove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9982200" y="2533650"/>
            <a:ext cx="1790700" cy="800100"/>
          </a:xfrm>
          <a:prstGeom prst="chevron">
            <a:avLst/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10248900" y="2533650"/>
            <a:ext cx="11049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Scale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9982200" y="3486150"/>
            <a:ext cx="1790700" cy="1333500"/>
          </a:xfrm>
          <a:prstGeom prst="roundRect">
            <a:avLst>
              <a:gd name="adj" fmla="val 685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982200" y="3486150"/>
            <a:ext cx="47625" cy="1333500"/>
          </a:xfrm>
          <a:prstGeom prst="rect">
            <a:avLst/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10115550" y="3581400"/>
            <a:ext cx="15621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Scale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assets/brand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68100" y="266700"/>
            <a:ext cx="381000" cy="381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77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Compose — stacked (rows)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PPT-GEN  ·  TEMPLATE GALLERY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5405438" y="6438900"/>
            <a:ext cx="1381125" cy="209550"/>
          </a:xfrm>
          <a:prstGeom prst="roundRect">
            <a:avLst>
              <a:gd name="adj" fmla="val 43636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05438" y="6457950"/>
            <a:ext cx="13811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INTERNAL ONLY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00050" y="819150"/>
            <a:ext cx="113919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PORTFOLIO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1543050" y="1143000"/>
            <a:ext cx="4933950" cy="904875"/>
          </a:xfrm>
          <a:prstGeom prst="roundRect">
            <a:avLst>
              <a:gd name="adj" fmla="val 10105"/>
            </a:avLst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72250" y="1143000"/>
            <a:ext cx="4933950" cy="904875"/>
          </a:xfrm>
          <a:prstGeom prst="roundRect">
            <a:avLst>
              <a:gd name="adj" fmla="val 10105"/>
            </a:avLst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543050" y="2143125"/>
            <a:ext cx="4933950" cy="904875"/>
          </a:xfrm>
          <a:prstGeom prst="roundRect">
            <a:avLst>
              <a:gd name="adj" fmla="val 10105"/>
            </a:avLst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572250" y="2143125"/>
            <a:ext cx="4933950" cy="904875"/>
          </a:xfrm>
          <a:prstGeom prst="roundRect">
            <a:avLst>
              <a:gd name="adj" fmla="val 10105"/>
            </a:avLst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00050" y="1143000"/>
            <a:ext cx="10477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Impact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543050" y="3200400"/>
            <a:ext cx="99631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Ease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1695450" y="1314450"/>
            <a:ext cx="4629150" cy="381000"/>
          </a:xfrm>
          <a:prstGeom prst="roundRect">
            <a:avLst>
              <a:gd name="adj" fmla="val 24000"/>
            </a:avLst>
          </a:prstGeom>
          <a:solidFill>
            <a:srgbClr val="1F1F36"/>
          </a:solidFill>
          <a:ln w="15875">
            <a:solidFill>
              <a:srgbClr val="4E79A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809750" y="1314450"/>
            <a:ext cx="4400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Rewrite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724650" y="1314450"/>
            <a:ext cx="4629150" cy="381000"/>
          </a:xfrm>
          <a:prstGeom prst="roundRect">
            <a:avLst>
              <a:gd name="adj" fmla="val 24000"/>
            </a:avLst>
          </a:prstGeom>
          <a:solidFill>
            <a:srgbClr val="1F1F36"/>
          </a:solidFill>
          <a:ln w="15875">
            <a:solidFill>
              <a:srgbClr val="4E79A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838950" y="1314450"/>
            <a:ext cx="4400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Onboarding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400050" y="3543300"/>
            <a:ext cx="113919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OWNERS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143250" y="4210050"/>
            <a:ext cx="42100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PM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7505700" y="4210050"/>
            <a:ext cx="42100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ENG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00050" y="4572000"/>
            <a:ext cx="11391900" cy="438150"/>
          </a:xfrm>
          <a:prstGeom prst="rect">
            <a:avLst/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33400" y="4572000"/>
            <a:ext cx="24384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Spec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3067050" y="4572000"/>
            <a:ext cx="43624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7429500" y="4572000"/>
            <a:ext cx="43624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·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400050" y="5067300"/>
            <a:ext cx="11391900" cy="438150"/>
          </a:xfrm>
          <a:prstGeom prst="rect">
            <a:avLst/>
          </a:prstGeom>
          <a:solidFill>
            <a:srgbClr val="1F1F36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33400" y="5067300"/>
            <a:ext cx="24384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Build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3067050" y="5067300"/>
            <a:ext cx="43624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5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429500" y="5067300"/>
            <a:ext cx="43624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400050" y="5657850"/>
            <a:ext cx="113919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 Responsible · A Accountable · C Consulted · I Informed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assets/brand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68100" y="266700"/>
            <a:ext cx="381000" cy="381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457200"/>
            <a:ext cx="1905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NEXT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00050" y="123825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Author in YAML. Render with ppt-gen.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00050" y="2952750"/>
            <a:ext cx="857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Pick a pack layout, fill items, regenerate — same visual language every time.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400050" y="5619750"/>
            <a:ext cx="1047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See README · Template packs (consulting / scientific / core)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PPT-GEN  ·  TEMPLATE GALLERY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405438" y="6438900"/>
            <a:ext cx="1381125" cy="209550"/>
          </a:xfrm>
          <a:prstGeom prst="roundRect">
            <a:avLst>
              <a:gd name="adj" fmla="val 43636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05438" y="6457950"/>
            <a:ext cx="13811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INTERNAL ONLY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gallery — consulting &amp; scientific SmartArt</dc:title>
  <dc:subject>PptxGenJS Presentation</dc:subject>
  <dc:creator>ppt-gen</dc:creator>
  <cp:lastModifiedBy>ppt-gen</cp:lastModifiedBy>
  <cp:revision>1</cp:revision>
  <dcterms:created xsi:type="dcterms:W3CDTF">2026-09-20T10:59:15Z</dcterms:created>
  <dcterms:modified xsi:type="dcterms:W3CDTF">2026-09-20T10:59:15Z</dcterms:modified>
</cp:coreProperties>
</file>