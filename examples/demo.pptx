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Q1 Results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942975"/>
            <a:ext cx="106489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Revenue review — generated by ppt-gen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Revenue trend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1123950"/>
            <a:ext cx="11010900" cy="4191000"/>
          </a:xfrm>
          <a:prstGeom prst="roundRect">
            <a:avLst>
              <a:gd name="adj" fmla="val 2182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7" name="Image 1" descr="/Users/dpadmana/projects/ppt-gen/assets/plots/quarterly-a5d5f8a61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4025" y="1314450"/>
            <a:ext cx="8372475" cy="3810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90550" y="5486400"/>
            <a:ext cx="1047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Revenue grew 12% YoY in the latest quarter.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Regional breakdown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1123950"/>
            <a:ext cx="11010900" cy="2514600"/>
          </a:xfrm>
          <a:prstGeom prst="roundRect">
            <a:avLst>
              <a:gd name="adj" fmla="val 363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6250" y="1162050"/>
          <a:ext cx="10858500" cy="914400"/>
        </p:xfrm>
        <a:graphic>
          <a:graphicData uri="http://schemas.openxmlformats.org/drawingml/2006/table">
            <a:tbl>
              <a:tblPr/>
              <a:tblGrid>
                <a:gridCol w="4126230"/>
                <a:gridCol w="3366135"/>
                <a:gridCol w="3366135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region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revenue_m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growth_pct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North America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12.4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11.2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Europe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8.7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9.5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Asia Pacific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6.1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14.8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Latin America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2.3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7.1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Revenue by region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1123950"/>
            <a:ext cx="11010900" cy="4191000"/>
          </a:xfrm>
          <a:prstGeom prst="roundRect">
            <a:avLst>
              <a:gd name="adj" fmla="val 2182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7" name="Image 1" descr="/Users/dpadmana/projects/ppt-gen/assets/plots/regions-a1574b2a9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4025" y="1314450"/>
            <a:ext cx="8372475" cy="3810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90550" y="5486400"/>
            <a:ext cx="1047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Asia Pacific leads on growth; North America still carries the revenue base.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Channel mix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1123950"/>
            <a:ext cx="11010900" cy="3009900"/>
          </a:xfrm>
          <a:prstGeom prst="roundRect">
            <a:avLst>
              <a:gd name="adj" fmla="val 303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6250" y="1162050"/>
          <a:ext cx="10858500" cy="914400"/>
        </p:xfrm>
        <a:graphic>
          <a:graphicData uri="http://schemas.openxmlformats.org/drawingml/2006/table">
            <a:tbl>
              <a:tblPr/>
              <a:tblGrid>
                <a:gridCol w="4126230"/>
                <a:gridCol w="3366135"/>
                <a:gridCol w="3366135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channel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share_pct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nps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Web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34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42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Mobile app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51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Email / CRM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Partners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12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29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In-product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8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</a:t>
                      </a:r>
                      <a:endParaRPr lang="en-US" sz="16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Pipeline architecture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1123950"/>
            <a:ext cx="11010900" cy="3800475"/>
          </a:xfrm>
          <a:prstGeom prst="roundRect">
            <a:avLst>
              <a:gd name="adj" fmla="val 2406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7" name="Image 1" descr="/Users/dpadmana/projects/ppt-gen/assets/diagrams/architectu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50" y="1314450"/>
            <a:ext cx="10629900" cy="34194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Learning rate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942975"/>
            <a:ext cx="106489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discrete update behind our experiment cadence: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00050" y="1428750"/>
            <a:ext cx="11010900" cy="2095500"/>
          </a:xfrm>
          <a:prstGeom prst="roundRect">
            <a:avLst>
              <a:gd name="adj" fmla="val 436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8" name="Image 1" descr="/Users/dpadmana/projects/ppt-gen/assets/math/math-4a1d9c0557f4f33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325" y="1619250"/>
            <a:ext cx="3571875" cy="17145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00050" y="3695700"/>
            <a:ext cx="11010900" cy="1171575"/>
          </a:xfrm>
          <a:prstGeom prst="roundRect">
            <a:avLst>
              <a:gd name="adj" fmla="val 7805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10" name="Image 2" descr="/Users/dpadmana/projects/ppt-gen/assets/math/math-c5585b69899301a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7325" y="3886200"/>
            <a:ext cx="1285875" cy="79057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90550" y="5038725"/>
            <a:ext cx="1047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Holdouts keep  honest.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Summary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1257300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0550" y="1123950"/>
            <a:ext cx="1028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Unified theme drives Marp CSS, plots, and diagrams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00050" y="1638300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0550" y="1504950"/>
            <a:ext cx="1028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Layout catalog shares tokens, fit engine, and markdown source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00050" y="2019300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0550" y="1885950"/>
            <a:ext cx="1028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Edit this file and run `npm run build:constructs` or `npm run build:pdf`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3810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00050" y="838200"/>
            <a:ext cx="72390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practical roadmap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product analytics</a:t>
            </a:r>
            <a:endParaRPr lang="en-US" sz="4000" dirty="0"/>
          </a:p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00050" y="211455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Connect discovery, delivery and measurement into one learning system over 12–18 months.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400050" y="2914650"/>
            <a:ext cx="1238250" cy="28575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76250" y="2971800"/>
            <a:ext cx="1085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ROADMAP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00050" y="33337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product, data and engineering leaders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096250" y="381000"/>
            <a:ext cx="3333750" cy="5715000"/>
          </a:xfrm>
          <a:prstGeom prst="roundRect">
            <a:avLst>
              <a:gd name="adj" fmla="val 274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24875" y="952500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810750" y="857250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715625" y="1524000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858250" y="2333625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001250" y="2619375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858500" y="3476625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763000" y="4238625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906000" y="4857750"/>
            <a:ext cx="609600" cy="609600"/>
          </a:xfrm>
          <a:prstGeom prst="roundRect">
            <a:avLst>
              <a:gd name="adj" fmla="val 15000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8829675" y="1162050"/>
            <a:ext cx="1285875" cy="95250"/>
          </a:xfrm>
          <a:prstGeom prst="line">
            <a:avLst/>
          </a:prstGeom>
          <a:noFill/>
          <a:ln w="254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19" name="Shape 16"/>
          <p:cNvSpPr/>
          <p:nvPr/>
        </p:nvSpPr>
        <p:spPr>
          <a:xfrm>
            <a:off x="10115550" y="1162050"/>
            <a:ext cx="904875" cy="666750"/>
          </a:xfrm>
          <a:prstGeom prst="line">
            <a:avLst/>
          </a:prstGeom>
          <a:noFill/>
          <a:ln w="254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20" name="Shape 17"/>
          <p:cNvSpPr/>
          <p:nvPr/>
        </p:nvSpPr>
        <p:spPr>
          <a:xfrm>
            <a:off x="9163050" y="2638425"/>
            <a:ext cx="1143000" cy="285750"/>
          </a:xfrm>
          <a:prstGeom prst="line">
            <a:avLst/>
          </a:prstGeom>
          <a:noFill/>
          <a:ln w="254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21" name="Shape 18"/>
          <p:cNvSpPr/>
          <p:nvPr/>
        </p:nvSpPr>
        <p:spPr>
          <a:xfrm>
            <a:off x="10306050" y="2924175"/>
            <a:ext cx="857250" cy="857250"/>
          </a:xfrm>
          <a:prstGeom prst="line">
            <a:avLst/>
          </a:prstGeom>
          <a:noFill/>
          <a:ln w="254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22" name="Shape 19"/>
          <p:cNvSpPr/>
          <p:nvPr/>
        </p:nvSpPr>
        <p:spPr>
          <a:xfrm>
            <a:off x="9067800" y="4543425"/>
            <a:ext cx="1143000" cy="619125"/>
          </a:xfrm>
          <a:prstGeom prst="line">
            <a:avLst/>
          </a:prstGeom>
          <a:noFill/>
          <a:ln w="2540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23" name="Text 20"/>
          <p:cNvSpPr/>
          <p:nvPr/>
        </p:nvSpPr>
        <p:spPr>
          <a:xfrm>
            <a:off x="8305800" y="56197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CUSTOMER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258300" y="56197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0210800" y="56197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CHANNEL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457200"/>
            <a:ext cx="2381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SECTION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1524000" y="2552700"/>
            <a:ext cx="9144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Argument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1524000" y="34671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fragmented signals to a decision fabric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release should make the next decision sharper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942975"/>
            <a:ext cx="106489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Move from fragmented metrics to a shared decision fabric.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00050" y="1419225"/>
            <a:ext cx="5695950" cy="4905375"/>
          </a:xfrm>
          <a:prstGeom prst="roundRect">
            <a:avLst>
              <a:gd name="adj" fmla="val 186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00050" y="1419225"/>
            <a:ext cx="5695950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9600" y="1647825"/>
            <a:ext cx="5276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TODAY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09600" y="1943100"/>
            <a:ext cx="52768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 live in silos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09600" y="27908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0100" y="2619375"/>
            <a:ext cx="50863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Product, growth and support dashboards disagree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09600" y="32480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0100" y="3076575"/>
            <a:ext cx="50863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Experiments optimize local KPIs, not portfolio outcomes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09600" y="37052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00100" y="3533775"/>
            <a:ext cx="50863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Roadmap bets lack a shared measurement design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324600" y="1419225"/>
            <a:ext cx="5467350" cy="4905375"/>
          </a:xfrm>
          <a:prstGeom prst="roundRect">
            <a:avLst>
              <a:gd name="adj" fmla="val 186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324600" y="1419225"/>
            <a:ext cx="5467350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34150" y="1647825"/>
            <a:ext cx="5048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TARGET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34150" y="1943100"/>
            <a:ext cx="5048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decision loop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6534150" y="27908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24650" y="2619375"/>
            <a:ext cx="4857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Shared identity and event taxonomy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534150" y="32480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724650" y="3076575"/>
            <a:ext cx="4857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Next-best action for surface and lifecycle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6534150" y="37052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724650" y="3533775"/>
            <a:ext cx="4857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Incrementality tied to retention and margin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Prioritize use cases that compound across the journey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942975"/>
            <a:ext cx="106489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 where decisions are frequent, measurable and owned.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00050" y="1419225"/>
            <a:ext cx="2705100" cy="1905000"/>
          </a:xfrm>
          <a:prstGeom prst="roundRect">
            <a:avLst>
              <a:gd name="adj" fmla="val 48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00050" y="1419225"/>
            <a:ext cx="57150" cy="19050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71500" y="1533525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DISCOVER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71500" y="1800225"/>
            <a:ext cx="2362200" cy="1409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Audience insight · Opportunity sizing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295650" y="1419225"/>
            <a:ext cx="2705100" cy="1905000"/>
          </a:xfrm>
          <a:prstGeom prst="roundRect">
            <a:avLst>
              <a:gd name="adj" fmla="val 48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95650" y="1419225"/>
            <a:ext cx="57150" cy="19050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467100" y="1533525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CONSIDER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467100" y="1800225"/>
            <a:ext cx="2362200" cy="1409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Personalized content · Fit / intent scoring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191250" y="1419225"/>
            <a:ext cx="2705100" cy="1905000"/>
          </a:xfrm>
          <a:prstGeom prst="roundRect">
            <a:avLst>
              <a:gd name="adj" fmla="val 48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91250" y="1419225"/>
            <a:ext cx="57150" cy="19050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62700" y="1533525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362700" y="1800225"/>
            <a:ext cx="2362200" cy="1409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Next-best offer · In-product guidance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9086850" y="1419225"/>
            <a:ext cx="2705100" cy="1905000"/>
          </a:xfrm>
          <a:prstGeom prst="roundRect">
            <a:avLst>
              <a:gd name="adj" fmla="val 48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086850" y="1419225"/>
            <a:ext cx="57150" cy="19050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58300" y="1533525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RETAIN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258300" y="1800225"/>
            <a:ext cx="2362200" cy="1409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Churn early warning · Expansion plays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90550" y="3659981"/>
            <a:ext cx="11010900" cy="14288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647825" y="3562350"/>
            <a:ext cx="209550" cy="209550"/>
          </a:xfrm>
          <a:prstGeom prst="roundRect">
            <a:avLst>
              <a:gd name="adj" fmla="val 43636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543425" y="3562350"/>
            <a:ext cx="209550" cy="209550"/>
          </a:xfrm>
          <a:prstGeom prst="roundRect">
            <a:avLst>
              <a:gd name="adj" fmla="val 43636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439025" y="3562350"/>
            <a:ext cx="209550" cy="209550"/>
          </a:xfrm>
          <a:prstGeom prst="roundRect">
            <a:avLst>
              <a:gd name="adj" fmla="val 43636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334625" y="3562350"/>
            <a:ext cx="209550" cy="209550"/>
          </a:xfrm>
          <a:prstGeom prst="roundRect">
            <a:avLst>
              <a:gd name="adj" fmla="val 43636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00050" y="4010025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SHARED DECISION SIGNALS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00050" y="4276725"/>
            <a:ext cx="2152650" cy="704850"/>
          </a:xfrm>
          <a:prstGeom prst="roundRect">
            <a:avLst>
              <a:gd name="adj" fmla="val 12973"/>
            </a:avLst>
          </a:prstGeom>
          <a:solidFill>
            <a:srgbClr val="EAEAEA"/>
          </a:solidFill>
          <a:ln w="15875">
            <a:solidFill>
              <a:srgbClr val="EAEAE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14350" y="4276725"/>
            <a:ext cx="19240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Identity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2705100" y="4276725"/>
            <a:ext cx="2152650" cy="704850"/>
          </a:xfrm>
          <a:prstGeom prst="roundRect">
            <a:avLst>
              <a:gd name="adj" fmla="val 12973"/>
            </a:avLst>
          </a:prstGeom>
          <a:ln w="15875">
            <a:solidFill>
              <a:srgbClr val="3A3A5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2819400" y="4276725"/>
            <a:ext cx="19240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context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010150" y="4276725"/>
            <a:ext cx="2152650" cy="704850"/>
          </a:xfrm>
          <a:prstGeom prst="roundRect">
            <a:avLst>
              <a:gd name="adj" fmla="val 12973"/>
            </a:avLst>
          </a:prstGeom>
          <a:ln w="15875">
            <a:solidFill>
              <a:srgbClr val="3A3A5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124450" y="4276725"/>
            <a:ext cx="19240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Channel state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7315200" y="4276725"/>
            <a:ext cx="2152650" cy="704850"/>
          </a:xfrm>
          <a:prstGeom prst="roundRect">
            <a:avLst>
              <a:gd name="adj" fmla="val 12973"/>
            </a:avLst>
          </a:prstGeom>
          <a:ln w="15875">
            <a:solidFill>
              <a:srgbClr val="3A3A5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429500" y="4276725"/>
            <a:ext cx="19240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Inventory / capacity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9620250" y="4276725"/>
            <a:ext cx="2152650" cy="704850"/>
          </a:xfrm>
          <a:prstGeom prst="roundRect">
            <a:avLst>
              <a:gd name="adj" fmla="val 12973"/>
            </a:avLst>
          </a:prstGeom>
          <a:ln w="15875">
            <a:solidFill>
              <a:srgbClr val="3A3A5C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734550" y="4276725"/>
            <a:ext cx="1924050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Experiment exposure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Pilot readouts and next moves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00050" y="981075"/>
            <a:ext cx="113919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FIRST 90 DAYS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00050" y="1247775"/>
            <a:ext cx="3714750" cy="1238250"/>
          </a:xfrm>
          <a:prstGeom prst="roundRect">
            <a:avLst>
              <a:gd name="adj" fmla="val 7385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00050" y="1247775"/>
            <a:ext cx="3714750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52450" y="1438275"/>
            <a:ext cx="3409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LIFT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52450" y="1724025"/>
            <a:ext cx="3409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+9%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552450" y="2066925"/>
            <a:ext cx="34099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Incremental reactivation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29100" y="1247775"/>
            <a:ext cx="3714750" cy="1238250"/>
          </a:xfrm>
          <a:prstGeom prst="roundRect">
            <a:avLst>
              <a:gd name="adj" fmla="val 7385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29100" y="1247775"/>
            <a:ext cx="3714750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381500" y="1438275"/>
            <a:ext cx="3409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SPEED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381500" y="1724025"/>
            <a:ext cx="3409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11d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381500" y="2066925"/>
            <a:ext cx="34099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Idea → live holdout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058150" y="1247775"/>
            <a:ext cx="3714750" cy="1238250"/>
          </a:xfrm>
          <a:prstGeom prst="roundRect">
            <a:avLst>
              <a:gd name="adj" fmla="val 7385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058150" y="1247775"/>
            <a:ext cx="3714750" cy="762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10550" y="1438275"/>
            <a:ext cx="34099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WASTE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210550" y="1724025"/>
            <a:ext cx="3409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−18%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210550" y="2066925"/>
            <a:ext cx="34099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Low-margin offers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00050" y="2933700"/>
            <a:ext cx="113919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 PATH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00050" y="3200400"/>
            <a:ext cx="3714750" cy="800100"/>
          </a:xfrm>
          <a:prstGeom prst="chevron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66750" y="3200400"/>
            <a:ext cx="30289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Prove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00050" y="4152900"/>
            <a:ext cx="371475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00050" y="4152900"/>
            <a:ext cx="47625" cy="13335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33400" y="4248150"/>
            <a:ext cx="34861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Holdouts in 2 journeys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229100" y="3200400"/>
            <a:ext cx="3714750" cy="800100"/>
          </a:xfrm>
          <a:prstGeom prst="chevron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95800" y="3200400"/>
            <a:ext cx="30289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Productize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4229100" y="4152900"/>
            <a:ext cx="371475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229100" y="4152900"/>
            <a:ext cx="47625" cy="13335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362450" y="4248150"/>
            <a:ext cx="34861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Playbooks + owners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8058150" y="3200400"/>
            <a:ext cx="3714750" cy="800100"/>
          </a:xfrm>
          <a:prstGeom prst="chevron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324850" y="3200400"/>
            <a:ext cx="302895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8058150" y="4152900"/>
            <a:ext cx="3714750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058150" y="4152900"/>
            <a:ext cx="47625" cy="13335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91500" y="4248150"/>
            <a:ext cx="34861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Coverage → 80%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Revenue concentration still favors NA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942975"/>
            <a:ext cx="106489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Growth is elsewhere — sequence capacity accordingly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00050" y="15906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0550" y="1419225"/>
            <a:ext cx="504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North America is 42% of revenue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00050" y="20478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0550" y="1876425"/>
            <a:ext cx="504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Asia Pacific leads growth at 14.8%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00050" y="25050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0550" y="2333625"/>
            <a:ext cx="504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Channel mix still web-heavy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943600" y="1419225"/>
            <a:ext cx="5848350" cy="4905375"/>
          </a:xfrm>
          <a:prstGeom prst="roundRect">
            <a:avLst>
              <a:gd name="adj" fmla="val 1864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pic>
        <p:nvPicPr>
          <p:cNvPr id="14" name="Image 1" descr="/Users/dpadmana/projects/ppt-gen/assets/plots/regions-85083c9a3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609850"/>
            <a:ext cx="5543550" cy="25241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numbers as a table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942975"/>
            <a:ext cx="106489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media.table loads CSV into a native PPTX table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00050" y="15906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0550" y="1419225"/>
            <a:ext cx="504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Drop CSVs in data/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00050" y="20478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0550" y="1876425"/>
            <a:ext cx="504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Reference by stem name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00050" y="25050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0550" y="2333625"/>
            <a:ext cx="504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Rebuild the deck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943600" y="1419225"/>
            <a:ext cx="5848350" cy="2362200"/>
          </a:xfrm>
          <a:prstGeom prst="roundRect">
            <a:avLst>
              <a:gd name="adj" fmla="val 3871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1700" y="1457325"/>
          <a:ext cx="5772150" cy="914400"/>
        </p:xfrm>
        <a:graphic>
          <a:graphicData uri="http://schemas.openxmlformats.org/drawingml/2006/table">
            <a:tbl>
              <a:tblPr/>
              <a:tblGrid>
                <a:gridCol w="1924050"/>
                <a:gridCol w="1924050"/>
                <a:gridCol w="192405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region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revenue_m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growth_pct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North America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12.4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11.2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Europe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8.7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9.5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Asia Pacific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6.1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14.8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Latin America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2.3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AEAEA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7.1</a:t>
                      </a:r>
                      <a:endParaRPr lang="en-US" sz="15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3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Portfolio is overweight in question marks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942975"/>
            <a:ext cx="106489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Rebalance toward proven retention plays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543050" y="1533525"/>
            <a:ext cx="4933950" cy="2014538"/>
          </a:xfrm>
          <a:prstGeom prst="roundRect">
            <a:avLst>
              <a:gd name="adj" fmla="val 4539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72250" y="1533525"/>
            <a:ext cx="4933950" cy="2014538"/>
          </a:xfrm>
          <a:prstGeom prst="roundRect">
            <a:avLst>
              <a:gd name="adj" fmla="val 4539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43050" y="3643313"/>
            <a:ext cx="4933950" cy="2014538"/>
          </a:xfrm>
          <a:prstGeom prst="roundRect">
            <a:avLst>
              <a:gd name="adj" fmla="val 4539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72250" y="3643313"/>
            <a:ext cx="4933950" cy="2014538"/>
          </a:xfrm>
          <a:prstGeom prst="roundRect">
            <a:avLst>
              <a:gd name="adj" fmla="val 4539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00050" y="1533525"/>
            <a:ext cx="10858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Learning value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543050" y="5715000"/>
            <a:ext cx="9963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Relative capability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695450" y="1666875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724650" y="1666875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695450" y="3776662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PAUSE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724650" y="3776662"/>
            <a:ext cx="4629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OPTIMIZE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657350" y="1952625"/>
            <a:ext cx="4705350" cy="400050"/>
          </a:xfrm>
          <a:prstGeom prst="roundRect">
            <a:avLst>
              <a:gd name="adj" fmla="val 22857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752600" y="1952625"/>
            <a:ext cx="45148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Next-best offer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686550" y="1952625"/>
            <a:ext cx="4705350" cy="400050"/>
          </a:xfrm>
          <a:prstGeom prst="roundRect">
            <a:avLst>
              <a:gd name="adj" fmla="val 22857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781800" y="1952625"/>
            <a:ext cx="45148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Reactivation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1657350" y="4062412"/>
            <a:ext cx="4705350" cy="400050"/>
          </a:xfrm>
          <a:prstGeom prst="roundRect">
            <a:avLst>
              <a:gd name="adj" fmla="val 22857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752600" y="4062412"/>
            <a:ext cx="45148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Vanity NPS dash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686550" y="4062412"/>
            <a:ext cx="4705350" cy="400050"/>
          </a:xfrm>
          <a:prstGeom prst="roundRect">
            <a:avLst>
              <a:gd name="adj" fmla="val 22857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781800" y="4062412"/>
            <a:ext cx="45148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Taxonomy MVP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Sequence: prove the signal, scale decisions, then optimize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942975"/>
            <a:ext cx="106489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phase ships a production decision and a measurement design.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17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00050" y="1419225"/>
            <a:ext cx="3667125" cy="4448175"/>
          </a:xfrm>
          <a:prstGeom prst="roundRect">
            <a:avLst>
              <a:gd name="adj" fmla="val 249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00050" y="1419225"/>
            <a:ext cx="57150" cy="4448175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71500" y="1590675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0–90 DAYS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71500" y="1838325"/>
            <a:ext cx="33242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Prove the signal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571500" y="2257425"/>
            <a:ext cx="33242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Identity, baseline, 2–3 pilot use cases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71500" y="28860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62000" y="2752725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Event taxonomy MVP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71500" y="31146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2000" y="2981325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Measurement baseline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71500" y="33432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62000" y="3209925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[object Object]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257675" y="1419225"/>
            <a:ext cx="3667125" cy="4448175"/>
          </a:xfrm>
          <a:prstGeom prst="roundRect">
            <a:avLst>
              <a:gd name="adj" fmla="val 249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257675" y="1419225"/>
            <a:ext cx="57150" cy="4448175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429125" y="1590675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3–9 MONTHS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429125" y="1838325"/>
            <a:ext cx="33242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 the decisions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4429125" y="2257425"/>
            <a:ext cx="33242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Reusable models and activation paths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429125" y="28860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19625" y="2752725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Next-best-action service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4429125" y="31146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619625" y="2981325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CRM + in-product hooks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4429125" y="33432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619625" y="3209925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Always-on test engine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8115300" y="1419225"/>
            <a:ext cx="3667125" cy="4448175"/>
          </a:xfrm>
          <a:prstGeom prst="roundRect">
            <a:avLst>
              <a:gd name="adj" fmla="val 249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115300" y="1419225"/>
            <a:ext cx="57150" cy="4448175"/>
          </a:xfrm>
          <a:prstGeom prst="rect">
            <a:avLst/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286750" y="1590675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A1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9–18 MONTHS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86750" y="1838325"/>
            <a:ext cx="33242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Optimize the system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8286750" y="2257425"/>
            <a:ext cx="33242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Cross-surface optimization at scale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8286750" y="28860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477250" y="2752725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Budget via incrementality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8286750" y="31146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477250" y="2981325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Capacity-aware offers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8286750" y="334327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477250" y="3209925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Guarded automation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400050" y="5943600"/>
            <a:ext cx="11391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phase ends with a stop / scale gate owned by a commercial lead.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 a decision fabric—not one-off models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942975"/>
            <a:ext cx="106489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Reusable foundations let new use cases launch in weeks.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18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00050" y="1419225"/>
            <a:ext cx="2714625" cy="4905375"/>
          </a:xfrm>
          <a:prstGeom prst="roundRect">
            <a:avLst>
              <a:gd name="adj" fmla="val 336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00050" y="1419225"/>
            <a:ext cx="57150" cy="4905375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71500" y="1533525"/>
            <a:ext cx="2371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71500" y="1800225"/>
            <a:ext cx="2371725" cy="441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· CRM · support · billing · experiments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114675" y="3862387"/>
            <a:ext cx="171450" cy="190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86125" y="1419225"/>
            <a:ext cx="2714625" cy="4905375"/>
          </a:xfrm>
          <a:prstGeom prst="roundRect">
            <a:avLst>
              <a:gd name="adj" fmla="val 336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86125" y="1419225"/>
            <a:ext cx="57150" cy="4905375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57575" y="1533525"/>
            <a:ext cx="2371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ENTITIES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457575" y="1800225"/>
            <a:ext cx="2371725" cy="441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Identity · catalog · consent · features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000750" y="3862387"/>
            <a:ext cx="171450" cy="190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72200" y="1419225"/>
            <a:ext cx="2714625" cy="4905375"/>
          </a:xfrm>
          <a:prstGeom prst="roundRect">
            <a:avLst>
              <a:gd name="adj" fmla="val 336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72200" y="1419225"/>
            <a:ext cx="57150" cy="4905375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3650" y="1533525"/>
            <a:ext cx="2371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DECISIONS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343650" y="1800225"/>
            <a:ext cx="2371725" cy="441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Propensity · recommend · optimize · guardrails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8886825" y="3862387"/>
            <a:ext cx="171450" cy="190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058275" y="1419225"/>
            <a:ext cx="2714625" cy="4905375"/>
          </a:xfrm>
          <a:prstGeom prst="roundRect">
            <a:avLst>
              <a:gd name="adj" fmla="val 336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058275" y="1419225"/>
            <a:ext cx="57150" cy="4905375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229725" y="1533525"/>
            <a:ext cx="23717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LEARNING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9229725" y="1800225"/>
            <a:ext cx="2371725" cy="441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Activation · holdouts · monitoring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Measure incremental value, not vanity engagement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942975"/>
            <a:ext cx="106489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use case needs a test design before production.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19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00050" y="1419225"/>
            <a:ext cx="11391900" cy="1571625"/>
          </a:xfrm>
          <a:prstGeom prst="roundRect">
            <a:avLst>
              <a:gd name="adj" fmla="val 581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00050" y="1419225"/>
            <a:ext cx="114300" cy="1571625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6750" y="2095500"/>
            <a:ext cx="432892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956810" y="2095500"/>
            <a:ext cx="626554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Relevance · trust · retention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00050" y="3086100"/>
            <a:ext cx="11391900" cy="1571625"/>
          </a:xfrm>
          <a:prstGeom prst="roundRect">
            <a:avLst>
              <a:gd name="adj" fmla="val 581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00050" y="3086100"/>
            <a:ext cx="114300" cy="1571625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6750" y="3762375"/>
            <a:ext cx="432892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956810" y="3762375"/>
            <a:ext cx="626554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Activation · conversion · time-to-value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00050" y="4752975"/>
            <a:ext cx="11391900" cy="1571625"/>
          </a:xfrm>
          <a:prstGeom prst="roundRect">
            <a:avLst>
              <a:gd name="adj" fmla="val 581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00050" y="4752975"/>
            <a:ext cx="114300" cy="1571625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6750" y="5429250"/>
            <a:ext cx="432892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COMMERCIAL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956810" y="5429250"/>
            <a:ext cx="626554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Incremental revenue · margin · LTV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Always-on learning loop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20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866775"/>
            <a:ext cx="5600700" cy="2628900"/>
          </a:xfrm>
          <a:prstGeom prst="roundRect">
            <a:avLst>
              <a:gd name="adj" fmla="val 347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00050" y="866775"/>
            <a:ext cx="57150" cy="26289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1500" y="981075"/>
            <a:ext cx="5257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OBSERVE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71500" y="1247775"/>
            <a:ext cx="52578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Instrument decisions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91250" y="866775"/>
            <a:ext cx="5600700" cy="2628900"/>
          </a:xfrm>
          <a:prstGeom prst="roundRect">
            <a:avLst>
              <a:gd name="adj" fmla="val 347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191250" y="866775"/>
            <a:ext cx="57150" cy="26289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62700" y="981075"/>
            <a:ext cx="5257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HYPOTHESIZE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362700" y="1247775"/>
            <a:ext cx="52578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 the holdout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00050" y="3686175"/>
            <a:ext cx="5600700" cy="2628900"/>
          </a:xfrm>
          <a:prstGeom prst="roundRect">
            <a:avLst>
              <a:gd name="adj" fmla="val 347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" y="3686175"/>
            <a:ext cx="57150" cy="26289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71500" y="3800475"/>
            <a:ext cx="5257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71500" y="4067175"/>
            <a:ext cx="52578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Ship the treatment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191250" y="3686175"/>
            <a:ext cx="5600700" cy="2628900"/>
          </a:xfrm>
          <a:prstGeom prst="roundRect">
            <a:avLst>
              <a:gd name="adj" fmla="val 3478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191250" y="3686175"/>
            <a:ext cx="57150" cy="26289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62700" y="3800475"/>
            <a:ext cx="5257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LEARN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362700" y="4067175"/>
            <a:ext cx="52578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Promote or stop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Capability stack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21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3176826" y="866775"/>
            <a:ext cx="5838349" cy="1304925"/>
          </a:xfrm>
          <a:prstGeom prst="roundRect">
            <a:avLst>
              <a:gd name="adj" fmla="val 7007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291126" y="1423988"/>
            <a:ext cx="560974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Automation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251234" y="2247900"/>
            <a:ext cx="7689533" cy="1304925"/>
          </a:xfrm>
          <a:prstGeom prst="roundRect">
            <a:avLst>
              <a:gd name="adj" fmla="val 7007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365534" y="2805113"/>
            <a:ext cx="746093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Decisions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1325642" y="3629025"/>
            <a:ext cx="9540716" cy="1304925"/>
          </a:xfrm>
          <a:prstGeom prst="roundRect">
            <a:avLst>
              <a:gd name="adj" fmla="val 7007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439942" y="4186238"/>
            <a:ext cx="931211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Features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00050" y="5010150"/>
            <a:ext cx="11391900" cy="1304925"/>
          </a:xfrm>
          <a:prstGeom prst="roundRect">
            <a:avLst>
              <a:gd name="adj" fmla="val 7007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4350" y="5567363"/>
            <a:ext cx="111633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90-day launch milestones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22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90550" y="2190750"/>
            <a:ext cx="11010900" cy="1905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728788" y="2105025"/>
            <a:ext cx="190500" cy="190500"/>
          </a:xfrm>
          <a:prstGeom prst="roundRect">
            <a:avLst>
              <a:gd name="adj" fmla="val 48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76250" y="2466975"/>
            <a:ext cx="2695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 2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76250" y="2714625"/>
            <a:ext cx="269557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Pilot charter signed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6763" y="2105025"/>
            <a:ext cx="190500" cy="190500"/>
          </a:xfrm>
          <a:prstGeom prst="roundRect">
            <a:avLst>
              <a:gd name="adj" fmla="val 48000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24225" y="2466975"/>
            <a:ext cx="2695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 5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324225" y="2714625"/>
            <a:ext cx="269557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Features + holdout live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7424737" y="2105025"/>
            <a:ext cx="190500" cy="190500"/>
          </a:xfrm>
          <a:prstGeom prst="roundRect">
            <a:avLst>
              <a:gd name="adj" fmla="val 48000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72200" y="2466975"/>
            <a:ext cx="2695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 8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172200" y="2714625"/>
            <a:ext cx="269557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First readout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0272713" y="2105025"/>
            <a:ext cx="190500" cy="190500"/>
          </a:xfrm>
          <a:prstGeom prst="roundRect">
            <a:avLst>
              <a:gd name="adj" fmla="val 48000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020175" y="2466975"/>
            <a:ext cx="2695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 12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020175" y="2714625"/>
            <a:ext cx="269557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 / stop gate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signal to scaled decision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23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866775"/>
            <a:ext cx="11391900" cy="1285875"/>
          </a:xfrm>
          <a:prstGeom prst="roundRect">
            <a:avLst>
              <a:gd name="adj" fmla="val 7111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52450" y="1404938"/>
            <a:ext cx="11087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Raw events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969645" y="2247900"/>
            <a:ext cx="10252710" cy="1285875"/>
          </a:xfrm>
          <a:prstGeom prst="roundRect">
            <a:avLst>
              <a:gd name="adj" fmla="val 7111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122045" y="2786063"/>
            <a:ext cx="9947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Trusted features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539240" y="3629025"/>
            <a:ext cx="9113520" cy="1285875"/>
          </a:xfrm>
          <a:prstGeom prst="roundRect">
            <a:avLst>
              <a:gd name="adj" fmla="val 7111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691640" y="4167188"/>
            <a:ext cx="880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Scored actions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108835" y="5010150"/>
            <a:ext cx="7974330" cy="1285875"/>
          </a:xfrm>
          <a:prstGeom prst="roundRect">
            <a:avLst>
              <a:gd name="adj" fmla="val 7111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261235" y="5548313"/>
            <a:ext cx="76695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Measured lift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Ownership for the 90-day squad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24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45458" y="942975"/>
            <a:ext cx="4101084" cy="838200"/>
          </a:xfrm>
          <a:prstGeom prst="roundRect">
            <a:avLst>
              <a:gd name="adj" fmla="val 1090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045458" y="942975"/>
            <a:ext cx="57150" cy="8382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216908" y="1057275"/>
            <a:ext cx="37581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COMMERCIAL OWNER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81713" y="1781175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52600" y="2109788"/>
            <a:ext cx="8686800" cy="28575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38313" y="2124075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33913" y="2124075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529513" y="2124075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425113" y="2124075"/>
            <a:ext cx="28575" cy="342900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" y="2466975"/>
            <a:ext cx="2705100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00050" y="2466975"/>
            <a:ext cx="57150" cy="104775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71500" y="2581275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295650" y="2466975"/>
            <a:ext cx="2705100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295650" y="2466975"/>
            <a:ext cx="57150" cy="104775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467100" y="2581275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GROWTH / CRM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191250" y="2466975"/>
            <a:ext cx="2705100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191250" y="2466975"/>
            <a:ext cx="57150" cy="104775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62700" y="2581275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SCIENCE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9086850" y="2466975"/>
            <a:ext cx="2705100" cy="1047750"/>
          </a:xfrm>
          <a:prstGeom prst="roundRect">
            <a:avLst>
              <a:gd name="adj" fmla="val 872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086850" y="2466975"/>
            <a:ext cx="57150" cy="104775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258300" y="2581275"/>
            <a:ext cx="2362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MEASUREMENT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Impact × effort for the next backlog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25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1352550" y="866775"/>
            <a:ext cx="10058400" cy="5457825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698206" y="866775"/>
            <a:ext cx="14288" cy="5457825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52550" y="2678906"/>
            <a:ext cx="10058400" cy="14288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051006" y="866775"/>
            <a:ext cx="14288" cy="5457825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52550" y="4498181"/>
            <a:ext cx="10058400" cy="14288"/>
          </a:xfrm>
          <a:prstGeom prst="rect">
            <a:avLst/>
          </a:prstGeom>
          <a:solidFill>
            <a:srgbClr val="3A3A5C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05075" y="1633538"/>
            <a:ext cx="1047750" cy="285750"/>
          </a:xfrm>
          <a:prstGeom prst="roundRect">
            <a:avLst>
              <a:gd name="adj" fmla="val 32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581275" y="1690688"/>
            <a:ext cx="8953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Taxonomy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9210675" y="1633538"/>
            <a:ext cx="1047750" cy="285750"/>
          </a:xfrm>
          <a:prstGeom prst="roundRect">
            <a:avLst>
              <a:gd name="adj" fmla="val 32000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286875" y="1690688"/>
            <a:ext cx="8953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Reactivation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857875" y="3452813"/>
            <a:ext cx="1047750" cy="285750"/>
          </a:xfrm>
          <a:prstGeom prst="roundRect">
            <a:avLst>
              <a:gd name="adj" fmla="val 32000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934075" y="3509963"/>
            <a:ext cx="8953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NBA service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210675" y="5272088"/>
            <a:ext cx="1047750" cy="285750"/>
          </a:xfrm>
          <a:prstGeom prst="roundRect">
            <a:avLst>
              <a:gd name="adj" fmla="val 32000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286875" y="5329238"/>
            <a:ext cx="8953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Auto-budget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learning is slow today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26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387215" y="866775"/>
            <a:ext cx="3417570" cy="762000"/>
          </a:xfrm>
          <a:prstGeom prst="roundRect">
            <a:avLst>
              <a:gd name="adj" fmla="val 12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387215" y="866775"/>
            <a:ext cx="57150" cy="7620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558665" y="981075"/>
            <a:ext cx="30746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SLOW LEARNING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 flipH="1">
            <a:off x="2238375" y="1628775"/>
            <a:ext cx="3857625" cy="762000"/>
          </a:xfrm>
          <a:prstGeom prst="line">
            <a:avLst/>
          </a:prstGeom>
          <a:noFill/>
          <a:ln w="1905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10" name="Shape 7"/>
          <p:cNvSpPr/>
          <p:nvPr/>
        </p:nvSpPr>
        <p:spPr>
          <a:xfrm>
            <a:off x="400050" y="2390775"/>
            <a:ext cx="3676650" cy="3933825"/>
          </a:xfrm>
          <a:prstGeom prst="roundRect">
            <a:avLst>
              <a:gd name="adj" fmla="val 248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00050" y="2390775"/>
            <a:ext cx="57150" cy="3933825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71500" y="2505075"/>
            <a:ext cx="3333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FRAGMENTED IDENTITY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 flipH="1">
            <a:off x="6086475" y="1628775"/>
            <a:ext cx="9525" cy="762000"/>
          </a:xfrm>
          <a:prstGeom prst="line">
            <a:avLst/>
          </a:prstGeom>
          <a:noFill/>
          <a:ln w="1905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14" name="Shape 11"/>
          <p:cNvSpPr/>
          <p:nvPr/>
        </p:nvSpPr>
        <p:spPr>
          <a:xfrm>
            <a:off x="4248150" y="2390775"/>
            <a:ext cx="3676650" cy="3933825"/>
          </a:xfrm>
          <a:prstGeom prst="roundRect">
            <a:avLst>
              <a:gd name="adj" fmla="val 248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248150" y="2390775"/>
            <a:ext cx="57150" cy="3933825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419600" y="2505075"/>
            <a:ext cx="3333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HOLDOUT DESIGN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96000" y="1628775"/>
            <a:ext cx="3838575" cy="762000"/>
          </a:xfrm>
          <a:prstGeom prst="line">
            <a:avLst/>
          </a:prstGeom>
          <a:noFill/>
          <a:ln w="19050">
            <a:solidFill>
              <a:srgbClr val="3A3A5C"/>
            </a:solidFill>
            <a:prstDash val="solid"/>
            <a:headEnd type="none"/>
            <a:tailEnd type="none"/>
          </a:ln>
        </p:spPr>
      </p:sp>
      <p:sp>
        <p:nvSpPr>
          <p:cNvPr id="18" name="Shape 15"/>
          <p:cNvSpPr/>
          <p:nvPr/>
        </p:nvSpPr>
        <p:spPr>
          <a:xfrm>
            <a:off x="8096250" y="2390775"/>
            <a:ext cx="3676650" cy="3933825"/>
          </a:xfrm>
          <a:prstGeom prst="roundRect">
            <a:avLst>
              <a:gd name="adj" fmla="val 248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96250" y="2390775"/>
            <a:ext cx="57150" cy="3933825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67700" y="2505075"/>
            <a:ext cx="3333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LOCAL KPI OPTIMIZATION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dashboard debt to decision system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27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866775"/>
            <a:ext cx="3638550" cy="5457825"/>
          </a:xfrm>
          <a:prstGeom prst="roundRect">
            <a:avLst>
              <a:gd name="adj" fmla="val 251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00050" y="866775"/>
            <a:ext cx="57150" cy="5457825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1500" y="981075"/>
            <a:ext cx="3295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057650" y="3424238"/>
            <a:ext cx="19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4267200" y="866775"/>
            <a:ext cx="3638550" cy="5457825"/>
          </a:xfrm>
          <a:prstGeom prst="roundRect">
            <a:avLst>
              <a:gd name="adj" fmla="val 251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67200" y="866775"/>
            <a:ext cx="57150" cy="5457825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38650" y="981075"/>
            <a:ext cx="3295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DRIVERS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438650" y="1247775"/>
            <a:ext cx="3295650" cy="4962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Today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Fix identity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Shared features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Holdouts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Target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924800" y="3424238"/>
            <a:ext cx="19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8134350" y="866775"/>
            <a:ext cx="3638550" cy="5457825"/>
          </a:xfrm>
          <a:prstGeom prst="roundRect">
            <a:avLst>
              <a:gd name="adj" fmla="val 251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34350" y="866775"/>
            <a:ext cx="57150" cy="5457825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05800" y="981075"/>
            <a:ext cx="3295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Channel mix still under-indexes in-product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28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866775"/>
            <a:ext cx="7058025" cy="5457825"/>
          </a:xfrm>
          <a:prstGeom prst="roundRect">
            <a:avLst>
              <a:gd name="adj" fmla="val 1675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pic>
        <p:nvPicPr>
          <p:cNvPr id="7" name="Image 1" descr="/Users/dpadmana/projects/ppt-gen/assets/plots/channels-99f91be3d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2066925"/>
            <a:ext cx="6753225" cy="30670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43825" y="866775"/>
            <a:ext cx="4048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KEY INSIGHTS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743825" y="13811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934325" y="1209675"/>
            <a:ext cx="38576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In-product is only 8% share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743825" y="18383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34325" y="1666875"/>
            <a:ext cx="38576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NPS is highest in-app (55)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743825" y="22955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934325" y="2124075"/>
            <a:ext cx="38576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Shift next pilots to product surfaces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Operating model shift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29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866775"/>
            <a:ext cx="5695950" cy="5457825"/>
          </a:xfrm>
          <a:prstGeom prst="roundRect">
            <a:avLst>
              <a:gd name="adj" fmla="val 1675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00050" y="866775"/>
            <a:ext cx="57150" cy="5457825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1500" y="981075"/>
            <a:ext cx="5353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BEFORE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71500" y="1247775"/>
            <a:ext cx="5353050" cy="4962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Dashboard reviews without owners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71500" y="6000750"/>
            <a:ext cx="5353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BEFORE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953250" y="866775"/>
            <a:ext cx="4838700" cy="5457825"/>
          </a:xfrm>
          <a:prstGeom prst="roundRect">
            <a:avLst>
              <a:gd name="adj" fmla="val 189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953250" y="866775"/>
            <a:ext cx="57150" cy="5457825"/>
          </a:xfrm>
          <a:prstGeom prst="rect">
            <a:avLst/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24700" y="981075"/>
            <a:ext cx="4495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A1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AFTER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124700" y="1247775"/>
            <a:ext cx="4495800" cy="4962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Decision squads with stop/scale gates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124700" y="6000750"/>
            <a:ext cx="4495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A1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AFTER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334125" y="3367088"/>
            <a:ext cx="381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3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 with a 90-day launch team that can ship and learn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942975"/>
            <a:ext cx="106489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Keep accountability close to commercial owners.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30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905000" y="1419225"/>
            <a:ext cx="31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1–3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226050" y="1419225"/>
            <a:ext cx="31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4–7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547100" y="1419225"/>
            <a:ext cx="31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8–12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00050" y="1762125"/>
            <a:ext cx="1257300" cy="836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1828800" y="1762125"/>
            <a:ext cx="9963150" cy="836295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00050" y="2674620"/>
            <a:ext cx="1257300" cy="836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Growth / CRM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1828800" y="2674620"/>
            <a:ext cx="9963150" cy="836295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00050" y="3587115"/>
            <a:ext cx="1257300" cy="836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science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1828800" y="3587115"/>
            <a:ext cx="9963150" cy="836295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00050" y="4499610"/>
            <a:ext cx="1257300" cy="836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engineering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1828800" y="4499610"/>
            <a:ext cx="9963150" cy="836295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00050" y="5412105"/>
            <a:ext cx="1257300" cy="836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Finance / measure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1828800" y="5412105"/>
            <a:ext cx="9963150" cy="836295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924050" y="1989773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000250" y="1989773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Pilot charter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1924050" y="2902268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000250" y="2902268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Activation design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245100" y="3814763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21300" y="3814763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Model + rules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245100" y="4727257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321300" y="4727257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Feature set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566150" y="5639753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642350" y="5639753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Readout + scale gate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457200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DECISION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00050" y="1143000"/>
            <a:ext cx="9525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Invest in a decision system—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 isolated dashboards.</a:t>
            </a:r>
            <a:endParaRPr lang="en-US" sz="4000" dirty="0"/>
          </a:p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00050" y="2781300"/>
            <a:ext cx="857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 with two connected use cases that move retention and learning speed.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000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00050" y="4000500"/>
            <a:ext cx="57150" cy="11430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1500" y="41148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 CHOOSE PILOTS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71500" y="4362450"/>
            <a:ext cx="31051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High-frequency decisions with clear owners.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1719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71950" y="4000500"/>
            <a:ext cx="57150" cy="11430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43400" y="41148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2. PROVE INCREMENTALITY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343400" y="4362450"/>
            <a:ext cx="31051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Holdouts and margin-aware readouts.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9438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943850" y="4000500"/>
            <a:ext cx="57150" cy="11430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15300" y="41148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3. SCALE THE FABRIC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115300" y="4362450"/>
            <a:ext cx="31051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Reuse identity, features and activation.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00050" y="5619750"/>
            <a:ext cx="1047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step: convene the 90-day squad and pick the first two decisions.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Product data roadmap</dc:title>
  <dc:subject>PptxGenJS Presentation</dc:subject>
  <dc:creator>ppt-gen</dc:creator>
  <cp:lastModifiedBy>ppt-gen</cp:lastModifiedBy>
  <cp:revision>1</cp:revision>
  <dcterms:created xsi:type="dcterms:W3CDTF">2026-09-27T06:56:53Z</dcterms:created>
  <dcterms:modified xsi:type="dcterms:W3CDTF">2026-09-27T06:56:53Z</dcterms:modified>
</cp:coreProperties>
</file>