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Q1 Results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review — generated by ppt-gen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trend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plots/quarterly-a71686759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grew 12% YoY in the latest quarter.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Regional breakdown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2514600"/>
          </a:xfrm>
          <a:prstGeom prst="roundRect">
            <a:avLst>
              <a:gd name="adj" fmla="val 363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region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revenue_m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growth_pct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North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12.4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11.2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8.7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9.5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Asia Pacific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14.8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2.3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by region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plots/regions-35f3d0c5f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Asia Pacific leads on growth; North America still carries the revenue base.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3009900"/>
          </a:xfrm>
          <a:prstGeom prst="roundRect">
            <a:avLst>
              <a:gd name="adj" fmla="val 303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channel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share_pct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nps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Web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Mobile app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Email / CRM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Partners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In-product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Pipeline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23950"/>
            <a:ext cx="11010900" cy="3800475"/>
          </a:xfrm>
          <a:prstGeom prst="roundRect">
            <a:avLst>
              <a:gd name="adj" fmla="val 240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6" name="Image 0" descr="/Users/dpadmana/projects/ppt-gen/assets/diagram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1314450"/>
            <a:ext cx="10629900" cy="34194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rate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discrete update behind our experiment cadence: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428750"/>
            <a:ext cx="11010900" cy="2095500"/>
          </a:xfrm>
          <a:prstGeom prst="roundRect">
            <a:avLst>
              <a:gd name="adj" fmla="val 43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0" descr="/Users/dpadmana/projects/ppt-gen/assets/math/math-4a1d9c0557f4f3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4325" y="1619250"/>
            <a:ext cx="3571875" cy="17145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00050" y="3695700"/>
            <a:ext cx="11010900" cy="1171575"/>
          </a:xfrm>
          <a:prstGeom prst="roundRect">
            <a:avLst>
              <a:gd name="adj" fmla="val 780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9" name="Image 1" descr="/Users/dpadmana/projects/ppt-gen/assets/math/math-c5585b69899301a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7325" y="3886200"/>
            <a:ext cx="1285875" cy="79057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90550" y="5038725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keep  honest.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209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550" y="1123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Unified theme drives Marp CSS, plots, and diagrams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0050" y="1590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550" y="1504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Layout catalog shares tokens, fit engine, and markdown source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00050" y="1971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0550" y="1885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this file and run `npm run build:constructs` or `npm run build:pdf`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143000"/>
            <a:ext cx="72390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practical roadmap
for product analytics
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00050" y="3429000"/>
            <a:ext cx="685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Connect discovery, delivery and measurement into one learning system over 12–18 months.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38150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6250" y="443865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00050" y="48768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product, data and engineering leaders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24875" y="9525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10750" y="8572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15625" y="15240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58250" y="2333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01250" y="261937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58500" y="3476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63000" y="4238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06000" y="48577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8829675" y="1162050"/>
            <a:ext cx="1285875" cy="95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0115550" y="1162050"/>
            <a:ext cx="904875" cy="666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63050" y="2638425"/>
            <a:ext cx="1143000" cy="285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0306050" y="2924175"/>
            <a:ext cx="857250" cy="857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067800" y="4543425"/>
            <a:ext cx="1143000" cy="619125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8305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583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210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524000" y="219075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Argument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524000" y="3381375"/>
            <a:ext cx="914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fragmented signals to a decision fabric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release should make the next decision sharper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Move from fragmented metrics to a shared decision fabric.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5695950" cy="4876800"/>
          </a:xfrm>
          <a:prstGeom prst="roundRect">
            <a:avLst>
              <a:gd name="adj" fmla="val 187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447800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0" y="1676400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9600" y="1971675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 live in silos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09600" y="2733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" y="26479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Product, growth and support dashboards disagree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9600" y="3267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" y="31813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Experiments optimize local KPIs, not portfolio outcomes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09600" y="3800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0100" y="3714750"/>
            <a:ext cx="5086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 bets lack a shared measurement design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24600" y="1447800"/>
            <a:ext cx="5467350" cy="4876800"/>
          </a:xfrm>
          <a:prstGeom prst="roundRect">
            <a:avLst>
              <a:gd name="adj" fmla="val 187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24600" y="1447800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4150" y="1676400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4150" y="1971675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decision loop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534150" y="2733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4650" y="26479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identity and event taxonomy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4150" y="3267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4650" y="31813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action for surface and lifecycle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534150" y="38004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4650" y="371475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Incrementality tied to retention and margin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use cases that compound across the journey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where decisions are frequent, measurable and owned.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2705100" cy="48768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447800"/>
            <a:ext cx="57150" cy="48768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1500" y="16002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1500" y="1866900"/>
            <a:ext cx="2362200" cy="430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 insight · Opportunity sizing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95650" y="1447800"/>
            <a:ext cx="2705100" cy="48768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5650" y="1447800"/>
            <a:ext cx="57150" cy="48768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67100" y="16002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CONSIDER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67100" y="1866900"/>
            <a:ext cx="2362200" cy="430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Personalized content · Fit / intent scoring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191250" y="1447800"/>
            <a:ext cx="2705100" cy="48768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1250" y="1447800"/>
            <a:ext cx="57150" cy="48768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62700" y="16002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62700" y="1866900"/>
            <a:ext cx="2362200" cy="430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 · In-product guidance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086850" y="1447800"/>
            <a:ext cx="2705100" cy="4876800"/>
          </a:xfrm>
          <a:prstGeom prst="roundRect">
            <a:avLst>
              <a:gd name="adj" fmla="val 338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86850" y="1447800"/>
            <a:ext cx="57150" cy="48768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58300" y="16002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58300" y="1866900"/>
            <a:ext cx="2362200" cy="430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Churn early warning · Expansion plays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outcomes in the first 90 days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Directional readouts from the reactivation squad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245745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2457450"/>
            <a:ext cx="267652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550" y="270510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LIFT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0550" y="310515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+9%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0550" y="476250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reactivation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05175" y="245745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05175" y="2457450"/>
            <a:ext cx="2676525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95675" y="270510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95675" y="310515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11d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95675" y="476250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Idea → live holdout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0300" y="245745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300" y="2457450"/>
            <a:ext cx="2676525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70510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COVERAGE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310515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64%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400800" y="476250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Identified journeys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9115425" y="2457450"/>
            <a:ext cx="2676525" cy="2857500"/>
          </a:xfrm>
          <a:prstGeom prst="roundRect">
            <a:avLst>
              <a:gd name="adj" fmla="val 341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15425" y="2457450"/>
            <a:ext cx="2676525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05925" y="2705100"/>
            <a:ext cx="22955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WASTE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305925" y="3105150"/>
            <a:ext cx="2295525" cy="152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−18%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9305925" y="4762500"/>
            <a:ext cx="2295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Low-margin offers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concentration still favors NA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is elsewhere — sequence capacity accordingly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5335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550" y="1447800"/>
            <a:ext cx="5048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North America is 42% of revenue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00050" y="2066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550" y="1981200"/>
            <a:ext cx="5048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Asia Pacific leads growth at 14.8%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0050" y="2600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0550" y="2514600"/>
            <a:ext cx="5048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still web-heavy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1447800"/>
            <a:ext cx="5848350" cy="4876800"/>
          </a:xfrm>
          <a:prstGeom prst="roundRect">
            <a:avLst>
              <a:gd name="adj" fmla="val 1875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13" name="Image 0" descr="/Users/dpadmana/projects/ppt-gen/assets/plots/regions-35f3d0c5f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2628900"/>
            <a:ext cx="5543550" cy="25241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 is overweight in question marks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Rebalance toward proven retention plays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43050" y="1562100"/>
            <a:ext cx="4933950" cy="2057400"/>
          </a:xfrm>
          <a:prstGeom prst="roundRect">
            <a:avLst>
              <a:gd name="adj" fmla="val 444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72250" y="1562100"/>
            <a:ext cx="4933950" cy="2057400"/>
          </a:xfrm>
          <a:prstGeom prst="roundRect">
            <a:avLst>
              <a:gd name="adj" fmla="val 444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43050" y="3714750"/>
            <a:ext cx="4933950" cy="2057400"/>
          </a:xfrm>
          <a:prstGeom prst="roundRect">
            <a:avLst>
              <a:gd name="adj" fmla="val 444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72250" y="3714750"/>
            <a:ext cx="4933950" cy="2057400"/>
          </a:xfrm>
          <a:prstGeom prst="roundRect">
            <a:avLst>
              <a:gd name="adj" fmla="val 4444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050" y="1562100"/>
            <a:ext cx="1047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value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43050" y="5924550"/>
            <a:ext cx="99631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Relative capability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5450" y="16954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24650" y="169545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5450" y="38481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24650" y="3848100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695450" y="19812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09750" y="19812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724650" y="198120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8950" y="198120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Reactivation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695450" y="41338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09750" y="41338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Vanity NPS dash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724650" y="4133850"/>
            <a:ext cx="4629150" cy="381000"/>
          </a:xfrm>
          <a:prstGeom prst="roundRect">
            <a:avLst>
              <a:gd name="adj" fmla="val 24000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38950" y="4133850"/>
            <a:ext cx="4400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Taxonomy MVP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Sequence: prove the signal, scale decisions, then optimize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ships a production decision and a measurement design.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3667125" cy="441960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447800"/>
            <a:ext cx="57150" cy="44196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1500" y="16192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0–90 DAYS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1500" y="1866900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 the signal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71500" y="2286000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Identity, baseline, 2–3 pilot use cases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1500" y="28670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2000" y="27813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 taxonomy MVP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71500" y="30956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2000" y="30099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 baseline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1500" y="33242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32385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[object Object]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257675" y="1447800"/>
            <a:ext cx="3667125" cy="441960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57675" y="1447800"/>
            <a:ext cx="57150" cy="44196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29125" y="16192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29125" y="1866900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the decisions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429125" y="2286000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models and activation paths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429125" y="28670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9625" y="27813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Next-best-action service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429125" y="30956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9625" y="30099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CRM + in-product hooks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429125" y="33242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19625" y="32385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test engine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115300" y="1447800"/>
            <a:ext cx="3667125" cy="4419600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15300" y="1447800"/>
            <a:ext cx="57150" cy="4419600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86750" y="1619250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86750" y="1866900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 the system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286750" y="2286000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Cross-surface optimization at scale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8286750" y="28670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477250" y="27813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Budget via incrementality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286750" y="30956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77250" y="30099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Capacity-aware offers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286750" y="33242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77250" y="3238500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Guarded automation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00050" y="5943600"/>
            <a:ext cx="11391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ends with a stop / scale gate owned by a commercial lead.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a decision fabric—not one-off models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foundations let new use cases launch in weeks.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2714625" cy="48768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447800"/>
            <a:ext cx="57150" cy="48768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1500" y="16002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1500" y="1866900"/>
            <a:ext cx="2371725" cy="430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· CRM · support · billing · experiments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114675" y="387667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6125" y="1447800"/>
            <a:ext cx="2714625" cy="48768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86125" y="1447800"/>
            <a:ext cx="57150" cy="48768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7575" y="16002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ENTITIES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57575" y="1866900"/>
            <a:ext cx="2371725" cy="430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· catalog · consent · features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000750" y="387667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1447800"/>
            <a:ext cx="2714625" cy="48768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1447800"/>
            <a:ext cx="57150" cy="48768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3650" y="16002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43650" y="1866900"/>
            <a:ext cx="2371725" cy="430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Propensity · recommend · optimize · guardrails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886825" y="3876675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058275" y="1447800"/>
            <a:ext cx="2714625" cy="4876800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58275" y="1447800"/>
            <a:ext cx="57150" cy="48768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29725" y="1600200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229725" y="1866900"/>
            <a:ext cx="2371725" cy="430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holdouts · monitoring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 incremental value, not vanity engagement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use case needs a test design before production.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447800"/>
            <a:ext cx="11391900" cy="1562100"/>
          </a:xfrm>
          <a:prstGeom prst="roundRect">
            <a:avLst>
              <a:gd name="adj" fmla="val 585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447800"/>
            <a:ext cx="114300" cy="15621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850" y="156210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184648" y="157162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Relevance · trust · retention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00050" y="3105150"/>
            <a:ext cx="11391900" cy="1562100"/>
          </a:xfrm>
          <a:prstGeom prst="roundRect">
            <a:avLst>
              <a:gd name="adj" fmla="val 585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0050" y="3105150"/>
            <a:ext cx="114300" cy="15621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850" y="321945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84648" y="322897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conversion · time-to-value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00050" y="4762500"/>
            <a:ext cx="11391900" cy="1562100"/>
          </a:xfrm>
          <a:prstGeom prst="roundRect">
            <a:avLst>
              <a:gd name="adj" fmla="val 585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" y="4762500"/>
            <a:ext cx="114300" cy="15621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850" y="4876800"/>
            <a:ext cx="51263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84648" y="4886325"/>
            <a:ext cx="59237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revenue · margin · LTV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learning loop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5600700" cy="2476500"/>
          </a:xfrm>
          <a:prstGeom prst="roundRect">
            <a:avLst>
              <a:gd name="adj" fmla="val 369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57150" cy="2476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1333500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OBSERVE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160020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Instrument decisions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191250" y="1181100"/>
            <a:ext cx="5600700" cy="2476500"/>
          </a:xfrm>
          <a:prstGeom prst="roundRect">
            <a:avLst>
              <a:gd name="adj" fmla="val 369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1250" y="1181100"/>
            <a:ext cx="57150" cy="2476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2700" y="1333500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HYPOTHESIZE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62700" y="160020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the holdout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00050" y="3848100"/>
            <a:ext cx="5600700" cy="2476500"/>
          </a:xfrm>
          <a:prstGeom prst="roundRect">
            <a:avLst>
              <a:gd name="adj" fmla="val 369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050" y="3848100"/>
            <a:ext cx="57150" cy="2476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1500" y="4000500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71500" y="426720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 the treatment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191250" y="3848100"/>
            <a:ext cx="5600700" cy="2476500"/>
          </a:xfrm>
          <a:prstGeom prst="roundRect">
            <a:avLst>
              <a:gd name="adj" fmla="val 369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91250" y="3848100"/>
            <a:ext cx="57150" cy="24765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2700" y="4000500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62700" y="4267200"/>
            <a:ext cx="52578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Promote or stop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Capability stack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176826" y="1181100"/>
            <a:ext cx="5838349" cy="1228725"/>
          </a:xfrm>
          <a:prstGeom prst="roundRect">
            <a:avLst>
              <a:gd name="adj" fmla="val 7442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91126" y="1700213"/>
            <a:ext cx="5609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251234" y="2486025"/>
            <a:ext cx="7689533" cy="1228725"/>
          </a:xfrm>
          <a:prstGeom prst="roundRect">
            <a:avLst>
              <a:gd name="adj" fmla="val 7442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65534" y="3005138"/>
            <a:ext cx="746093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25642" y="3790950"/>
            <a:ext cx="9540716" cy="1228725"/>
          </a:xfrm>
          <a:prstGeom prst="roundRect">
            <a:avLst>
              <a:gd name="adj" fmla="val 7442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39942" y="4310063"/>
            <a:ext cx="9312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00050" y="5095875"/>
            <a:ext cx="11391900" cy="1228725"/>
          </a:xfrm>
          <a:prstGeom prst="roundRect">
            <a:avLst>
              <a:gd name="adj" fmla="val 7442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4350" y="5614988"/>
            <a:ext cx="111633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90-day launch milestones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0550" y="2505075"/>
            <a:ext cx="1101090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28788" y="2419350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6250" y="2781300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6250" y="3028950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 signed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6763" y="2419350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24225" y="2781300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24225" y="3028950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Features + holdout live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424737" y="2419350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2781300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72200" y="3028950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readout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272713" y="2419350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20175" y="2781300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12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020175" y="3028950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/ stop gate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signal to scaled decision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11391900" cy="1209675"/>
          </a:xfrm>
          <a:prstGeom prst="roundRect">
            <a:avLst>
              <a:gd name="adj" fmla="val 755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52450" y="1681163"/>
            <a:ext cx="1108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Raw events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69645" y="2486025"/>
            <a:ext cx="10252710" cy="1209675"/>
          </a:xfrm>
          <a:prstGeom prst="roundRect">
            <a:avLst>
              <a:gd name="adj" fmla="val 7559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2045" y="2986088"/>
            <a:ext cx="9947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Trusted features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539240" y="3790950"/>
            <a:ext cx="9113520" cy="1209675"/>
          </a:xfrm>
          <a:prstGeom prst="roundRect">
            <a:avLst>
              <a:gd name="adj" fmla="val 7559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91640" y="4291013"/>
            <a:ext cx="880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Scored actions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08835" y="5095875"/>
            <a:ext cx="7974330" cy="1209675"/>
          </a:xfrm>
          <a:prstGeom prst="roundRect">
            <a:avLst>
              <a:gd name="adj" fmla="val 755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61235" y="5595938"/>
            <a:ext cx="7669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Measured lift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Ownership for the 90-day squad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45458" y="1257300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45458" y="1257300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16908" y="1409700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 OWNER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081713" y="20955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2600" y="2424113"/>
            <a:ext cx="868680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8313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33913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29513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425113" y="2438400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050" y="278130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" y="2781300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" y="29337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5650" y="278130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5650" y="2781300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67100" y="29337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91250" y="278130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1250" y="2781300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62700" y="29337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86850" y="2781300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86850" y="2781300"/>
            <a:ext cx="57150" cy="10477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58300" y="2933700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 × effort for the next backlog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352550" y="1181100"/>
            <a:ext cx="10058400" cy="514350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98206" y="1181100"/>
            <a:ext cx="14288" cy="51435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2550" y="2888456"/>
            <a:ext cx="100584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51006" y="1181100"/>
            <a:ext cx="14288" cy="51435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52550" y="4602956"/>
            <a:ext cx="100584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05075" y="1895475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1275" y="1952625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Taxonomy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210675" y="1895475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6875" y="1952625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7875" y="3609975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34075" y="3667125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NBA service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10675" y="5324475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6875" y="5381625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Auto-budget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learning is slow today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387215" y="1181100"/>
            <a:ext cx="3417570" cy="762000"/>
          </a:xfrm>
          <a:prstGeom prst="roundRect">
            <a:avLst>
              <a:gd name="adj" fmla="val 12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7215" y="1181100"/>
            <a:ext cx="57150" cy="762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58665" y="1333500"/>
            <a:ext cx="30746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SLOW LEARNING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 flipH="1">
            <a:off x="2238375" y="1943100"/>
            <a:ext cx="385762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400050" y="2705100"/>
            <a:ext cx="3676650" cy="3619500"/>
          </a:xfrm>
          <a:prstGeom prst="roundRect">
            <a:avLst>
              <a:gd name="adj" fmla="val 252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0050" y="2705100"/>
            <a:ext cx="57150" cy="3619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" y="2857500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FRAGMENTED IDENTITY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flipH="1">
            <a:off x="6086475" y="1943100"/>
            <a:ext cx="952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4248150" y="2705100"/>
            <a:ext cx="3676650" cy="3619500"/>
          </a:xfrm>
          <a:prstGeom prst="roundRect">
            <a:avLst>
              <a:gd name="adj" fmla="val 252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48150" y="2705100"/>
            <a:ext cx="57150" cy="3619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19600" y="2857500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HOLDOUT DESIGN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96000" y="1943100"/>
            <a:ext cx="383857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8096250" y="2705100"/>
            <a:ext cx="3676650" cy="3619500"/>
          </a:xfrm>
          <a:prstGeom prst="roundRect">
            <a:avLst>
              <a:gd name="adj" fmla="val 252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6250" y="2705100"/>
            <a:ext cx="57150" cy="3619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67700" y="2857500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 KPI OPTIMIZATION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dashboard debt to decision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3638550" cy="5143500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57150" cy="514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1333500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57650" y="3581400"/>
            <a:ext cx="19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67200" y="1181100"/>
            <a:ext cx="3638550" cy="5143500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7200" y="1181100"/>
            <a:ext cx="57150" cy="514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8650" y="1333500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DRIVERS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38650" y="1600200"/>
            <a:ext cx="329565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 identity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features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924800" y="3581400"/>
            <a:ext cx="19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134350" y="1181100"/>
            <a:ext cx="3638550" cy="5143500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4350" y="1181100"/>
            <a:ext cx="57150" cy="514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5800" y="1333500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still under-indexes in-product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7058025" cy="5143500"/>
          </a:xfrm>
          <a:prstGeom prst="roundRect">
            <a:avLst>
              <a:gd name="adj" fmla="val 1778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6" name="Image 0" descr="/Users/dpadmana/projects/ppt-gen/assets/plots/channels-3550bf60b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50" y="2219325"/>
            <a:ext cx="6753225" cy="30670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43825" y="1181100"/>
            <a:ext cx="4048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43825" y="16097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34325" y="152400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In-product is only 8% share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43825" y="2143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34325" y="205740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NPS is highest in-app (55)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743825" y="26765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934325" y="2590800"/>
            <a:ext cx="38576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Shift next pilots to product surfaces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Operating model shift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050" y="1181100"/>
            <a:ext cx="5695950" cy="5143500"/>
          </a:xfrm>
          <a:prstGeom prst="roundRect">
            <a:avLst>
              <a:gd name="adj" fmla="val 177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1181100"/>
            <a:ext cx="57150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1333500"/>
            <a:ext cx="5353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1600200"/>
            <a:ext cx="535305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Dashboard reviews without owners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71500" y="6000750"/>
            <a:ext cx="5353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953250" y="1181100"/>
            <a:ext cx="4838700" cy="5143500"/>
          </a:xfrm>
          <a:prstGeom prst="roundRect">
            <a:avLst>
              <a:gd name="adj" fmla="val 189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3250" y="1181100"/>
            <a:ext cx="57150" cy="5143500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24700" y="1333500"/>
            <a:ext cx="4495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24700" y="1600200"/>
            <a:ext cx="4495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squads with stop/scale gates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24700" y="6000750"/>
            <a:ext cx="4495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34125" y="3524250"/>
            <a:ext cx="38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3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04800"/>
            <a:ext cx="1104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a 90-day launch team that can ship and learn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8572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accountability close to commercial owners.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29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905000" y="14478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226050" y="14478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4–7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47100" y="1447800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8–12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0050" y="1790700"/>
            <a:ext cx="125730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828800" y="1790700"/>
            <a:ext cx="9963150" cy="83058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0050" y="2697480"/>
            <a:ext cx="125730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28800" y="2697480"/>
            <a:ext cx="9963150" cy="83058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0050" y="3604260"/>
            <a:ext cx="125730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828800" y="3604260"/>
            <a:ext cx="9963150" cy="83058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0050" y="4511040"/>
            <a:ext cx="125730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engineering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828800" y="4511040"/>
            <a:ext cx="9963150" cy="830580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0050" y="5417820"/>
            <a:ext cx="125730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 / measure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0" y="5417820"/>
            <a:ext cx="9963150" cy="830580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24050" y="201549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00250" y="201549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924050" y="292227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00250" y="292227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design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45100" y="382905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21300" y="382905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+ rules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245100" y="473583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321300" y="473583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 set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566150" y="5642610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42350" y="5642610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Readout + scale gate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Invest in a decision system—
not isolated dashboards.
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two connected use cases that move retention and learning speed.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15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CHOOSE PILOTS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15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High-frequency decisions with clear owners.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PROVE INCREMENTALITY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434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and margin-aware readouts.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15300" y="41529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THE FABRIC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15300" y="4419600"/>
            <a:ext cx="3105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identity, features and activation.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step: convene the 90-day squad and pick the first two decisions.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00050" y="64579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data roadmap</dc:title>
  <dc:subject>PptxGenJS Presentation</dc:subject>
  <dc:creator>ppt-gen</dc:creator>
  <cp:lastModifiedBy>ppt-gen</cp:lastModifiedBy>
  <cp:revision>1</cp:revision>
  <dcterms:created xsi:type="dcterms:W3CDTF">2026-08-08T15:25:48Z</dcterms:created>
  <dcterms:modified xsi:type="dcterms:W3CDTF">2026-08-08T15:25:48Z</dcterms:modified>
</cp:coreProperties>
</file>