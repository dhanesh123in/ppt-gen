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Q1 Results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review — generated by ppt-gen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trend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4191000"/>
          </a:xfrm>
          <a:prstGeom prst="roundRect">
            <a:avLst>
              <a:gd name="adj" fmla="val 2182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7" name="Image 1" descr="/Users/dpadmana/projects/ppt-gen/assets/plots/quarterly-46e42b95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1314450"/>
            <a:ext cx="8372475" cy="381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0550" y="5486400"/>
            <a:ext cx="1047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grew 12% YoY in the latest quarter.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Regional breakdown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2362200"/>
          </a:xfrm>
          <a:prstGeom prst="roundRect">
            <a:avLst>
              <a:gd name="adj" fmla="val 3871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150" y="1162050"/>
          <a:ext cx="10934700" cy="914400"/>
        </p:xfrm>
        <a:graphic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region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revenue_m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growth_pct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North America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12.4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11.2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Europe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8.7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9.5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Asia Pacific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14.8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Latin America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2.3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7.1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by region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4191000"/>
          </a:xfrm>
          <a:prstGeom prst="roundRect">
            <a:avLst>
              <a:gd name="adj" fmla="val 2182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7" name="Image 1" descr="/Users/dpadmana/projects/ppt-gen/assets/plots/regions-542e4be78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1314450"/>
            <a:ext cx="8372475" cy="381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0550" y="5486400"/>
            <a:ext cx="1047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Asia Pacific leads on growth; North America still carries the revenue base.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mix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2819400"/>
          </a:xfrm>
          <a:prstGeom prst="roundRect">
            <a:avLst>
              <a:gd name="adj" fmla="val 32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150" y="1162050"/>
          <a:ext cx="10934700" cy="914400"/>
        </p:xfrm>
        <a:graphic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channel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share_pct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nps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Web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Mobile app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Email / CRM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Partners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29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In-product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123950"/>
            <a:ext cx="11010900" cy="3800475"/>
          </a:xfrm>
          <a:prstGeom prst="roundRect">
            <a:avLst>
              <a:gd name="adj" fmla="val 240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7" name="Image 1" descr="/Users/dpadmana/projects/ppt-gen/assets/diagrams/architec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314450"/>
            <a:ext cx="1062990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rate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discrete update behind our experiment cadence: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28750"/>
            <a:ext cx="11010900" cy="2095500"/>
          </a:xfrm>
          <a:prstGeom prst="roundRect">
            <a:avLst>
              <a:gd name="adj" fmla="val 43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8" name="Image 1" descr="/Users/dpadmana/projects/ppt-gen/assets/math/math-4a1d9c0557f4f3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5" y="1619250"/>
            <a:ext cx="3571875" cy="1714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00050" y="3695700"/>
            <a:ext cx="11010900" cy="1171575"/>
          </a:xfrm>
          <a:prstGeom prst="roundRect">
            <a:avLst>
              <a:gd name="adj" fmla="val 780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10" name="Image 2" descr="/Users/dpadmana/projects/ppt-gen/assets/math/math-c5585b69899301a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3886200"/>
            <a:ext cx="1285875" cy="7905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0550" y="5038725"/>
            <a:ext cx="1047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 keep  honest.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1257300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0550" y="1123950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Unified theme drives Marp CSS, plots, and diagrams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0050" y="1638300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0550" y="1504950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Layout catalog shares tokens, fit engine, and markdown source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00050" y="2019300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0550" y="1885950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this file and run `npm run build:constructs` or `npm run build:pdf`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810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838200"/>
            <a:ext cx="72390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practical roadmap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product analytics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11455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 discovery, delivery and measurement into one learning system over 12–18 months.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00050" y="2914650"/>
            <a:ext cx="1238250" cy="2857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2971800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0050" y="33337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product, data and engineering leaders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6250" y="381000"/>
            <a:ext cx="3333750" cy="5715000"/>
          </a:xfrm>
          <a:prstGeom prst="roundRect">
            <a:avLst>
              <a:gd name="adj" fmla="val 27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24875" y="95250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10750" y="85725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15625" y="152400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58250" y="23336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01250" y="261937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858500" y="34766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63000" y="4238625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06000" y="4857750"/>
            <a:ext cx="609600" cy="609600"/>
          </a:xfrm>
          <a:prstGeom prst="roundRect">
            <a:avLst>
              <a:gd name="adj" fmla="val 15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8829675" y="1162050"/>
            <a:ext cx="1285875" cy="952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0115550" y="1162050"/>
            <a:ext cx="904875" cy="6667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9163050" y="2638425"/>
            <a:ext cx="1143000" cy="2857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10306050" y="2924175"/>
            <a:ext cx="857250" cy="857250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9067800" y="4543425"/>
            <a:ext cx="1143000" cy="619125"/>
          </a:xfrm>
          <a:prstGeom prst="line">
            <a:avLst/>
          </a:prstGeom>
          <a:noFill/>
          <a:ln w="2540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8305800" y="56197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58300" y="56197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210800" y="561975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24000" y="25527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Argument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000" y="34671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fragmented signals to a decision fabric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release should make the next decision sharper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Move from fragmented metrics to a shared decision fabric.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5695950" cy="4905375"/>
          </a:xfrm>
          <a:prstGeom prst="roundRect">
            <a:avLst>
              <a:gd name="adj" fmla="val 18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69595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1647825"/>
            <a:ext cx="527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9600" y="1943100"/>
            <a:ext cx="52768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 live in silos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960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" y="26193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Product, growth and support dashboards disagree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9600" y="32480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" y="30765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Experiments optimize local KPIs, not portfolio outcomes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9600" y="3705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" y="3533775"/>
            <a:ext cx="5086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 bets lack a shared measurement design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24600" y="1419225"/>
            <a:ext cx="5467350" cy="4905375"/>
          </a:xfrm>
          <a:prstGeom prst="roundRect">
            <a:avLst>
              <a:gd name="adj" fmla="val 18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24600" y="1419225"/>
            <a:ext cx="546735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4150" y="1647825"/>
            <a:ext cx="504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4150" y="19431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decision loop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534150" y="27908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4650" y="26193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identity and event taxonomy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34150" y="32480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4650" y="30765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action for surface and lifecycle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34150" y="37052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4650" y="35337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Incrementality tied to retention and margin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use cases that compound across the journey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where decisions are frequent, measurable and owned.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7150" cy="19050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Audience insight · Opportunity sizing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56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5650" y="1419225"/>
            <a:ext cx="57150" cy="19050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671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CONSIDER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671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Personalized content · Fit / intent scoring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912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1250" y="1419225"/>
            <a:ext cx="57150" cy="19050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27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627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offer · In-product guidance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86850" y="1419225"/>
            <a:ext cx="2705100" cy="1905000"/>
          </a:xfrm>
          <a:prstGeom prst="roundRect">
            <a:avLst>
              <a:gd name="adj" fmla="val 48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86850" y="1419225"/>
            <a:ext cx="57150" cy="19050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58300" y="153352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RETAIN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258300" y="1800225"/>
            <a:ext cx="2362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Churn early warning · Expansion plays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0550" y="3659981"/>
            <a:ext cx="11010900" cy="14288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78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434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390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34625" y="3562350"/>
            <a:ext cx="209550" cy="209550"/>
          </a:xfrm>
          <a:prstGeom prst="roundRect">
            <a:avLst>
              <a:gd name="adj" fmla="val 4363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0050" y="4010025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DECISION SIGNALS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00050" y="4276725"/>
            <a:ext cx="2152650" cy="704850"/>
          </a:xfrm>
          <a:prstGeom prst="roundRect">
            <a:avLst>
              <a:gd name="adj" fmla="val 12973"/>
            </a:avLst>
          </a:prstGeom>
          <a:solidFill>
            <a:srgbClr val="EAEAEA"/>
          </a:solidFill>
          <a:ln w="15875">
            <a:solidFill>
              <a:srgbClr val="EAEA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435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270510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1940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context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1015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445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state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31520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2950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Inventory / capacity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620250" y="4276725"/>
            <a:ext cx="2152650" cy="704850"/>
          </a:xfrm>
          <a:prstGeom prst="roundRect">
            <a:avLst>
              <a:gd name="adj" fmla="val 12973"/>
            </a:avLst>
          </a:prstGeom>
          <a:ln w="15875">
            <a:solidFill>
              <a:srgbClr val="3A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734550" y="4276725"/>
            <a:ext cx="192405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 exposure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readouts and next moves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050" y="981075"/>
            <a:ext cx="11391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90 DAYS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00050" y="1247775"/>
            <a:ext cx="3714750" cy="1238250"/>
          </a:xfrm>
          <a:prstGeom prst="roundRect">
            <a:avLst>
              <a:gd name="adj" fmla="val 738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247775"/>
            <a:ext cx="371475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2450" y="1438275"/>
            <a:ext cx="3409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2450" y="1724025"/>
            <a:ext cx="3409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+9%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2450" y="2066925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 reactivation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29100" y="1247775"/>
            <a:ext cx="3714750" cy="1238250"/>
          </a:xfrm>
          <a:prstGeom prst="roundRect">
            <a:avLst>
              <a:gd name="adj" fmla="val 738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29100" y="1247775"/>
            <a:ext cx="371475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1500" y="1438275"/>
            <a:ext cx="3409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81500" y="1724025"/>
            <a:ext cx="3409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11d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381500" y="2066925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 → live holdout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58150" y="1247775"/>
            <a:ext cx="3714750" cy="1238250"/>
          </a:xfrm>
          <a:prstGeom prst="roundRect">
            <a:avLst>
              <a:gd name="adj" fmla="val 738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58150" y="1247775"/>
            <a:ext cx="3714750" cy="762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10550" y="1438275"/>
            <a:ext cx="3409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10550" y="1724025"/>
            <a:ext cx="3409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−18%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10550" y="2066925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Low-margin offers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00050" y="2933700"/>
            <a:ext cx="11391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PATH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00050" y="3200400"/>
            <a:ext cx="3714750" cy="80010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6750" y="3200400"/>
            <a:ext cx="30289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00050" y="4152900"/>
            <a:ext cx="3714750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0050" y="4152900"/>
            <a:ext cx="47625" cy="13335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3400" y="4248150"/>
            <a:ext cx="34861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 in 2 journeys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29100" y="3200400"/>
            <a:ext cx="3714750" cy="80010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95800" y="3200400"/>
            <a:ext cx="30289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Productize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229100" y="4152900"/>
            <a:ext cx="3714750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29100" y="4152900"/>
            <a:ext cx="47625" cy="13335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62450" y="4248150"/>
            <a:ext cx="34861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Playbooks + owners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058150" y="3200400"/>
            <a:ext cx="3714750" cy="800100"/>
          </a:xfrm>
          <a:prstGeom prst="chevron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24850" y="3200400"/>
            <a:ext cx="30289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058150" y="4152900"/>
            <a:ext cx="3714750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58150" y="4152900"/>
            <a:ext cx="47625" cy="13335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91500" y="4248150"/>
            <a:ext cx="34861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Coverage → 80%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concentration still favors NA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is elsewhere — sequence capacity accordingly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590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550" y="1419225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North America is 42% of revenue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0050" y="20478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0550" y="1876425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Asia Pacific leads growth at 14.8%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00050" y="2505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0550" y="2333625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mix still web-heavy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0" y="1419225"/>
            <a:ext cx="5848350" cy="4905375"/>
          </a:xfrm>
          <a:prstGeom prst="roundRect">
            <a:avLst>
              <a:gd name="adj" fmla="val 1864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pic>
        <p:nvPicPr>
          <p:cNvPr id="14" name="Image 1" descr="/Users/dpadmana/projects/ppt-gen/assets/plots/regions-fc949fbe1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09850"/>
            <a:ext cx="554355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numbers as a table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media.table loads CSV into a native PPTX table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590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550" y="1419225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Drop CSVs in data/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0050" y="20478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0550" y="1876425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 by stem name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00050" y="2505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0550" y="2333625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Rebuild the deck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0" y="1419225"/>
            <a:ext cx="5848350" cy="2362200"/>
          </a:xfrm>
          <a:prstGeom prst="roundRect">
            <a:avLst>
              <a:gd name="adj" fmla="val 3871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1700" y="1457325"/>
          <a:ext cx="5772150" cy="914400"/>
        </p:xfrm>
        <a:graphic>
          <a:graphicData uri="http://schemas.openxmlformats.org/drawingml/2006/table">
            <a:tbl>
              <a:tblPr/>
              <a:tblGrid>
                <a:gridCol w="1924050"/>
                <a:gridCol w="1924050"/>
                <a:gridCol w="192405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region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revenue_m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growth_pct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9A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North America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12.4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11.2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Europe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8.7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9.5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Asia Pacific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14.8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Latin America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2.3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AEAE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7.1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Portfolio is overweight in question marks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Rebalance toward proven retention plays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543050" y="1533525"/>
            <a:ext cx="4933950" cy="2014538"/>
          </a:xfrm>
          <a:prstGeom prst="roundRect">
            <a:avLst>
              <a:gd name="adj" fmla="val 4539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72250" y="1533525"/>
            <a:ext cx="4933950" cy="2014538"/>
          </a:xfrm>
          <a:prstGeom prst="roundRect">
            <a:avLst>
              <a:gd name="adj" fmla="val 4539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43050" y="3643313"/>
            <a:ext cx="4933950" cy="2014538"/>
          </a:xfrm>
          <a:prstGeom prst="roundRect">
            <a:avLst>
              <a:gd name="adj" fmla="val 4539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72250" y="3643313"/>
            <a:ext cx="4933950" cy="2014538"/>
          </a:xfrm>
          <a:prstGeom prst="roundRect">
            <a:avLst>
              <a:gd name="adj" fmla="val 4539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1533525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value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43050" y="5715000"/>
            <a:ext cx="996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Relative capability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5450" y="1666875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4650" y="1666875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95450" y="3776662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PAUSE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24650" y="3776662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OPTIMIZE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657350" y="1952625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52600" y="1952625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 offer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86550" y="1952625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81800" y="1952625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Reactivation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657350" y="4062412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52600" y="4062412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Vanity NPS dash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686550" y="4062412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81800" y="4062412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Taxonomy MVP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Sequence: prove the signal, scale decisions, then optimize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phase ships a production decision and a measurement design.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3667125" cy="444817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7150" cy="4448175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5906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0–90 DAYS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183832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 the signal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71500" y="225742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Identity, baseline, 2–3 pilot use cases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1500" y="2886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27527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taxonomy MVP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71500" y="3114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2000" y="29813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Measurement baseline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" y="33432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32099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[object Object]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57675" y="1419225"/>
            <a:ext cx="3667125" cy="444817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57675" y="1419225"/>
            <a:ext cx="57150" cy="444817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29125" y="15906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29125" y="183832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the decisions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429125" y="225742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Reusable models and activation paths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429125" y="2886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9625" y="27527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Next-best-action service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429125" y="3114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19625" y="29813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CRM + in-product hooks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429125" y="33432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19625" y="32099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Always-on test engine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115300" y="1419225"/>
            <a:ext cx="3667125" cy="4448175"/>
          </a:xfrm>
          <a:prstGeom prst="roundRect">
            <a:avLst>
              <a:gd name="adj" fmla="val 249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15300" y="1419225"/>
            <a:ext cx="57150" cy="4448175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86750" y="15906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A1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86750" y="1838325"/>
            <a:ext cx="3324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Optimize the system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286750" y="2257425"/>
            <a:ext cx="3324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Cross-surface optimization at scale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286750" y="28860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77250" y="27527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Budget via incrementality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8286750" y="31146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77250" y="29813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Capacity-aware offers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8286750" y="334327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77250" y="3209925"/>
            <a:ext cx="313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Guarded automation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400050" y="5943600"/>
            <a:ext cx="1139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phase ends with a stop / scale gate owned by a commercial lead.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a decision fabric—not one-off models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Reusable foundations let new use cases launch in weeks.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57150" cy="490537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· CRM · support · billing · experiments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14675" y="3862387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86125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86125" y="1419225"/>
            <a:ext cx="57150" cy="4905375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57575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ENTITIES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57575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· catalog · consent · features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00750" y="3862387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72200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2200" y="1419225"/>
            <a:ext cx="57150" cy="4905375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3650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43650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Propensity · recommend · optimize · guardrails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886825" y="3862387"/>
            <a:ext cx="17145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8275" y="1419225"/>
            <a:ext cx="2714625" cy="4905375"/>
          </a:xfrm>
          <a:prstGeom prst="roundRect">
            <a:avLst>
              <a:gd name="adj" fmla="val 336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58275" y="1419225"/>
            <a:ext cx="57150" cy="4905375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29725" y="1533525"/>
            <a:ext cx="2371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29725" y="1800225"/>
            <a:ext cx="2371725" cy="441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Activation · holdouts ·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 incremental value, not vanity engagement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use case needs a test design before production.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0050" y="1419225"/>
            <a:ext cx="11391900" cy="1571625"/>
          </a:xfrm>
          <a:prstGeom prst="roundRect">
            <a:avLst>
              <a:gd name="adj" fmla="val 581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0050" y="1419225"/>
            <a:ext cx="114300" cy="1571625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6750" y="2095500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6810" y="2095500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Relevance · trust · retention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0050" y="3086100"/>
            <a:ext cx="11391900" cy="1571625"/>
          </a:xfrm>
          <a:prstGeom prst="roundRect">
            <a:avLst>
              <a:gd name="adj" fmla="val 581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0050" y="3086100"/>
            <a:ext cx="114300" cy="157162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6750" y="3762375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56810" y="3762375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Activation · conversion · time-to-value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0050" y="4752975"/>
            <a:ext cx="11391900" cy="1571625"/>
          </a:xfrm>
          <a:prstGeom prst="roundRect">
            <a:avLst>
              <a:gd name="adj" fmla="val 581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" y="4752975"/>
            <a:ext cx="114300" cy="1571625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6750" y="5429250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56810" y="5429250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Incremental revenue · margin · LTV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Always-on learning loop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866775"/>
            <a:ext cx="5600700" cy="2628900"/>
          </a:xfrm>
          <a:prstGeom prst="roundRect">
            <a:avLst>
              <a:gd name="adj" fmla="val 347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866775"/>
            <a:ext cx="57150" cy="26289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981075"/>
            <a:ext cx="525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1247775"/>
            <a:ext cx="52578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 decisions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91250" y="866775"/>
            <a:ext cx="5600700" cy="2628900"/>
          </a:xfrm>
          <a:prstGeom prst="roundRect">
            <a:avLst>
              <a:gd name="adj" fmla="val 347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91250" y="866775"/>
            <a:ext cx="57150" cy="26289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2700" y="981075"/>
            <a:ext cx="525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HYPOTHESIZE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62700" y="1247775"/>
            <a:ext cx="52578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the holdout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0050" y="3686175"/>
            <a:ext cx="5600700" cy="2628900"/>
          </a:xfrm>
          <a:prstGeom prst="roundRect">
            <a:avLst>
              <a:gd name="adj" fmla="val 347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3686175"/>
            <a:ext cx="57150" cy="26289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3800475"/>
            <a:ext cx="525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1500" y="4067175"/>
            <a:ext cx="52578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 the treatment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91250" y="3686175"/>
            <a:ext cx="5600700" cy="2628900"/>
          </a:xfrm>
          <a:prstGeom prst="roundRect">
            <a:avLst>
              <a:gd name="adj" fmla="val 347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1250" y="3686175"/>
            <a:ext cx="57150" cy="26289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2700" y="3800475"/>
            <a:ext cx="525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62700" y="4067175"/>
            <a:ext cx="52578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Promote or stop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Capability stack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176826" y="866775"/>
            <a:ext cx="5838349" cy="1304925"/>
          </a:xfrm>
          <a:prstGeom prst="roundRect">
            <a:avLst>
              <a:gd name="adj" fmla="val 700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91126" y="1423988"/>
            <a:ext cx="56097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51234" y="2247900"/>
            <a:ext cx="7689533" cy="1304925"/>
          </a:xfrm>
          <a:prstGeom prst="roundRect">
            <a:avLst>
              <a:gd name="adj" fmla="val 700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65534" y="2805113"/>
            <a:ext cx="74609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325642" y="3629025"/>
            <a:ext cx="9540716" cy="1304925"/>
          </a:xfrm>
          <a:prstGeom prst="roundRect">
            <a:avLst>
              <a:gd name="adj" fmla="val 7007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39942" y="4186238"/>
            <a:ext cx="93121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00050" y="5010150"/>
            <a:ext cx="11391900" cy="1304925"/>
          </a:xfrm>
          <a:prstGeom prst="roundRect">
            <a:avLst>
              <a:gd name="adj" fmla="val 7007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4350" y="5567363"/>
            <a:ext cx="11163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90-day launch milestones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0550" y="2190750"/>
            <a:ext cx="1101090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28788" y="2105025"/>
            <a:ext cx="190500" cy="190500"/>
          </a:xfrm>
          <a:prstGeom prst="roundRect">
            <a:avLst>
              <a:gd name="adj" fmla="val 48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6250" y="2466975"/>
            <a:ext cx="2695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6250" y="2714625"/>
            <a:ext cx="2695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charter signed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6763" y="2105025"/>
            <a:ext cx="190500" cy="190500"/>
          </a:xfrm>
          <a:prstGeom prst="roundRect">
            <a:avLst>
              <a:gd name="adj" fmla="val 48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24225" y="2466975"/>
            <a:ext cx="2695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24225" y="2714625"/>
            <a:ext cx="2695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Features + holdout live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24737" y="2105025"/>
            <a:ext cx="190500" cy="190500"/>
          </a:xfrm>
          <a:prstGeom prst="roundRect">
            <a:avLst>
              <a:gd name="adj" fmla="val 48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2466975"/>
            <a:ext cx="2695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2714625"/>
            <a:ext cx="2695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readout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272713" y="2105025"/>
            <a:ext cx="190500" cy="190500"/>
          </a:xfrm>
          <a:prstGeom prst="roundRect">
            <a:avLst>
              <a:gd name="adj" fmla="val 48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20175" y="2466975"/>
            <a:ext cx="2695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12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20175" y="2714625"/>
            <a:ext cx="26955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/ stop gate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signal to scaled decision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866775"/>
            <a:ext cx="11391900" cy="1285875"/>
          </a:xfrm>
          <a:prstGeom prst="roundRect">
            <a:avLst>
              <a:gd name="adj" fmla="val 7111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404938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 events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9645" y="2247900"/>
            <a:ext cx="10252710" cy="1285875"/>
          </a:xfrm>
          <a:prstGeom prst="roundRect">
            <a:avLst>
              <a:gd name="adj" fmla="val 7111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2045" y="2786063"/>
            <a:ext cx="9947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Trusted features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39240" y="3629025"/>
            <a:ext cx="9113520" cy="1285875"/>
          </a:xfrm>
          <a:prstGeom prst="roundRect">
            <a:avLst>
              <a:gd name="adj" fmla="val 7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1640" y="4167188"/>
            <a:ext cx="880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Scored actions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08835" y="5010150"/>
            <a:ext cx="7974330" cy="1285875"/>
          </a:xfrm>
          <a:prstGeom prst="roundRect">
            <a:avLst>
              <a:gd name="adj" fmla="val 7111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61235" y="5548313"/>
            <a:ext cx="7669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Measured lift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Ownership for the 90-day squad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45458" y="942975"/>
            <a:ext cx="4101084" cy="838200"/>
          </a:xfrm>
          <a:prstGeom prst="roundRect">
            <a:avLst>
              <a:gd name="adj" fmla="val 10909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45458" y="942975"/>
            <a:ext cx="57150" cy="838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16908" y="1057275"/>
            <a:ext cx="3758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COMMERCIAL OWNER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1713" y="17811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52600" y="2109788"/>
            <a:ext cx="8686800" cy="28575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38313" y="21240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33913" y="21240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29513" y="21240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5113" y="21240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2466975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0050" y="2466975"/>
            <a:ext cx="57150" cy="10477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258127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5650" y="2466975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5650" y="2466975"/>
            <a:ext cx="57150" cy="10477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67100" y="258127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/ CRM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91250" y="2466975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1250" y="2466975"/>
            <a:ext cx="57150" cy="10477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2700" y="258127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SCIENCE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86850" y="2466975"/>
            <a:ext cx="270510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86850" y="2466975"/>
            <a:ext cx="57150" cy="104775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2581275"/>
            <a:ext cx="2362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MEASUREMENT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 × effort for the next backlog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352550" y="866775"/>
            <a:ext cx="10058400" cy="545782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98206" y="866775"/>
            <a:ext cx="14288" cy="5457825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52550" y="2678906"/>
            <a:ext cx="10058400" cy="14288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51006" y="866775"/>
            <a:ext cx="14288" cy="5457825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52550" y="4498181"/>
            <a:ext cx="10058400" cy="14288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05075" y="1633538"/>
            <a:ext cx="1047750" cy="285750"/>
          </a:xfrm>
          <a:prstGeom prst="roundRect">
            <a:avLst>
              <a:gd name="adj" fmla="val 32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81275" y="1690688"/>
            <a:ext cx="895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Taxonomy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210675" y="1633538"/>
            <a:ext cx="1047750" cy="285750"/>
          </a:xfrm>
          <a:prstGeom prst="roundRect">
            <a:avLst>
              <a:gd name="adj" fmla="val 32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86875" y="1690688"/>
            <a:ext cx="895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Reactivation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7875" y="3452813"/>
            <a:ext cx="1047750" cy="285750"/>
          </a:xfrm>
          <a:prstGeom prst="roundRect">
            <a:avLst>
              <a:gd name="adj" fmla="val 32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075" y="3509963"/>
            <a:ext cx="895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NBA service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210675" y="5272088"/>
            <a:ext cx="1047750" cy="285750"/>
          </a:xfrm>
          <a:prstGeom prst="roundRect">
            <a:avLst>
              <a:gd name="adj" fmla="val 32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86875" y="5329238"/>
            <a:ext cx="895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Auto-budget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learning is slow today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387215" y="866775"/>
            <a:ext cx="3417570" cy="762000"/>
          </a:xfrm>
          <a:prstGeom prst="roundRect">
            <a:avLst>
              <a:gd name="adj" fmla="val 12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7215" y="866775"/>
            <a:ext cx="57150" cy="762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58665" y="981075"/>
            <a:ext cx="30746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SLOW LEARNING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2238375" y="1628775"/>
            <a:ext cx="3857625" cy="762000"/>
          </a:xfrm>
          <a:prstGeom prst="line">
            <a:avLst/>
          </a:prstGeom>
          <a:noFill/>
          <a:ln w="1905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400050" y="2390775"/>
            <a:ext cx="3676650" cy="3933825"/>
          </a:xfrm>
          <a:prstGeom prst="roundRect">
            <a:avLst>
              <a:gd name="adj" fmla="val 248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0050" y="2390775"/>
            <a:ext cx="57150" cy="393382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2505075"/>
            <a:ext cx="333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FRAGMENTED IDENTITY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 flipH="1">
            <a:off x="6086475" y="1628775"/>
            <a:ext cx="9525" cy="762000"/>
          </a:xfrm>
          <a:prstGeom prst="line">
            <a:avLst/>
          </a:prstGeom>
          <a:noFill/>
          <a:ln w="1905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4248150" y="2390775"/>
            <a:ext cx="3676650" cy="3933825"/>
          </a:xfrm>
          <a:prstGeom prst="roundRect">
            <a:avLst>
              <a:gd name="adj" fmla="val 248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48150" y="2390775"/>
            <a:ext cx="57150" cy="3933825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19600" y="2505075"/>
            <a:ext cx="333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HOLDOUT DESIGN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6000" y="1628775"/>
            <a:ext cx="3838575" cy="762000"/>
          </a:xfrm>
          <a:prstGeom prst="line">
            <a:avLst/>
          </a:prstGeom>
          <a:noFill/>
          <a:ln w="19050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8096250" y="2390775"/>
            <a:ext cx="3676650" cy="3933825"/>
          </a:xfrm>
          <a:prstGeom prst="roundRect">
            <a:avLst>
              <a:gd name="adj" fmla="val 248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96250" y="2390775"/>
            <a:ext cx="57150" cy="3933825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7700" y="2505075"/>
            <a:ext cx="333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KPI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dashboard debt to decision system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866775"/>
            <a:ext cx="3638550" cy="5457825"/>
          </a:xfrm>
          <a:prstGeom prst="roundRect">
            <a:avLst>
              <a:gd name="adj" fmla="val 251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866775"/>
            <a:ext cx="57150" cy="5457825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981075"/>
            <a:ext cx="3295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57650" y="3424238"/>
            <a:ext cx="19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67200" y="866775"/>
            <a:ext cx="3638550" cy="5457825"/>
          </a:xfrm>
          <a:prstGeom prst="roundRect">
            <a:avLst>
              <a:gd name="adj" fmla="val 251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200" y="866775"/>
            <a:ext cx="57150" cy="5457825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8650" y="981075"/>
            <a:ext cx="3295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DRIVERS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38650" y="1247775"/>
            <a:ext cx="3295650" cy="496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identity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features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4800" y="3424238"/>
            <a:ext cx="19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134350" y="866775"/>
            <a:ext cx="3638550" cy="5457825"/>
          </a:xfrm>
          <a:prstGeom prst="roundRect">
            <a:avLst>
              <a:gd name="adj" fmla="val 251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4350" y="866775"/>
            <a:ext cx="57150" cy="5457825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5800" y="981075"/>
            <a:ext cx="3295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mix still under-indexes in-product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866775"/>
            <a:ext cx="7058025" cy="5457825"/>
          </a:xfrm>
          <a:prstGeom prst="roundRect">
            <a:avLst>
              <a:gd name="adj" fmla="val 1675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pic>
        <p:nvPicPr>
          <p:cNvPr id="7" name="Image 1" descr="/Users/dpadmana/projects/ppt-gen/assets/plots/channels-753319639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066925"/>
            <a:ext cx="6753225" cy="3067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43825" y="866775"/>
            <a:ext cx="4048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743825" y="13811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34325" y="1209675"/>
            <a:ext cx="3857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In-product is only 8% share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43825" y="18383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34325" y="1666875"/>
            <a:ext cx="3857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NPS is highest in-app (55)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43825" y="2295525"/>
            <a:ext cx="66675" cy="66675"/>
          </a:xfrm>
          <a:prstGeom prst="roundRect">
            <a:avLst>
              <a:gd name="adj" fmla="val 13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34325" y="2124075"/>
            <a:ext cx="3857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Shift next pilots to product surfaces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Operating model shift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0050" y="866775"/>
            <a:ext cx="5695950" cy="5457825"/>
          </a:xfrm>
          <a:prstGeom prst="roundRect">
            <a:avLst>
              <a:gd name="adj" fmla="val 1675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866775"/>
            <a:ext cx="57150" cy="5457825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981075"/>
            <a:ext cx="5353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1247775"/>
            <a:ext cx="5353050" cy="496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reviews without owners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6000750"/>
            <a:ext cx="5353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53250" y="866775"/>
            <a:ext cx="4838700" cy="5457825"/>
          </a:xfrm>
          <a:prstGeom prst="roundRect">
            <a:avLst>
              <a:gd name="adj" fmla="val 189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53250" y="866775"/>
            <a:ext cx="57150" cy="5457825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24700" y="981075"/>
            <a:ext cx="449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A1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24700" y="1247775"/>
            <a:ext cx="4495800" cy="496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squads with stop/scale gates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24700" y="6000750"/>
            <a:ext cx="449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A14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34125" y="3367088"/>
            <a:ext cx="38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39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a 90-day launch team that can ship and learn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942975"/>
            <a:ext cx="1064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accountability close to commercial owners.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0500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1–3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2605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4–7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7100" y="1419225"/>
            <a:ext cx="316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8–12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0050" y="176212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828800" y="176212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050" y="2674620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/ CRM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2674620"/>
            <a:ext cx="9963150" cy="836295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050" y="358711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828800" y="358711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050" y="4499610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828800" y="4499610"/>
            <a:ext cx="9963150" cy="836295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0050" y="5412105"/>
            <a:ext cx="1257300" cy="836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Finance / measure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828800" y="5412105"/>
            <a:ext cx="9963150" cy="836295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24050" y="198977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00250" y="198977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charter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924050" y="2902268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00250" y="2902268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Activation design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245100" y="381476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21300" y="381476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+ rules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45100" y="4727257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21300" y="4727257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set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66150" y="5639753"/>
            <a:ext cx="3130550" cy="381000"/>
          </a:xfrm>
          <a:prstGeom prst="roundRect">
            <a:avLst>
              <a:gd name="adj" fmla="val 24000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42350" y="5639753"/>
            <a:ext cx="297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 + scale gate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themes/scientific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0" y="266700"/>
            <a:ext cx="419100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1143000"/>
            <a:ext cx="952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Invest in a decision system—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isolated dashboards.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7813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two connected use cases that move retention and learning speed.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000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0050" y="4000500"/>
            <a:ext cx="57150" cy="11430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CHOOSE PILOTS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High-frequency decisions with clear owners.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719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1950" y="4000500"/>
            <a:ext cx="57150" cy="11430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PROVE INCREMENTALITY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434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Holdouts and margin-aware readouts.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43850" y="4000500"/>
            <a:ext cx="3448050" cy="1143000"/>
          </a:xfrm>
          <a:prstGeom prst="roundRect">
            <a:avLst>
              <a:gd name="adj" fmla="val 80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43850" y="4000500"/>
            <a:ext cx="57150" cy="1143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5300" y="4114800"/>
            <a:ext cx="310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SCALE THE FABRIC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15300" y="4362450"/>
            <a:ext cx="31051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Reuse identity, features and activation.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0050" y="5619750"/>
            <a:ext cx="1047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step: convene the 90-day squad and pick the first two decisions.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 ·  DATA ROADMAP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data roadmap</dc:title>
  <dc:subject>PptxGenJS Presentation</dc:subject>
  <dc:creator>ppt-gen</dc:creator>
  <cp:lastModifiedBy>ppt-gen</cp:lastModifiedBy>
  <cp:revision>1</cp:revision>
  <dcterms:created xsi:type="dcterms:W3CDTF">2026-09-27T07:42:25Z</dcterms:created>
  <dcterms:modified xsi:type="dcterms:W3CDTF">2026-09-27T07:42:25Z</dcterms:modified>
</cp:coreProperties>
</file>