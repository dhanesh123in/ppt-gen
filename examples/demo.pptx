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 Results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review — generated by ppt-gen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trend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quarterly-a5d5f8a6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grew 12% YoY in the latest quarter.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Regional breakdown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2514600"/>
          </a:xfrm>
          <a:prstGeom prst="roundRect">
            <a:avLst>
              <a:gd name="adj" fmla="val 363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revenue_m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growth_pct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North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12.4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11.2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8.7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9.5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Asia Pacific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14.8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by region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regions-a1574b2a9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on growth; North America still carries the revenue base.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009900"/>
          </a:xfrm>
          <a:prstGeom prst="roundRect">
            <a:avLst>
              <a:gd name="adj" fmla="val 303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channel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share_pct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nps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Web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Mobile app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Email / CRM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Partners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In-product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architecture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800475"/>
          </a:xfrm>
          <a:prstGeom prst="roundRect">
            <a:avLst>
              <a:gd name="adj" fmla="val 240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diagrams/architec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1314450"/>
            <a:ext cx="10629900" cy="34194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discrete update behind our experiment cadence: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28750"/>
            <a:ext cx="1101090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8" name="Image 1" descr="/Users/dpadmana/projects/ppt-gen/assets/math/math-4a1d9c0557f4f3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325" y="1619250"/>
            <a:ext cx="3571875" cy="1714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0050" y="3695700"/>
            <a:ext cx="11010900" cy="1171575"/>
          </a:xfrm>
          <a:prstGeom prst="roundRect">
            <a:avLst>
              <a:gd name="adj" fmla="val 780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10" name="Image 2" descr="/Users/dpadmana/projects/ppt-gen/assets/math/math-c5585b69899301a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325" y="3886200"/>
            <a:ext cx="1285875" cy="7905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90550" y="5038725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keep  honest.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209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0550" y="1123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Unified theme drives Marp CSS, plots, and diagrams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00050" y="1590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0550" y="1504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Layout catalog shares tokens, fit engine, and markdown source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0050" y="1971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0550" y="1885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this file and run `npm run build:constructs` or `npm run build:pdf`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practical roadmap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 analytics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19240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 discovery, delivery and measurement into one learning system over 12–18 months.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098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6670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0289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data and engineering leaders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24875" y="9525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10750" y="8572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715625" y="15240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858250" y="2333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250" y="261937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858500" y="3476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63000" y="4238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906000" y="48577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8829675" y="1162050"/>
            <a:ext cx="1285875" cy="95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10115550" y="1162050"/>
            <a:ext cx="904875" cy="666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0" name="Shape 17"/>
          <p:cNvSpPr/>
          <p:nvPr/>
        </p:nvSpPr>
        <p:spPr>
          <a:xfrm>
            <a:off x="9163050" y="2638425"/>
            <a:ext cx="1143000" cy="285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10306050" y="2924175"/>
            <a:ext cx="857250" cy="857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2" name="Shape 19"/>
          <p:cNvSpPr/>
          <p:nvPr/>
        </p:nvSpPr>
        <p:spPr>
          <a:xfrm>
            <a:off x="9067800" y="4543425"/>
            <a:ext cx="1143000" cy="619125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3" name="Text 20"/>
          <p:cNvSpPr/>
          <p:nvPr/>
        </p:nvSpPr>
        <p:spPr>
          <a:xfrm>
            <a:off x="8305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2583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210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fragmented signals to a decision fabric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release should make the next decision sharper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 from fragmented metrics to a shared decision fabric.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219200"/>
            <a:ext cx="5695950" cy="5105400"/>
          </a:xfrm>
          <a:prstGeom prst="roundRect">
            <a:avLst>
              <a:gd name="adj" fmla="val 179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19200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600" y="1447800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9600" y="1743075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live in silos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9600" y="2505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" y="24193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growth and support dashboards disagree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9600" y="3038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" y="29527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 optimize local KPIs, not portfolio outcomes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09600" y="3571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" y="34861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 bets lack a shared measurement design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24600" y="1219200"/>
            <a:ext cx="5467350" cy="5105400"/>
          </a:xfrm>
          <a:prstGeom prst="roundRect">
            <a:avLst>
              <a:gd name="adj" fmla="val 179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24600" y="1219200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4150" y="1447800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34150" y="1743075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decision loop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6534150" y="2505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4650" y="24193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identity and event taxonomy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34150" y="3038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24650" y="29527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action for surface and lifecycle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534150" y="3571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24650" y="34861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tied to retention and margin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use cases that compound across the journey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where decisions are frequent, measurable and owned.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219200"/>
            <a:ext cx="2705100" cy="51054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19200"/>
            <a:ext cx="57150" cy="51054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3716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638300"/>
            <a:ext cx="23622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 insight · Opportunity sizing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95650" y="1219200"/>
            <a:ext cx="2705100" cy="51054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5650" y="1219200"/>
            <a:ext cx="57150" cy="51054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67100" y="13716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CONSIDER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67100" y="1638300"/>
            <a:ext cx="23622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Personalized content · Fit / intent scoring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191250" y="1219200"/>
            <a:ext cx="2705100" cy="51054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1250" y="1219200"/>
            <a:ext cx="57150" cy="51054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2700" y="13716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62700" y="1638300"/>
            <a:ext cx="23622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 · In-product guidance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86850" y="1219200"/>
            <a:ext cx="2705100" cy="51054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086850" y="1219200"/>
            <a:ext cx="57150" cy="51054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58300" y="13716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258300" y="1638300"/>
            <a:ext cx="23622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Churn early warning · Expansion plays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readouts and next moves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81915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90 DAYS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0050" y="1028700"/>
            <a:ext cx="363855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028700"/>
            <a:ext cx="36385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0550" y="1276350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LIFT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0550" y="1676400"/>
            <a:ext cx="32575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+9%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90550" y="2571750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reactivation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67200" y="1028700"/>
            <a:ext cx="363855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67200" y="1028700"/>
            <a:ext cx="36385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57700" y="1276350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457700" y="1676400"/>
            <a:ext cx="32575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11d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4457700" y="2571750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 → live holdout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34350" y="1028700"/>
            <a:ext cx="363855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34350" y="1028700"/>
            <a:ext cx="36385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24850" y="1276350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WASTE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24850" y="1676400"/>
            <a:ext cx="32575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−18%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8324850" y="2571750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Low-margin offers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00050" y="2771775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PATH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00050" y="3514725"/>
            <a:ext cx="37147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6750" y="3514725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00050" y="4467225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0050" y="4467225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3400" y="4562475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in 2 journeys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229100" y="3514725"/>
            <a:ext cx="37147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5800" y="3514725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Productize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29100" y="4467225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229100" y="4467225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62450" y="4562475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 + owners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058150" y="3514725"/>
            <a:ext cx="37147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24850" y="3514725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058150" y="4467225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058150" y="4467225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91500" y="4562475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Coverage → 80%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concentration still favors NA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is elsewhere — sequence capacity accordingly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304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0550" y="1219200"/>
            <a:ext cx="5048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North America is 42% of revenue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00050" y="1838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1752600"/>
            <a:ext cx="5048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growth at 14.8%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00050" y="2371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0550" y="2286000"/>
            <a:ext cx="5048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web-heavy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0" y="1219200"/>
            <a:ext cx="5848350" cy="5105400"/>
          </a:xfrm>
          <a:prstGeom prst="roundRect">
            <a:avLst>
              <a:gd name="adj" fmla="val 1791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14" name="Image 1" descr="/Users/dpadmana/projects/ppt-gen/assets/plots/regions-a1574b2a9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14600"/>
            <a:ext cx="5543550" cy="2524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is overweight in question marks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Rebalance toward proven retention plays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543050" y="1333500"/>
            <a:ext cx="4933950" cy="2171700"/>
          </a:xfrm>
          <a:prstGeom prst="roundRect">
            <a:avLst>
              <a:gd name="adj" fmla="val 4211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72250" y="1333500"/>
            <a:ext cx="4933950" cy="2171700"/>
          </a:xfrm>
          <a:prstGeom prst="roundRect">
            <a:avLst>
              <a:gd name="adj" fmla="val 4211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3600450"/>
            <a:ext cx="4933950" cy="2171700"/>
          </a:xfrm>
          <a:prstGeom prst="roundRect">
            <a:avLst>
              <a:gd name="adj" fmla="val 4211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72250" y="3600450"/>
            <a:ext cx="4933950" cy="2171700"/>
          </a:xfrm>
          <a:prstGeom prst="roundRect">
            <a:avLst>
              <a:gd name="adj" fmla="val 4211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3335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value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Relative capability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95450" y="14668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24650" y="14668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95450" y="37338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PAUSE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24650" y="37338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695450" y="17526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09750" y="17526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724650" y="17526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38950" y="17526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5450" y="40195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809750" y="40195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NPS dash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724650" y="40195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38950" y="40195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 MVP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Sequence: prove the signal, scale decisions, then optimize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ships a production decision and a measurement design.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219200"/>
            <a:ext cx="3667125" cy="46482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19200"/>
            <a:ext cx="57150" cy="464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390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63830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 the signal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71500" y="205740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Identity, baseline, 2–3 pilot use cases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71500" y="26384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2000" y="25527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taxonomy MVP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1500" y="2867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2000" y="27813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 baseline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71500" y="3095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30099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[object Object]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57675" y="1219200"/>
            <a:ext cx="3667125" cy="46482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57675" y="1219200"/>
            <a:ext cx="57150" cy="4648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29125" y="1390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429125" y="163830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the decisions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429125" y="205740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models and activation paths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29125" y="26384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19625" y="25527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Next-best-action service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429125" y="2867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19625" y="27813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CRM + in-product hooks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429125" y="3095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19625" y="30099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test engine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115300" y="1219200"/>
            <a:ext cx="3667125" cy="46482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15300" y="1219200"/>
            <a:ext cx="57150" cy="464820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86750" y="1390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86750" y="163830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the system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8286750" y="205740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Cross-surface optimization at scale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286750" y="26384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477250" y="25527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via incrementality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8286750" y="2867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77250" y="27813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Capacity-aware offers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286750" y="3095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477250" y="30099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Guarded automation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400050" y="5943600"/>
            <a:ext cx="1139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ends with a stop / scale gate owned by a commercial lead.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decision fabric—not one-off models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foundations let new use cases launch in weeks.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219200"/>
            <a:ext cx="2714625" cy="51054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19200"/>
            <a:ext cx="57150" cy="51054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3716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638300"/>
            <a:ext cx="2371725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· CRM · support · billing · experiments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114675" y="376237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6125" y="1219200"/>
            <a:ext cx="2714625" cy="51054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6125" y="1219200"/>
            <a:ext cx="57150" cy="51054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57575" y="13716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ENTITIES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457575" y="1638300"/>
            <a:ext cx="2371725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· catalog · consent · features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000750" y="376237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219200"/>
            <a:ext cx="2714625" cy="51054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72200" y="1219200"/>
            <a:ext cx="57150" cy="51054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3650" y="13716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3650" y="1638300"/>
            <a:ext cx="2371725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Propensity · recommend · optimize · guardrails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886825" y="376237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058275" y="1219200"/>
            <a:ext cx="2714625" cy="51054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58275" y="1219200"/>
            <a:ext cx="57150" cy="51054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29725" y="13716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229725" y="1638300"/>
            <a:ext cx="2371725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holdouts · monitoring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incremental value, not vanity engagement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use case needs a test design before production.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219200"/>
            <a:ext cx="11391900" cy="1638300"/>
          </a:xfrm>
          <a:prstGeom prst="roundRect">
            <a:avLst>
              <a:gd name="adj" fmla="val 558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19200"/>
            <a:ext cx="114300" cy="16383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850" y="133350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184648" y="134302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Relevance · trust · retention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0050" y="2952750"/>
            <a:ext cx="11391900" cy="1638300"/>
          </a:xfrm>
          <a:prstGeom prst="roundRect">
            <a:avLst>
              <a:gd name="adj" fmla="val 558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00050" y="2952750"/>
            <a:ext cx="114300" cy="16383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850" y="306705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184648" y="307657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conversion · time-to-value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0050" y="4686300"/>
            <a:ext cx="11391900" cy="1638300"/>
          </a:xfrm>
          <a:prstGeom prst="roundRect">
            <a:avLst>
              <a:gd name="adj" fmla="val 558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4686300"/>
            <a:ext cx="114300" cy="16383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850" y="480060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5184648" y="481012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revenue · margin · LTV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learning loop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5600700" cy="2676525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781050"/>
            <a:ext cx="57150" cy="26765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33450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OBSERVE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00150"/>
            <a:ext cx="5257800" cy="2105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 decisions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91250" y="781050"/>
            <a:ext cx="5600700" cy="2676525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91250" y="781050"/>
            <a:ext cx="57150" cy="26765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62700" y="933450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HYPOTHESIZE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62700" y="1200150"/>
            <a:ext cx="5257800" cy="2105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the holdout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00050" y="3648075"/>
            <a:ext cx="5600700" cy="2676525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3648075"/>
            <a:ext cx="57150" cy="26765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38004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71500" y="4067175"/>
            <a:ext cx="5257800" cy="2105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 the treatment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191250" y="3648075"/>
            <a:ext cx="5600700" cy="2676525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1250" y="3648075"/>
            <a:ext cx="57150" cy="267652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62700" y="38004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62700" y="4067175"/>
            <a:ext cx="5257800" cy="2105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Promote or stop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stack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176826" y="781050"/>
            <a:ext cx="5838349" cy="1323975"/>
          </a:xfrm>
          <a:prstGeom prst="roundRect">
            <a:avLst>
              <a:gd name="adj" fmla="val 6906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91126" y="1347788"/>
            <a:ext cx="5609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251234" y="2181225"/>
            <a:ext cx="7689533" cy="1323975"/>
          </a:xfrm>
          <a:prstGeom prst="roundRect">
            <a:avLst>
              <a:gd name="adj" fmla="val 6906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365534" y="2747963"/>
            <a:ext cx="74609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325642" y="3581400"/>
            <a:ext cx="9540716" cy="1323975"/>
          </a:xfrm>
          <a:prstGeom prst="roundRect">
            <a:avLst>
              <a:gd name="adj" fmla="val 6906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39942" y="4148137"/>
            <a:ext cx="9312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00050" y="4981575"/>
            <a:ext cx="11391900" cy="1323975"/>
          </a:xfrm>
          <a:prstGeom prst="roundRect">
            <a:avLst>
              <a:gd name="adj" fmla="val 6906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4350" y="5548313"/>
            <a:ext cx="11163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launch milestones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0550" y="2105025"/>
            <a:ext cx="1101090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28788" y="201930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6250" y="238125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76250" y="262890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 signed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6763" y="201930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4225" y="238125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5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324225" y="262890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 + holdout live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424737" y="201930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72200" y="238125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172200" y="262890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readout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272713" y="201930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175" y="238125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12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20175" y="262890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/ stop gate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signal to scaled decision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11391900" cy="1314450"/>
          </a:xfrm>
          <a:prstGeom prst="roundRect">
            <a:avLst>
              <a:gd name="adj" fmla="val 6957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52450" y="1333500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Raw events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69645" y="2190750"/>
            <a:ext cx="10252710" cy="1314450"/>
          </a:xfrm>
          <a:prstGeom prst="roundRect">
            <a:avLst>
              <a:gd name="adj" fmla="val 6957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22045" y="2743200"/>
            <a:ext cx="9947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Trusted features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539240" y="3600450"/>
            <a:ext cx="9113520" cy="1314450"/>
          </a:xfrm>
          <a:prstGeom prst="roundRect">
            <a:avLst>
              <a:gd name="adj" fmla="val 6957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91640" y="4152900"/>
            <a:ext cx="880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Scored actions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8835" y="5010150"/>
            <a:ext cx="7974330" cy="1314450"/>
          </a:xfrm>
          <a:prstGeom prst="roundRect">
            <a:avLst>
              <a:gd name="adj" fmla="val 6957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61235" y="5562600"/>
            <a:ext cx="7669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 lift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Ownership for the 90-day squad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45458" y="85725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45458" y="85725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16908" y="100965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 OWNER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1713" y="16954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52600" y="2024062"/>
            <a:ext cx="868680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38313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33913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29513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5113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238125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238125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1500" y="253365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95650" y="238125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5650" y="238125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67100" y="253365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91250" y="238125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91250" y="238125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62700" y="253365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86850" y="238125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86850" y="2381250"/>
            <a:ext cx="57150" cy="10477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253365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 × effort for the next backlog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352550" y="781050"/>
            <a:ext cx="10058400" cy="55435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98206" y="781050"/>
            <a:ext cx="14288" cy="55435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52550" y="262175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51006" y="781050"/>
            <a:ext cx="14288" cy="55435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2550" y="446960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05075" y="1562100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81275" y="1619250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210675" y="1562100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286875" y="1619250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57875" y="3409950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075" y="3467100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NBA service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210675" y="5257800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6875" y="5314950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Auto-budget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learning is slow today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387215" y="781050"/>
            <a:ext cx="3417570" cy="762000"/>
          </a:xfrm>
          <a:prstGeom prst="roundRect">
            <a:avLst>
              <a:gd name="adj" fmla="val 1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387215" y="781050"/>
            <a:ext cx="57150" cy="762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58665" y="933450"/>
            <a:ext cx="30746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SLOW LEARNING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 flipH="1">
            <a:off x="2238375" y="1543050"/>
            <a:ext cx="38576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0" name="Shape 7"/>
          <p:cNvSpPr/>
          <p:nvPr/>
        </p:nvSpPr>
        <p:spPr>
          <a:xfrm>
            <a:off x="400050" y="2305050"/>
            <a:ext cx="3676650" cy="4019550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2305050"/>
            <a:ext cx="57150" cy="40195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1500" y="2457450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FRAGMENTED IDENTITY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 flipH="1">
            <a:off x="6086475" y="1543050"/>
            <a:ext cx="95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4248150" y="2305050"/>
            <a:ext cx="3676650" cy="4019550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48150" y="2305050"/>
            <a:ext cx="57150" cy="40195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19600" y="2457450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HOLDOUT DESIGN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1543050"/>
            <a:ext cx="383857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8096250" y="2305050"/>
            <a:ext cx="3676650" cy="4019550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96250" y="2305050"/>
            <a:ext cx="57150" cy="40195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67700" y="2457450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 KPI OPTIMIZATION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dashboard debt to decision system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3638550" cy="5543550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781050"/>
            <a:ext cx="57150" cy="55435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33450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057650" y="3381375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267200" y="781050"/>
            <a:ext cx="3638550" cy="5543550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67200" y="781050"/>
            <a:ext cx="57150" cy="55435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38650" y="933450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38650" y="1200150"/>
            <a:ext cx="3295650" cy="497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 identity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features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924800" y="3381375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134350" y="781050"/>
            <a:ext cx="3638550" cy="5543550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34350" y="781050"/>
            <a:ext cx="57150" cy="55435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05800" y="933450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under-indexes in-product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7058025" cy="5543550"/>
          </a:xfrm>
          <a:prstGeom prst="roundRect">
            <a:avLst>
              <a:gd name="adj" fmla="val 1649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7" name="Image 1" descr="/Users/dpadmana/projects/ppt-gen/assets/plots/channels-99f91be3d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019300"/>
            <a:ext cx="6753225" cy="3067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43825" y="781050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743825" y="1209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34325" y="112395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In-product is only 8% share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743825" y="1743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34325" y="165735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NPS is highest in-app (55)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43825" y="2276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34325" y="219075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Shift next pilots to product surfaces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Operating model shift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781050"/>
            <a:ext cx="5695950" cy="5543550"/>
          </a:xfrm>
          <a:prstGeom prst="roundRect">
            <a:avLst>
              <a:gd name="adj" fmla="val 164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781050"/>
            <a:ext cx="57150" cy="55435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33450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00150"/>
            <a:ext cx="5353050" cy="497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reviews without owners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" y="6000750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53250" y="781050"/>
            <a:ext cx="4838700" cy="5543550"/>
          </a:xfrm>
          <a:prstGeom prst="roundRect">
            <a:avLst>
              <a:gd name="adj" fmla="val 1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53250" y="781050"/>
            <a:ext cx="57150" cy="554355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24700" y="933450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24700" y="1200150"/>
            <a:ext cx="4495800" cy="497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squads with stop/scale gates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24700" y="6000750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34125" y="3324225"/>
            <a:ext cx="38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3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a 90-day launch team that can ship and learn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800100"/>
            <a:ext cx="10648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accountability close to commercial owners.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05000" y="12192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226050" y="12192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47100" y="12192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00050" y="15621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828800" y="1562100"/>
            <a:ext cx="9963150" cy="8763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25146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828800" y="2514600"/>
            <a:ext cx="9963150" cy="87630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0050" y="34671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828800" y="3467100"/>
            <a:ext cx="9963150" cy="8763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050" y="44196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engineering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828800" y="4419600"/>
            <a:ext cx="9963150" cy="87630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0050" y="5372100"/>
            <a:ext cx="12573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 / measure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828800" y="5372100"/>
            <a:ext cx="9963150" cy="8763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924050" y="18097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000250" y="18097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924050" y="27622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00250" y="27622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design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245100" y="37147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21300" y="37147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rules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45100" y="46672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21300" y="46672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 set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66150" y="56197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42350" y="56197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 + scale gate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in a decision system—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isolated dashboards.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connected use cases that move retention and learning speed.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CHOOSE PILOTS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High-frequency decisions with clear owners.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and margin-aware readouts.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identity, features and activation.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pick the first two decisions.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data roadmap</dc:title>
  <dc:subject>PptxGenJS Presentation</dc:subject>
  <dc:creator>ppt-gen</dc:creator>
  <cp:lastModifiedBy>ppt-gen</cp:lastModifiedBy>
  <cp:revision>1</cp:revision>
  <dcterms:created xsi:type="dcterms:W3CDTF">2026-09-20T11:01:46Z</dcterms:created>
  <dcterms:modified xsi:type="dcterms:W3CDTF">2026-09-20T11:01:46Z</dcterms:modified>
</cp:coreProperties>
</file>