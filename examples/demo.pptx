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304800"/>
            <a:ext cx="1104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Q1 Results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0050" y="857250"/>
            <a:ext cx="1047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Revenue review — generated by ppt-gen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00050" y="64579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304800"/>
            <a:ext cx="1104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Revenue trend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0050" y="64579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00050" y="1123950"/>
            <a:ext cx="11010900" cy="4572000"/>
          </a:xfrm>
          <a:prstGeom prst="roundRect">
            <a:avLst>
              <a:gd name="adj" fmla="val 2000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pic>
        <p:nvPicPr>
          <p:cNvPr id="6" name="Image 0" descr="/Users/dpadmana/projects/ppt-gen/assets/plots/quarterly-ed6d6758e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2500" y="1314450"/>
            <a:ext cx="9906000" cy="41910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0550" y="5867400"/>
            <a:ext cx="10477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Revenue grew 12% YoY in the latest quarter.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304800"/>
            <a:ext cx="1104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Regional breakdown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0050" y="64579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00050" y="1123950"/>
            <a:ext cx="11010900" cy="2514600"/>
          </a:xfrm>
          <a:prstGeom prst="roundRect">
            <a:avLst>
              <a:gd name="adj" fmla="val 3636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6250" y="1162050"/>
          <a:ext cx="10858500" cy="914400"/>
        </p:xfrm>
        <a:graphic>
          <a:graphicData uri="http://schemas.openxmlformats.org/drawingml/2006/table">
            <a:tbl>
              <a:tblPr/>
              <a:tblGrid>
                <a:gridCol w="4126230"/>
                <a:gridCol w="3366135"/>
                <a:gridCol w="3366135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region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revenue_m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growth_pct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North America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12.4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11.2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3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Europe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3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8.7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3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9.5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Asia Pacific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6.1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14.8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3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Latin America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3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2.3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3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7.1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3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304800"/>
            <a:ext cx="1104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Revenue by region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0050" y="64579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00050" y="1123950"/>
            <a:ext cx="11010900" cy="4572000"/>
          </a:xfrm>
          <a:prstGeom prst="roundRect">
            <a:avLst>
              <a:gd name="adj" fmla="val 2000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pic>
        <p:nvPicPr>
          <p:cNvPr id="6" name="Image 0" descr="/Users/dpadmana/projects/ppt-gen/assets/plots/regions-8020a8f48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2500" y="1314450"/>
            <a:ext cx="9906000" cy="41910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0550" y="5867400"/>
            <a:ext cx="10477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Asia Pacific leads on growth; North America still carries the revenue base.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304800"/>
            <a:ext cx="1104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Channel mix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0050" y="64579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05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00050" y="1123950"/>
            <a:ext cx="11010900" cy="3009900"/>
          </a:xfrm>
          <a:prstGeom prst="roundRect">
            <a:avLst>
              <a:gd name="adj" fmla="val 3038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6250" y="1162050"/>
          <a:ext cx="10858500" cy="914400"/>
        </p:xfrm>
        <a:graphic>
          <a:graphicData uri="http://schemas.openxmlformats.org/drawingml/2006/table">
            <a:tbl>
              <a:tblPr/>
              <a:tblGrid>
                <a:gridCol w="4126230"/>
                <a:gridCol w="3366135"/>
                <a:gridCol w="3366135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channel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share_pct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nps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Web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34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42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3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Mobile app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3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28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3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51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Email / CRM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18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38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3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Partners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3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12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3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29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In-product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8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55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3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304800"/>
            <a:ext cx="1104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Pipeline architecture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0050" y="64579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00050" y="1123950"/>
            <a:ext cx="11010900" cy="4572000"/>
          </a:xfrm>
          <a:prstGeom prst="roundRect">
            <a:avLst>
              <a:gd name="adj" fmla="val 2000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pic>
        <p:nvPicPr>
          <p:cNvPr id="6" name="Image 0" descr="/Users/dpadmana/projects/ppt-gen/assets/diagrams/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2500" y="1314450"/>
            <a:ext cx="9906000" cy="4191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304800"/>
            <a:ext cx="1104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Summary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0050" y="64579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07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00050" y="12096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0550" y="1123950"/>
            <a:ext cx="10287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Unified theme drives Marp CSS, plots, and diagrams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00050" y="15906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0550" y="1504950"/>
            <a:ext cx="10287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Construct layouts share the same tokens and markdown source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00050" y="19716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0550" y="1885950"/>
            <a:ext cx="10287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Edit this file and run `npm run build:constructs` or `npm run build:pdf`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457200"/>
            <a:ext cx="3048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STRATEGY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00050" y="1143000"/>
            <a:ext cx="723900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practical roadmap
for product analytics
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400050" y="3429000"/>
            <a:ext cx="6858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Connect discovery, delivery and measurement into one learning system over 12–18 months.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00050" y="4381500"/>
            <a:ext cx="1238250" cy="28575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6250" y="4438650"/>
            <a:ext cx="10858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ROADMAP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00050" y="48768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For product, data and engineering leaders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096250" y="381000"/>
            <a:ext cx="3333750" cy="5715000"/>
          </a:xfrm>
          <a:prstGeom prst="roundRect">
            <a:avLst>
              <a:gd name="adj" fmla="val 2743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524875" y="952500"/>
            <a:ext cx="609600" cy="609600"/>
          </a:xfrm>
          <a:prstGeom prst="roundRect">
            <a:avLst>
              <a:gd name="adj" fmla="val 15000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810750" y="857250"/>
            <a:ext cx="609600" cy="609600"/>
          </a:xfrm>
          <a:prstGeom prst="roundRect">
            <a:avLst>
              <a:gd name="adj" fmla="val 15000"/>
            </a:avLst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715625" y="1524000"/>
            <a:ext cx="609600" cy="609600"/>
          </a:xfrm>
          <a:prstGeom prst="roundRect">
            <a:avLst>
              <a:gd name="adj" fmla="val 15000"/>
            </a:avLst>
          </a:prstGeom>
          <a:solidFill>
            <a:srgbClr val="59A14F"/>
          </a:solidFill>
          <a:ln w="12700">
            <a:solidFill>
              <a:srgbClr val="59A14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858250" y="2333625"/>
            <a:ext cx="609600" cy="609600"/>
          </a:xfrm>
          <a:prstGeom prst="roundRect">
            <a:avLst>
              <a:gd name="adj" fmla="val 15000"/>
            </a:avLst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001250" y="2619375"/>
            <a:ext cx="609600" cy="609600"/>
          </a:xfrm>
          <a:prstGeom prst="roundRect">
            <a:avLst>
              <a:gd name="adj" fmla="val 15000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858500" y="3476625"/>
            <a:ext cx="609600" cy="609600"/>
          </a:xfrm>
          <a:prstGeom prst="roundRect">
            <a:avLst>
              <a:gd name="adj" fmla="val 15000"/>
            </a:avLst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763000" y="4238625"/>
            <a:ext cx="609600" cy="609600"/>
          </a:xfrm>
          <a:prstGeom prst="roundRect">
            <a:avLst>
              <a:gd name="adj" fmla="val 15000"/>
            </a:avLst>
          </a:prstGeom>
          <a:solidFill>
            <a:srgbClr val="59A14F"/>
          </a:solidFill>
          <a:ln w="12700">
            <a:solidFill>
              <a:srgbClr val="59A14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906000" y="4857750"/>
            <a:ext cx="609600" cy="609600"/>
          </a:xfrm>
          <a:prstGeom prst="roundRect">
            <a:avLst>
              <a:gd name="adj" fmla="val 15000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829675" y="1162050"/>
            <a:ext cx="1285875" cy="95250"/>
          </a:xfrm>
          <a:prstGeom prst="line">
            <a:avLst/>
          </a:prstGeom>
          <a:noFill/>
          <a:ln w="25400">
            <a:solidFill>
              <a:srgbClr val="3A3A5C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10115550" y="1162050"/>
            <a:ext cx="904875" cy="666750"/>
          </a:xfrm>
          <a:prstGeom prst="line">
            <a:avLst/>
          </a:prstGeom>
          <a:noFill/>
          <a:ln w="25400">
            <a:solidFill>
              <a:srgbClr val="3A3A5C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9163050" y="2638425"/>
            <a:ext cx="1143000" cy="285750"/>
          </a:xfrm>
          <a:prstGeom prst="line">
            <a:avLst/>
          </a:prstGeom>
          <a:noFill/>
          <a:ln w="25400">
            <a:solidFill>
              <a:srgbClr val="3A3A5C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10306050" y="2924175"/>
            <a:ext cx="857250" cy="857250"/>
          </a:xfrm>
          <a:prstGeom prst="line">
            <a:avLst/>
          </a:prstGeom>
          <a:noFill/>
          <a:ln w="25400">
            <a:solidFill>
              <a:srgbClr val="3A3A5C"/>
            </a:solidFill>
            <a:prstDash val="solid"/>
            <a:headEnd type="none"/>
            <a:tailEnd type="none"/>
          </a:ln>
        </p:spPr>
      </p:sp>
      <p:sp>
        <p:nvSpPr>
          <p:cNvPr id="21" name="Shape 19"/>
          <p:cNvSpPr/>
          <p:nvPr/>
        </p:nvSpPr>
        <p:spPr>
          <a:xfrm>
            <a:off x="9067800" y="4543425"/>
            <a:ext cx="1143000" cy="619125"/>
          </a:xfrm>
          <a:prstGeom prst="line">
            <a:avLst/>
          </a:prstGeom>
          <a:noFill/>
          <a:ln w="25400">
            <a:solidFill>
              <a:srgbClr val="3A3A5C"/>
            </a:solidFill>
            <a:prstDash val="solid"/>
            <a:headEnd type="none"/>
            <a:tailEnd type="none"/>
          </a:ln>
        </p:spPr>
      </p:sp>
      <p:sp>
        <p:nvSpPr>
          <p:cNvPr id="22" name="Text 20"/>
          <p:cNvSpPr/>
          <p:nvPr/>
        </p:nvSpPr>
        <p:spPr>
          <a:xfrm>
            <a:off x="8305800" y="5619750"/>
            <a:ext cx="95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CUSTOMER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258300" y="5619750"/>
            <a:ext cx="95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0210800" y="5619750"/>
            <a:ext cx="95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CHANNEL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00050" y="64579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304800"/>
            <a:ext cx="1104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release should make the next decision sharper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0050" y="857250"/>
            <a:ext cx="1047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Move from fragmented metrics to a shared decision fabric.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00050" y="64579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09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00050" y="1524000"/>
            <a:ext cx="5219700" cy="4000500"/>
          </a:xfrm>
          <a:prstGeom prst="roundRect">
            <a:avLst>
              <a:gd name="adj" fmla="val 2286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05500" y="1524000"/>
            <a:ext cx="5505450" cy="4000500"/>
          </a:xfrm>
          <a:prstGeom prst="roundRect">
            <a:avLst>
              <a:gd name="adj" fmla="val 2286"/>
            </a:avLst>
          </a:prstGeom>
          <a:solidFill>
            <a:srgbClr val="1F1F36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790700"/>
            <a:ext cx="1524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TODAY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2152650"/>
            <a:ext cx="457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Signals live in silos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685800" y="32289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6300" y="3143250"/>
            <a:ext cx="4381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Product, growth and support dashboards disagree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85800" y="36861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76300" y="3600450"/>
            <a:ext cx="4381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Experiments optimize local KPIs, not portfolio outcomes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85800" y="41433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76300" y="4057650"/>
            <a:ext cx="4381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Roadmap bets lack a shared measurement design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210300" y="1790700"/>
            <a:ext cx="1524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TARGET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10300" y="2152650"/>
            <a:ext cx="4762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decision loop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6210300" y="32289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0" y="3143250"/>
            <a:ext cx="4572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Shared identity and event taxonomy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210300" y="36861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0" y="3600450"/>
            <a:ext cx="4572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Next-best action for surface and lifecycle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210300" y="41433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0" y="4057650"/>
            <a:ext cx="4572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Incrementality tied to retention and margin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85800" y="5715000"/>
            <a:ext cx="1333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North-star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2095500" y="5676900"/>
            <a:ext cx="8572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Faster learning with fewer wasted bets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304800"/>
            <a:ext cx="1104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Prioritize use cases that compound across the journey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0050" y="857250"/>
            <a:ext cx="1047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Start where decisions are frequent, measurable and owned.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00050" y="64579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10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00050" y="1571625"/>
            <a:ext cx="2609850" cy="2000250"/>
          </a:xfrm>
          <a:prstGeom prst="roundRect">
            <a:avLst>
              <a:gd name="adj" fmla="val 4571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00050" y="1571625"/>
            <a:ext cx="2609850" cy="76200"/>
          </a:xfrm>
          <a:prstGeom prst="rect">
            <a:avLst/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1500" y="1838325"/>
            <a:ext cx="22669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DISCOVER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71500" y="2314575"/>
            <a:ext cx="22669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Audience insight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71500" y="2733675"/>
            <a:ext cx="22669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Opportunity sizing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200400" y="1571625"/>
            <a:ext cx="2609850" cy="2000250"/>
          </a:xfrm>
          <a:prstGeom prst="roundRect">
            <a:avLst>
              <a:gd name="adj" fmla="val 4571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00400" y="1571625"/>
            <a:ext cx="2609850" cy="7620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71850" y="1838325"/>
            <a:ext cx="22669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CONSIDER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371850" y="2314575"/>
            <a:ext cx="22669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Personalized content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371850" y="2733675"/>
            <a:ext cx="22669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Fit / intent scoring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000750" y="1571625"/>
            <a:ext cx="2609850" cy="2000250"/>
          </a:xfrm>
          <a:prstGeom prst="roundRect">
            <a:avLst>
              <a:gd name="adj" fmla="val 4571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000750" y="1571625"/>
            <a:ext cx="2609850" cy="762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72200" y="1838325"/>
            <a:ext cx="22669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ACTIVATE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172200" y="2314575"/>
            <a:ext cx="22669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Next-best offer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172200" y="2733675"/>
            <a:ext cx="22669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In-product guidance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801100" y="1571625"/>
            <a:ext cx="2609850" cy="2000250"/>
          </a:xfrm>
          <a:prstGeom prst="roundRect">
            <a:avLst>
              <a:gd name="adj" fmla="val 4571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801100" y="1571625"/>
            <a:ext cx="2609850" cy="76200"/>
          </a:xfrm>
          <a:prstGeom prst="rect">
            <a:avLst/>
          </a:prstGeom>
          <a:solidFill>
            <a:srgbClr val="59A14F"/>
          </a:solidFill>
          <a:ln w="12700">
            <a:solidFill>
              <a:srgbClr val="59A14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972550" y="1838325"/>
            <a:ext cx="22669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RETAIN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972550" y="2314575"/>
            <a:ext cx="22669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Churn early warning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8972550" y="2733675"/>
            <a:ext cx="22669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Expansion plays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62000" y="3876675"/>
            <a:ext cx="10287000" cy="9525"/>
          </a:xfrm>
          <a:prstGeom prst="line">
            <a:avLst/>
          </a:prstGeom>
          <a:noFill/>
          <a:ln w="19050">
            <a:solidFill>
              <a:srgbClr val="3A3A5C"/>
            </a:solidFill>
            <a:prstDash val="solid"/>
            <a:headEnd type="none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1600200" y="3771900"/>
            <a:ext cx="209550" cy="209550"/>
          </a:xfrm>
          <a:prstGeom prst="roundRect">
            <a:avLst>
              <a:gd name="adj" fmla="val 43636"/>
            </a:avLst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00550" y="3771900"/>
            <a:ext cx="209550" cy="209550"/>
          </a:xfrm>
          <a:prstGeom prst="roundRect">
            <a:avLst>
              <a:gd name="adj" fmla="val 43636"/>
            </a:avLst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200900" y="3771900"/>
            <a:ext cx="209550" cy="209550"/>
          </a:xfrm>
          <a:prstGeom prst="roundRect">
            <a:avLst>
              <a:gd name="adj" fmla="val 43636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001250" y="3771900"/>
            <a:ext cx="209550" cy="209550"/>
          </a:xfrm>
          <a:prstGeom prst="roundRect">
            <a:avLst>
              <a:gd name="adj" fmla="val 43636"/>
            </a:avLst>
          </a:prstGeom>
          <a:solidFill>
            <a:srgbClr val="59A14F"/>
          </a:solidFill>
          <a:ln w="12700">
            <a:solidFill>
              <a:srgbClr val="59A14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00050" y="4219575"/>
            <a:ext cx="3048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SHARED DECISION SIGNALS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00050" y="4562475"/>
            <a:ext cx="2076450" cy="533400"/>
          </a:xfrm>
          <a:prstGeom prst="roundRect">
            <a:avLst>
              <a:gd name="adj" fmla="val 17143"/>
            </a:avLst>
          </a:prstGeom>
          <a:solidFill>
            <a:srgbClr val="EAEAEA"/>
          </a:solidFill>
          <a:ln w="15875">
            <a:solidFill>
              <a:srgbClr val="EAEA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14350" y="4714875"/>
            <a:ext cx="18478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Identity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2628900" y="4562475"/>
            <a:ext cx="2076450" cy="533400"/>
          </a:xfrm>
          <a:prstGeom prst="roundRect">
            <a:avLst>
              <a:gd name="adj" fmla="val 17143"/>
            </a:avLst>
          </a:prstGeom>
          <a:ln w="15875">
            <a:solidFill>
              <a:srgbClr val="3A3A5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743200" y="4714875"/>
            <a:ext cx="18478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context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4857750" y="4562475"/>
            <a:ext cx="2076450" cy="533400"/>
          </a:xfrm>
          <a:prstGeom prst="roundRect">
            <a:avLst>
              <a:gd name="adj" fmla="val 17143"/>
            </a:avLst>
          </a:prstGeom>
          <a:ln w="15875">
            <a:solidFill>
              <a:srgbClr val="3A3A5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972050" y="4714875"/>
            <a:ext cx="18478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Channel state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7086600" y="4562475"/>
            <a:ext cx="2076450" cy="533400"/>
          </a:xfrm>
          <a:prstGeom prst="roundRect">
            <a:avLst>
              <a:gd name="adj" fmla="val 17143"/>
            </a:avLst>
          </a:prstGeom>
          <a:ln w="15875">
            <a:solidFill>
              <a:srgbClr val="3A3A5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200900" y="4714875"/>
            <a:ext cx="18478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Inventory / capacity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9315450" y="4562475"/>
            <a:ext cx="2076450" cy="533400"/>
          </a:xfrm>
          <a:prstGeom prst="roundRect">
            <a:avLst>
              <a:gd name="adj" fmla="val 17143"/>
            </a:avLst>
          </a:prstGeom>
          <a:ln w="15875">
            <a:solidFill>
              <a:srgbClr val="3A3A5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429750" y="4714875"/>
            <a:ext cx="18478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Experiment exposure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304800"/>
            <a:ext cx="1104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Sequence: prove the signal, scale decisions, then optimize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0050" y="857250"/>
            <a:ext cx="1047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Each phase ships a production decision and a measurement design.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00050" y="64579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11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66750" y="5219700"/>
            <a:ext cx="10382250" cy="9525"/>
          </a:xfrm>
          <a:prstGeom prst="line">
            <a:avLst/>
          </a:prstGeom>
          <a:noFill/>
          <a:ln w="19050">
            <a:solidFill>
              <a:srgbClr val="3A3A5C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400050" y="1666875"/>
            <a:ext cx="3514725" cy="3095625"/>
          </a:xfrm>
          <a:prstGeom prst="roundRect">
            <a:avLst>
              <a:gd name="adj" fmla="val 2954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00050" y="1666875"/>
            <a:ext cx="3514725" cy="9525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8650" y="1933575"/>
            <a:ext cx="1714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0–90 DAYS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28650" y="2219325"/>
            <a:ext cx="30575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Prove the signal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628650" y="2714625"/>
            <a:ext cx="305752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Identity, baseline, 2–3 pilot use cases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28650" y="34194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9150" y="3333750"/>
            <a:ext cx="28670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Event taxonomy MVP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8650" y="38004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9150" y="3714750"/>
            <a:ext cx="28670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Measurement baseline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28650" y="41814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9150" y="4095750"/>
            <a:ext cx="28670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[object Object]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2085975" y="5153025"/>
            <a:ext cx="133350" cy="133350"/>
          </a:xfrm>
          <a:prstGeom prst="roundRect">
            <a:avLst>
              <a:gd name="adj" fmla="val 68571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43375" y="1666875"/>
            <a:ext cx="3514725" cy="3095625"/>
          </a:xfrm>
          <a:prstGeom prst="roundRect">
            <a:avLst>
              <a:gd name="adj" fmla="val 2954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43375" y="1666875"/>
            <a:ext cx="3514725" cy="9525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71975" y="1933575"/>
            <a:ext cx="1714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3–9 MONTHS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371975" y="2219325"/>
            <a:ext cx="30575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Scale the decisions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4371975" y="2714625"/>
            <a:ext cx="305752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Reusable models and activation paths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371975" y="34194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62475" y="3333750"/>
            <a:ext cx="28670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Next-best-action service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4371975" y="38004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62475" y="3714750"/>
            <a:ext cx="28670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CRM + in-product hooks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4371975" y="41814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62475" y="4095750"/>
            <a:ext cx="28670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Always-on test engine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5829300" y="5153025"/>
            <a:ext cx="133350" cy="133350"/>
          </a:xfrm>
          <a:prstGeom prst="roundRect">
            <a:avLst>
              <a:gd name="adj" fmla="val 68571"/>
            </a:avLst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886700" y="1666875"/>
            <a:ext cx="3514725" cy="3095625"/>
          </a:xfrm>
          <a:prstGeom prst="roundRect">
            <a:avLst>
              <a:gd name="adj" fmla="val 2954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886700" y="1666875"/>
            <a:ext cx="3514725" cy="95250"/>
          </a:xfrm>
          <a:prstGeom prst="rect">
            <a:avLst/>
          </a:prstGeom>
          <a:solidFill>
            <a:srgbClr val="59A14F"/>
          </a:solidFill>
          <a:ln w="12700">
            <a:solidFill>
              <a:srgbClr val="59A14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115300" y="1933575"/>
            <a:ext cx="1714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9A14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9–18 MONTHS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115300" y="2219325"/>
            <a:ext cx="30575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Optimize the system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8115300" y="2714625"/>
            <a:ext cx="305752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Cross-surface optimization at scale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8115300" y="34194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305800" y="3333750"/>
            <a:ext cx="28670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Budget via incrementality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8115300" y="38004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305800" y="3714750"/>
            <a:ext cx="28670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Capacity-aware offers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8115300" y="41814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305800" y="4095750"/>
            <a:ext cx="28670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Guarded automation</a:t>
            </a:r>
            <a:endParaRPr lang="en-US" sz="1500" dirty="0"/>
          </a:p>
        </p:txBody>
      </p:sp>
      <p:sp>
        <p:nvSpPr>
          <p:cNvPr id="42" name="Shape 40"/>
          <p:cNvSpPr/>
          <p:nvPr/>
        </p:nvSpPr>
        <p:spPr>
          <a:xfrm>
            <a:off x="9572625" y="5153025"/>
            <a:ext cx="133350" cy="133350"/>
          </a:xfrm>
          <a:prstGeom prst="roundRect">
            <a:avLst>
              <a:gd name="adj" fmla="val 68571"/>
            </a:avLst>
          </a:prstGeom>
          <a:solidFill>
            <a:srgbClr val="59A14F"/>
          </a:solidFill>
          <a:ln w="12700">
            <a:solidFill>
              <a:srgbClr val="59A14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00050" y="5619750"/>
            <a:ext cx="1047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Each phase ends with a stop / scale gate owned by a commercial lead.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304800"/>
            <a:ext cx="1104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Build a decision fabric—not one-off models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0050" y="857250"/>
            <a:ext cx="1047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Reusable foundations let new use cases launch in weeks.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00050" y="64579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12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00050" y="1905000"/>
            <a:ext cx="2609850" cy="2047875"/>
          </a:xfrm>
          <a:prstGeom prst="roundRect">
            <a:avLst>
              <a:gd name="adj" fmla="val 4465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00050" y="1905000"/>
            <a:ext cx="2609850" cy="85725"/>
          </a:xfrm>
          <a:prstGeom prst="rect">
            <a:avLst/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0550" y="2247900"/>
            <a:ext cx="22288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Signals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90550" y="2762250"/>
            <a:ext cx="22288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· CRM · support · billing · experiments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009900" y="2933700"/>
            <a:ext cx="190500" cy="9525"/>
          </a:xfrm>
          <a:prstGeom prst="line">
            <a:avLst/>
          </a:prstGeom>
          <a:noFill/>
          <a:ln w="25400">
            <a:solidFill>
              <a:srgbClr val="EAEAEA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3200400" y="1905000"/>
            <a:ext cx="2609850" cy="2047875"/>
          </a:xfrm>
          <a:prstGeom prst="roundRect">
            <a:avLst>
              <a:gd name="adj" fmla="val 4465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00400" y="1905000"/>
            <a:ext cx="2609850" cy="85725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90900" y="2247900"/>
            <a:ext cx="22288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Entities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390900" y="2762250"/>
            <a:ext cx="22288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Identity · catalog · consent · features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810250" y="2933700"/>
            <a:ext cx="190500" cy="9525"/>
          </a:xfrm>
          <a:prstGeom prst="line">
            <a:avLst/>
          </a:prstGeom>
          <a:noFill/>
          <a:ln w="25400">
            <a:solidFill>
              <a:srgbClr val="EAEAEA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6000750" y="1905000"/>
            <a:ext cx="2609850" cy="2047875"/>
          </a:xfrm>
          <a:prstGeom prst="roundRect">
            <a:avLst>
              <a:gd name="adj" fmla="val 4465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000750" y="1905000"/>
            <a:ext cx="2609850" cy="85725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91250" y="2247900"/>
            <a:ext cx="22288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Decisions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191250" y="2762250"/>
            <a:ext cx="22288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Propensity · recommend · optimize · guardrails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8610600" y="2933700"/>
            <a:ext cx="190500" cy="9525"/>
          </a:xfrm>
          <a:prstGeom prst="line">
            <a:avLst/>
          </a:prstGeom>
          <a:noFill/>
          <a:ln w="25400">
            <a:solidFill>
              <a:srgbClr val="EAEAEA"/>
            </a:solidFill>
            <a:prstDash val="solid"/>
            <a:headEnd type="none"/>
            <a:tailEnd type="none"/>
          </a:ln>
        </p:spPr>
      </p:sp>
      <p:sp>
        <p:nvSpPr>
          <p:cNvPr id="21" name="Shape 19"/>
          <p:cNvSpPr/>
          <p:nvPr/>
        </p:nvSpPr>
        <p:spPr>
          <a:xfrm>
            <a:off x="8801100" y="1905000"/>
            <a:ext cx="2609850" cy="2047875"/>
          </a:xfrm>
          <a:prstGeom prst="roundRect">
            <a:avLst>
              <a:gd name="adj" fmla="val 4465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801100" y="1905000"/>
            <a:ext cx="2609850" cy="85725"/>
          </a:xfrm>
          <a:prstGeom prst="rect">
            <a:avLst/>
          </a:prstGeom>
          <a:solidFill>
            <a:srgbClr val="59A14F"/>
          </a:solidFill>
          <a:ln w="12700">
            <a:solidFill>
              <a:srgbClr val="59A14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991600" y="2247900"/>
            <a:ext cx="22288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Learning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8991600" y="2762250"/>
            <a:ext cx="22288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Activation · holdouts · monitoring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00050" y="4476750"/>
            <a:ext cx="2667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NON-NEGOTIABLE CONTROLS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00050" y="4810125"/>
            <a:ext cx="2571750" cy="457200"/>
          </a:xfrm>
          <a:prstGeom prst="roundRect">
            <a:avLst>
              <a:gd name="adj" fmla="val 20000"/>
            </a:avLst>
          </a:prstGeom>
          <a:solidFill>
            <a:srgbClr val="1F1F36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33400" y="4953000"/>
            <a:ext cx="23336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Consent enforcement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162300" y="4810125"/>
            <a:ext cx="2571750" cy="457200"/>
          </a:xfrm>
          <a:prstGeom prst="roundRect">
            <a:avLst>
              <a:gd name="adj" fmla="val 20000"/>
            </a:avLst>
          </a:prstGeom>
          <a:solidFill>
            <a:srgbClr val="1F1F36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95650" y="4953000"/>
            <a:ext cx="23336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Model monitoring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924550" y="4810125"/>
            <a:ext cx="2571750" cy="457200"/>
          </a:xfrm>
          <a:prstGeom prst="roundRect">
            <a:avLst>
              <a:gd name="adj" fmla="val 20000"/>
            </a:avLst>
          </a:prstGeom>
          <a:solidFill>
            <a:srgbClr val="1F1F36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57900" y="4953000"/>
            <a:ext cx="23336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Human override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8686800" y="4810125"/>
            <a:ext cx="2571750" cy="457200"/>
          </a:xfrm>
          <a:prstGeom prst="roundRect">
            <a:avLst>
              <a:gd name="adj" fmla="val 20000"/>
            </a:avLst>
          </a:prstGeom>
          <a:solidFill>
            <a:srgbClr val="1F1F36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820150" y="4953000"/>
            <a:ext cx="23336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Incrementality ledger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400050" y="5619750"/>
            <a:ext cx="1333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Principle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1809750" y="558165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Services return an action, confidence, rationale and measurement plan—not just a score.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304800"/>
            <a:ext cx="1104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Measure incremental value, not vanity engagement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0050" y="857250"/>
            <a:ext cx="1047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use case needs a test design before production.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00050" y="64579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13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00050" y="1619250"/>
            <a:ext cx="6286500" cy="685800"/>
          </a:xfrm>
          <a:prstGeom prst="roundRect">
            <a:avLst>
              <a:gd name="adj" fmla="val 13333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00050" y="1619250"/>
            <a:ext cx="114300" cy="685800"/>
          </a:xfrm>
          <a:prstGeom prst="rect">
            <a:avLst/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04850" y="1828800"/>
            <a:ext cx="14287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381250" y="1809750"/>
            <a:ext cx="400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Relevance · trust · retention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400050" y="2533650"/>
            <a:ext cx="6286500" cy="685800"/>
          </a:xfrm>
          <a:prstGeom prst="roundRect">
            <a:avLst>
              <a:gd name="adj" fmla="val 13333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00050" y="2533650"/>
            <a:ext cx="114300" cy="68580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04850" y="2743200"/>
            <a:ext cx="14287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381250" y="2724150"/>
            <a:ext cx="400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Activation · conversion · time-to-value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400050" y="3448050"/>
            <a:ext cx="6286500" cy="685800"/>
          </a:xfrm>
          <a:prstGeom prst="roundRect">
            <a:avLst>
              <a:gd name="adj" fmla="val 13333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0050" y="3448050"/>
            <a:ext cx="114300" cy="6858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04850" y="3657600"/>
            <a:ext cx="14287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COMMERCIAL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381250" y="3638550"/>
            <a:ext cx="400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Incremental revenue · margin · LTV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7124700" y="1619250"/>
            <a:ext cx="4286250" cy="3619500"/>
          </a:xfrm>
          <a:prstGeom prst="roundRect">
            <a:avLst>
              <a:gd name="adj" fmla="val 2526"/>
            </a:avLst>
          </a:prstGeom>
          <a:solidFill>
            <a:srgbClr val="1F1F36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48550" y="1885950"/>
            <a:ext cx="2667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TEST-AND-LEARN CADENCE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448550" y="2381250"/>
            <a:ext cx="304800" cy="304800"/>
          </a:xfrm>
          <a:prstGeom prst="roundRect">
            <a:avLst>
              <a:gd name="adj" fmla="val 30000"/>
            </a:avLst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48550" y="2438400"/>
            <a:ext cx="3048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934325" y="2419350"/>
            <a:ext cx="31432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Define decision &amp; population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7448550" y="2962275"/>
            <a:ext cx="304800" cy="304800"/>
          </a:xfrm>
          <a:prstGeom prst="roundRect">
            <a:avLst>
              <a:gd name="adj" fmla="val 30000"/>
            </a:avLst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448550" y="3019425"/>
            <a:ext cx="3048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934325" y="3000375"/>
            <a:ext cx="31432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Choose control / holdout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7448550" y="3543300"/>
            <a:ext cx="304800" cy="304800"/>
          </a:xfrm>
          <a:prstGeom prst="roundRect">
            <a:avLst>
              <a:gd name="adj" fmla="val 30000"/>
            </a:avLst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448550" y="3600450"/>
            <a:ext cx="3048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934325" y="3581400"/>
            <a:ext cx="31432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Monitor incrementality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7448550" y="4124325"/>
            <a:ext cx="304800" cy="304800"/>
          </a:xfrm>
          <a:prstGeom prst="roundRect">
            <a:avLst>
              <a:gd name="adj" fmla="val 30000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448550" y="4181475"/>
            <a:ext cx="3048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934325" y="4162425"/>
            <a:ext cx="31432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Promote, tune or stop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400050" y="5715000"/>
            <a:ext cx="114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Watchout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571625" y="5676900"/>
            <a:ext cx="9334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Avoid optimizing click-through when the real decision is retention or margin.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304800"/>
            <a:ext cx="1104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Start with a 90-day launch team that can ship and learn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0050" y="857250"/>
            <a:ext cx="1047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Keep accountability close to commercial owners.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00050" y="64579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14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0050" y="1952625"/>
            <a:ext cx="2095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514600" y="2057400"/>
            <a:ext cx="8867775" cy="9525"/>
          </a:xfrm>
          <a:prstGeom prst="line">
            <a:avLst/>
          </a:prstGeom>
          <a:noFill/>
          <a:ln w="12700">
            <a:solidFill>
              <a:srgbClr val="3A3A5C"/>
            </a:solidFill>
            <a:prstDash val="solid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400050" y="2600325"/>
            <a:ext cx="2095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Growth / CRM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514600" y="2705100"/>
            <a:ext cx="8867775" cy="9525"/>
          </a:xfrm>
          <a:prstGeom prst="line">
            <a:avLst/>
          </a:prstGeom>
          <a:noFill/>
          <a:ln w="12700">
            <a:solidFill>
              <a:srgbClr val="3A3A5C"/>
            </a:solidFill>
            <a:prstDash val="solid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400050" y="3248025"/>
            <a:ext cx="2095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Data science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514600" y="3352800"/>
            <a:ext cx="8867775" cy="9525"/>
          </a:xfrm>
          <a:prstGeom prst="line">
            <a:avLst/>
          </a:prstGeom>
          <a:noFill/>
          <a:ln w="12700">
            <a:solidFill>
              <a:srgbClr val="3A3A5C"/>
            </a:solidFill>
            <a:prstDash val="solid"/>
            <a:headEnd type="none"/>
            <a:tailEnd type="none"/>
          </a:ln>
        </p:spPr>
      </p:sp>
      <p:sp>
        <p:nvSpPr>
          <p:cNvPr id="12" name="Text 10"/>
          <p:cNvSpPr/>
          <p:nvPr/>
        </p:nvSpPr>
        <p:spPr>
          <a:xfrm>
            <a:off x="400050" y="3895725"/>
            <a:ext cx="2095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Data engineering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514600" y="4000500"/>
            <a:ext cx="8867775" cy="9525"/>
          </a:xfrm>
          <a:prstGeom prst="line">
            <a:avLst/>
          </a:prstGeom>
          <a:noFill/>
          <a:ln w="12700">
            <a:solidFill>
              <a:srgbClr val="3A3A5C"/>
            </a:solidFill>
            <a:prstDash val="solid"/>
            <a:headEnd type="none"/>
            <a:tailEnd type="none"/>
          </a:ln>
        </p:spPr>
      </p:sp>
      <p:sp>
        <p:nvSpPr>
          <p:cNvPr id="14" name="Text 12"/>
          <p:cNvSpPr/>
          <p:nvPr/>
        </p:nvSpPr>
        <p:spPr>
          <a:xfrm>
            <a:off x="400050" y="4543425"/>
            <a:ext cx="2095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Finance / measure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2514600" y="4648200"/>
            <a:ext cx="8867775" cy="9525"/>
          </a:xfrm>
          <a:prstGeom prst="line">
            <a:avLst/>
          </a:prstGeom>
          <a:noFill/>
          <a:ln w="12700">
            <a:solidFill>
              <a:srgbClr val="3A3A5C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2724150" y="1571625"/>
            <a:ext cx="2381250" cy="3619500"/>
          </a:xfrm>
          <a:prstGeom prst="roundRect">
            <a:avLst>
              <a:gd name="adj" fmla="val 3840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724150" y="1571625"/>
            <a:ext cx="2381250" cy="400050"/>
          </a:xfrm>
          <a:prstGeom prst="rect">
            <a:avLst/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876550" y="1666875"/>
            <a:ext cx="20764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Weeks 1–3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334000" y="1571625"/>
            <a:ext cx="2381250" cy="3619500"/>
          </a:xfrm>
          <a:prstGeom prst="roundRect">
            <a:avLst>
              <a:gd name="adj" fmla="val 3840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334000" y="1571625"/>
            <a:ext cx="2381250" cy="40005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0" y="1666875"/>
            <a:ext cx="20764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Weeks 4–7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943850" y="1571625"/>
            <a:ext cx="3143250" cy="3619500"/>
          </a:xfrm>
          <a:prstGeom prst="roundRect">
            <a:avLst>
              <a:gd name="adj" fmla="val 2909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943850" y="1571625"/>
            <a:ext cx="3143250" cy="40005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096250" y="1666875"/>
            <a:ext cx="28384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Weeks 8–12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2876550" y="2133600"/>
            <a:ext cx="2076450" cy="361950"/>
          </a:xfrm>
          <a:prstGeom prst="roundRect">
            <a:avLst>
              <a:gd name="adj" fmla="val 25263"/>
            </a:avLst>
          </a:prstGeom>
          <a:solidFill>
            <a:srgbClr val="1F1F36"/>
          </a:solidFill>
          <a:ln w="12700">
            <a:solidFill>
              <a:srgbClr val="1F1F3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0850" y="2209800"/>
            <a:ext cx="190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Pilot charter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876550" y="2781300"/>
            <a:ext cx="2076450" cy="361950"/>
          </a:xfrm>
          <a:prstGeom prst="roundRect">
            <a:avLst>
              <a:gd name="adj" fmla="val 25263"/>
            </a:avLst>
          </a:prstGeom>
          <a:solidFill>
            <a:srgbClr val="1F1F36"/>
          </a:solidFill>
          <a:ln w="12700">
            <a:solidFill>
              <a:srgbClr val="1F1F3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990850" y="2857500"/>
            <a:ext cx="190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Activation design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0" y="3429000"/>
            <a:ext cx="2076450" cy="361950"/>
          </a:xfrm>
          <a:prstGeom prst="roundRect">
            <a:avLst>
              <a:gd name="adj" fmla="val 25263"/>
            </a:avLst>
          </a:prstGeom>
          <a:solidFill>
            <a:srgbClr val="1F1F36"/>
          </a:solidFill>
          <a:ln w="12700">
            <a:solidFill>
              <a:srgbClr val="1F1F3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00700" y="3505200"/>
            <a:ext cx="190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Model + rules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486400" y="4076700"/>
            <a:ext cx="2076450" cy="361950"/>
          </a:xfrm>
          <a:prstGeom prst="roundRect">
            <a:avLst>
              <a:gd name="adj" fmla="val 25263"/>
            </a:avLst>
          </a:prstGeom>
          <a:solidFill>
            <a:srgbClr val="1F1F36"/>
          </a:solidFill>
          <a:ln w="12700">
            <a:solidFill>
              <a:srgbClr val="1F1F3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600700" y="4152900"/>
            <a:ext cx="190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Feature set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8096250" y="4724400"/>
            <a:ext cx="2838450" cy="361950"/>
          </a:xfrm>
          <a:prstGeom prst="roundRect">
            <a:avLst>
              <a:gd name="adj" fmla="val 25263"/>
            </a:avLst>
          </a:prstGeom>
          <a:solidFill>
            <a:srgbClr val="1F1F36"/>
          </a:solidFill>
          <a:ln w="12700">
            <a:solidFill>
              <a:srgbClr val="1F1F3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210550" y="4800600"/>
            <a:ext cx="2667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Readout + scale gate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400050" y="5715000"/>
            <a:ext cx="1333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Launch criterion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1809750" y="56769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commercial owner, a frontline action, a measurement design and a clear stop / scale rule.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457200"/>
            <a:ext cx="1905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DECISION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00050" y="123825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Invest in a decision system—
not isolated dashboards.
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00050" y="2952750"/>
            <a:ext cx="857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Start with two connected use cases that move retention and learning speed.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00050" y="4000500"/>
            <a:ext cx="3238500" cy="1143000"/>
          </a:xfrm>
          <a:prstGeom prst="roundRect">
            <a:avLst>
              <a:gd name="adj" fmla="val 8000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00050" y="4000500"/>
            <a:ext cx="3238500" cy="76200"/>
          </a:xfrm>
          <a:prstGeom prst="rect">
            <a:avLst/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0550" y="4286250"/>
            <a:ext cx="2857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1. Choose pilots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90550" y="4667250"/>
            <a:ext cx="285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High-frequency decisions with clear owners.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962400" y="4000500"/>
            <a:ext cx="3238500" cy="1143000"/>
          </a:xfrm>
          <a:prstGeom prst="roundRect">
            <a:avLst>
              <a:gd name="adj" fmla="val 8000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962400" y="4000500"/>
            <a:ext cx="3238500" cy="7620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52900" y="4286250"/>
            <a:ext cx="2857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2. Prove incrementality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152900" y="4667250"/>
            <a:ext cx="285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Holdouts and margin-aware readouts.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524750" y="4000500"/>
            <a:ext cx="3238500" cy="1143000"/>
          </a:xfrm>
          <a:prstGeom prst="roundRect">
            <a:avLst>
              <a:gd name="adj" fmla="val 8000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524750" y="4000500"/>
            <a:ext cx="3238500" cy="762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15250" y="4286250"/>
            <a:ext cx="2857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3. Scale the fabric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7715250" y="4667250"/>
            <a:ext cx="285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Reuse identity, features and activation.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00050" y="5619750"/>
            <a:ext cx="1047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Next step: convene the 90-day squad and pick the first two decisions.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00050" y="64198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Product data roadmap</dc:title>
  <dc:subject>PptxGenJS Presentation</dc:subject>
  <dc:creator>ppt-gen</dc:creator>
  <cp:lastModifiedBy>ppt-gen</cp:lastModifiedBy>
  <cp:revision>1</cp:revision>
  <dcterms:created xsi:type="dcterms:W3CDTF">2026-08-03T18:15:32Z</dcterms:created>
  <dcterms:modified xsi:type="dcterms:W3CDTF">2026-08-03T18:15:32Z</dcterms:modified>
</cp:coreProperties>
</file>