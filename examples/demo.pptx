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Q1 Results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review — generated by ppt-gen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trend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quarterly-a5d5f8a6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grew 12% YoY in the latest quarter.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Regional breakdown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2514600"/>
          </a:xfrm>
          <a:prstGeom prst="roundRect">
            <a:avLst>
              <a:gd name="adj" fmla="val 363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revenue_m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growth_pct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North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12.4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11.2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8.7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9.5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Asia Pacific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14.8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by region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regions-a1574b2a9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on growth; North America still carries the revenue base.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3009900"/>
          </a:xfrm>
          <a:prstGeom prst="roundRect">
            <a:avLst>
              <a:gd name="adj" fmla="val 303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channel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share_pct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nps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Web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Mobile app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Email / CRM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Partners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In-product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3800475"/>
          </a:xfrm>
          <a:prstGeom prst="roundRect">
            <a:avLst>
              <a:gd name="adj" fmla="val 240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diagrams/architectu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1314450"/>
            <a:ext cx="10629900" cy="34194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discrete update behind our experiment cadence: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28750"/>
            <a:ext cx="11010900" cy="2095500"/>
          </a:xfrm>
          <a:prstGeom prst="roundRect">
            <a:avLst>
              <a:gd name="adj" fmla="val 43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8" name="Image 1" descr="/Users/dpadmana/projects/ppt-gen/assets/math/math-4a1d9c0557f4f3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325" y="1619250"/>
            <a:ext cx="3571875" cy="1714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0050" y="3695700"/>
            <a:ext cx="11010900" cy="1171575"/>
          </a:xfrm>
          <a:prstGeom prst="roundRect">
            <a:avLst>
              <a:gd name="adj" fmla="val 780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10" name="Image 2" descr="/Users/dpadmana/projects/ppt-gen/assets/math/math-c5585b69899301a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325" y="3886200"/>
            <a:ext cx="1285875" cy="7905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90550" y="5038725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keep  honest.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257300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0550" y="1123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Unified theme drives Marp CSS, plots, and diagrams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00050" y="1638300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0550" y="1504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Layout catalog shares tokens, fit engine, and markdown source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0050" y="2019300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0550" y="1885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this file and run `npm run build:constructs` or `npm run build:pdf`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practical roadmap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 analytics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0383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 discovery, delivery and measurement into one learning system over 12–18 months.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860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7432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0050" y="31051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data and engineering leaders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24875" y="9525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10750" y="8572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715625" y="15240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858250" y="2333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250" y="261937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858500" y="3476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63000" y="4238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906000" y="48577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8829675" y="1162050"/>
            <a:ext cx="1285875" cy="95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9" name="Shape 16"/>
          <p:cNvSpPr/>
          <p:nvPr/>
        </p:nvSpPr>
        <p:spPr>
          <a:xfrm>
            <a:off x="10115550" y="1162050"/>
            <a:ext cx="904875" cy="666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0" name="Shape 17"/>
          <p:cNvSpPr/>
          <p:nvPr/>
        </p:nvSpPr>
        <p:spPr>
          <a:xfrm>
            <a:off x="9163050" y="2638425"/>
            <a:ext cx="1143000" cy="285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10306050" y="2924175"/>
            <a:ext cx="857250" cy="857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2" name="Shape 19"/>
          <p:cNvSpPr/>
          <p:nvPr/>
        </p:nvSpPr>
        <p:spPr>
          <a:xfrm>
            <a:off x="9067800" y="4543425"/>
            <a:ext cx="1143000" cy="619125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3" name="Text 20"/>
          <p:cNvSpPr/>
          <p:nvPr/>
        </p:nvSpPr>
        <p:spPr>
          <a:xfrm>
            <a:off x="8305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2583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210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5527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4671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fragmented signals to a decision fabric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release should make the next decision sharper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Move from fragmented metrics to a shared decision fabric.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57325"/>
            <a:ext cx="5695950" cy="4867275"/>
          </a:xfrm>
          <a:prstGeom prst="roundRect">
            <a:avLst>
              <a:gd name="adj" fmla="val 187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57325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600" y="1685925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9600" y="1981200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 live in silos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0960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" y="26574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Product, growth and support dashboards disagree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9600" y="3286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" y="31146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Experiments optimize local KPIs, not portfolio outcomes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09600" y="3743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" y="35718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 bets lack a shared measurement design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24600" y="1457325"/>
            <a:ext cx="5467350" cy="4867275"/>
          </a:xfrm>
          <a:prstGeom prst="roundRect">
            <a:avLst>
              <a:gd name="adj" fmla="val 187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24600" y="1457325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4150" y="1685925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34150" y="1981200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decision loop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653415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4650" y="26574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identity and event taxonomy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34150" y="3286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24650" y="31146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action for surface and lifecycle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534150" y="3743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24650" y="35718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tied to retention and margin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use cases that compound across the journey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where decisions are frequent, measurable and owned.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57325"/>
            <a:ext cx="2705100" cy="4867275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57325"/>
            <a:ext cx="57150" cy="48672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5716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838325"/>
            <a:ext cx="2362200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 insight · Opportunity sizing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95650" y="1457325"/>
            <a:ext cx="2705100" cy="4867275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95650" y="1457325"/>
            <a:ext cx="57150" cy="486727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67100" y="15716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CONSIDER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67100" y="1838325"/>
            <a:ext cx="2362200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Personalized content · Fit / intent scoring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91250" y="1457325"/>
            <a:ext cx="2705100" cy="4867275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1250" y="1457325"/>
            <a:ext cx="57150" cy="486727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62700" y="15716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62700" y="1838325"/>
            <a:ext cx="2362200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 · In-product guidance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86850" y="1457325"/>
            <a:ext cx="2705100" cy="4867275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086850" y="1457325"/>
            <a:ext cx="57150" cy="486727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58300" y="15716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258300" y="1838325"/>
            <a:ext cx="2362200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Churn early warning · Expansion plays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readouts and next moves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962025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90 DAYS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0050" y="1228725"/>
            <a:ext cx="3705225" cy="1238250"/>
          </a:xfrm>
          <a:prstGeom prst="roundRect">
            <a:avLst>
              <a:gd name="adj" fmla="val 738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28725"/>
            <a:ext cx="370522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438275"/>
            <a:ext cx="33623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LIFT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762125"/>
            <a:ext cx="336232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+9%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571500" y="1990725"/>
            <a:ext cx="33623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reactivation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38625" y="1228725"/>
            <a:ext cx="3705225" cy="1238250"/>
          </a:xfrm>
          <a:prstGeom prst="roundRect">
            <a:avLst>
              <a:gd name="adj" fmla="val 738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38625" y="1228725"/>
            <a:ext cx="370522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10075" y="1438275"/>
            <a:ext cx="33623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410075" y="1762125"/>
            <a:ext cx="336232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11d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4410075" y="1990725"/>
            <a:ext cx="33623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 → live holdout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77200" y="1228725"/>
            <a:ext cx="3705225" cy="1238250"/>
          </a:xfrm>
          <a:prstGeom prst="roundRect">
            <a:avLst>
              <a:gd name="adj" fmla="val 738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77200" y="1228725"/>
            <a:ext cx="3705225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48650" y="1438275"/>
            <a:ext cx="33623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WASTE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48650" y="1762125"/>
            <a:ext cx="3362325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−18%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8248650" y="1990725"/>
            <a:ext cx="33623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Low-margin offers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00050" y="291465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PATH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00050" y="3609975"/>
            <a:ext cx="371475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6750" y="3609975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00050" y="4562475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0050" y="4562475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3400" y="4657725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in 2 journeys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229100" y="3609975"/>
            <a:ext cx="371475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5800" y="3609975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Productize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29100" y="4562475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229100" y="4562475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62450" y="4657725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Playbooks + owners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058150" y="3609975"/>
            <a:ext cx="371475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24850" y="3609975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058150" y="4562475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058150" y="4562475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91500" y="4657725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Coverage → 80%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concentration still favors NA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is elsewhere — sequence capacity accordingly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6287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0550" y="14573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North America is 42% of revenue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00050" y="20859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550" y="19145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growth at 14.8%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00050" y="25431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0550" y="23717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web-heavy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0" y="1457325"/>
            <a:ext cx="5848350" cy="4867275"/>
          </a:xfrm>
          <a:prstGeom prst="roundRect">
            <a:avLst>
              <a:gd name="adj" fmla="val 1879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14" name="Image 1" descr="/Users/dpadmana/projects/ppt-gen/assets/plots/regions-a1574b2a9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28900"/>
            <a:ext cx="5543550" cy="25241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 is overweight in question marks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Rebalance toward proven retention plays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543050" y="1571625"/>
            <a:ext cx="4933950" cy="1995487"/>
          </a:xfrm>
          <a:prstGeom prst="roundRect">
            <a:avLst>
              <a:gd name="adj" fmla="val 458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72250" y="1571625"/>
            <a:ext cx="4933950" cy="1995487"/>
          </a:xfrm>
          <a:prstGeom prst="roundRect">
            <a:avLst>
              <a:gd name="adj" fmla="val 458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3662362"/>
            <a:ext cx="4933950" cy="1995487"/>
          </a:xfrm>
          <a:prstGeom prst="roundRect">
            <a:avLst>
              <a:gd name="adj" fmla="val 458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72250" y="3662362"/>
            <a:ext cx="4933950" cy="1995487"/>
          </a:xfrm>
          <a:prstGeom prst="roundRect">
            <a:avLst>
              <a:gd name="adj" fmla="val 458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1571625"/>
            <a:ext cx="1085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value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43050" y="5715000"/>
            <a:ext cx="996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Relative capability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695450" y="170497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24650" y="170497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695450" y="3795713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PAUSE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24650" y="3795713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657350" y="1990725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52600" y="1990725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686550" y="1990725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81800" y="1990725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657350" y="4081463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52600" y="4081463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NPS dash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86550" y="4081463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81800" y="4081463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 MVP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Sequence: prove the signal, scale decisions, then optimize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ships a production decision and a measurement design.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57325"/>
            <a:ext cx="3667125" cy="441007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57325"/>
            <a:ext cx="57150" cy="441007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6287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87642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 the signal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71500" y="229552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Identity, baseline, 2–3 pilot use cases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71500" y="29241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2000" y="27908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taxonomy MVP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1500" y="31527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2000" y="30194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 baseline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71500" y="33813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32480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[object Object]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257675" y="1457325"/>
            <a:ext cx="3667125" cy="441007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57675" y="1457325"/>
            <a:ext cx="57150" cy="44100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29125" y="16287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429125" y="187642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the decisions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429125" y="229552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models and activation paths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29125" y="29241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19625" y="27908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Next-best-action service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429125" y="31527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19625" y="30194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CRM + in-product hooks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429125" y="33813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619625" y="32480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test engine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115300" y="1457325"/>
            <a:ext cx="3667125" cy="441007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15300" y="1457325"/>
            <a:ext cx="57150" cy="4410075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86750" y="16287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86750" y="187642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the system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8286750" y="229552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Cross-surface optimization at scale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8286750" y="29241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477250" y="27908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Budget via incrementality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8286750" y="31527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477250" y="30194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Capacity-aware offers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286750" y="33813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477250" y="32480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Guarded automation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400050" y="5943600"/>
            <a:ext cx="11391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ends with a stop / scale gate owned by a commercial lead.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decision fabric—not one-off models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foundations let new use cases launch in weeks.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57325"/>
            <a:ext cx="2714625" cy="48672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57325"/>
            <a:ext cx="57150" cy="48672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5716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838325"/>
            <a:ext cx="2371725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· CRM · support · billing · experiments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114675" y="3881438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6125" y="1457325"/>
            <a:ext cx="2714625" cy="48672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6125" y="1457325"/>
            <a:ext cx="57150" cy="486727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57575" y="15716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ENTITIES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457575" y="1838325"/>
            <a:ext cx="2371725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· catalog · consent · features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000750" y="3881438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457325"/>
            <a:ext cx="2714625" cy="48672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72200" y="1457325"/>
            <a:ext cx="57150" cy="486727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3650" y="15716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43650" y="1838325"/>
            <a:ext cx="2371725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Propensity · recommend · optimize · guardrails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886825" y="3881438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058275" y="1457325"/>
            <a:ext cx="2714625" cy="48672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058275" y="1457325"/>
            <a:ext cx="57150" cy="486727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29725" y="15716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229725" y="1838325"/>
            <a:ext cx="2371725" cy="437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holdouts · monitoring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incremental value, not vanity engagement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use case needs a test design before production.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57325"/>
            <a:ext cx="11391900" cy="1552575"/>
          </a:xfrm>
          <a:prstGeom prst="roundRect">
            <a:avLst>
              <a:gd name="adj" fmla="val 589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57325"/>
            <a:ext cx="114300" cy="155257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6750" y="21240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56810" y="21240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Relevance · trust · retention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00050" y="3105150"/>
            <a:ext cx="11391900" cy="1552575"/>
          </a:xfrm>
          <a:prstGeom prst="roundRect">
            <a:avLst>
              <a:gd name="adj" fmla="val 589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00050" y="3105150"/>
            <a:ext cx="114300" cy="15525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6750" y="3771900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956810" y="3771900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conversion · time-to-value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00050" y="4752975"/>
            <a:ext cx="11391900" cy="1552575"/>
          </a:xfrm>
          <a:prstGeom prst="roundRect">
            <a:avLst>
              <a:gd name="adj" fmla="val 589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" y="4752975"/>
            <a:ext cx="114300" cy="155257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6750" y="541972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956810" y="541972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revenue · margin · LTV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learning loop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19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5600700" cy="2609850"/>
          </a:xfrm>
          <a:prstGeom prst="roundRect">
            <a:avLst>
              <a:gd name="adj" fmla="val 350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57150" cy="26098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10191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OBSERVE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85875"/>
            <a:ext cx="5257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Instrument decisions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91250" y="904875"/>
            <a:ext cx="5600700" cy="2609850"/>
          </a:xfrm>
          <a:prstGeom prst="roundRect">
            <a:avLst>
              <a:gd name="adj" fmla="val 350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91250" y="904875"/>
            <a:ext cx="57150" cy="26098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62700" y="10191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HYPOTHESIZE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62700" y="1285875"/>
            <a:ext cx="5257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the holdout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00050" y="3705225"/>
            <a:ext cx="5600700" cy="2609850"/>
          </a:xfrm>
          <a:prstGeom prst="roundRect">
            <a:avLst>
              <a:gd name="adj" fmla="val 350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3705225"/>
            <a:ext cx="57150" cy="26098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381952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71500" y="4086225"/>
            <a:ext cx="5257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 the treatment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91250" y="3705225"/>
            <a:ext cx="5600700" cy="2609850"/>
          </a:xfrm>
          <a:prstGeom prst="roundRect">
            <a:avLst>
              <a:gd name="adj" fmla="val 350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91250" y="3705225"/>
            <a:ext cx="57150" cy="26098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62700" y="381952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62700" y="4086225"/>
            <a:ext cx="5257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Promote or stop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stack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176826" y="904875"/>
            <a:ext cx="5838349" cy="1295400"/>
          </a:xfrm>
          <a:prstGeom prst="roundRect">
            <a:avLst>
              <a:gd name="adj" fmla="val 705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91126" y="1457325"/>
            <a:ext cx="5609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251234" y="2276475"/>
            <a:ext cx="7689533" cy="1295400"/>
          </a:xfrm>
          <a:prstGeom prst="roundRect">
            <a:avLst>
              <a:gd name="adj" fmla="val 7059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365534" y="2828925"/>
            <a:ext cx="74609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325642" y="3648075"/>
            <a:ext cx="9540716" cy="1295400"/>
          </a:xfrm>
          <a:prstGeom prst="roundRect">
            <a:avLst>
              <a:gd name="adj" fmla="val 7059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39942" y="4200525"/>
            <a:ext cx="9312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00050" y="5019675"/>
            <a:ext cx="11391900" cy="1295400"/>
          </a:xfrm>
          <a:prstGeom prst="roundRect">
            <a:avLst>
              <a:gd name="adj" fmla="val 705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4350" y="5572125"/>
            <a:ext cx="111633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90-day launch milestones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0550" y="2228850"/>
            <a:ext cx="1101090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28788" y="21431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6250" y="25050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76250" y="27527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 signed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6763" y="21431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24225" y="25050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5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324225" y="27527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 + holdout live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424737" y="21431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72200" y="25050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8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172200" y="27527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readout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272713" y="21431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175" y="25050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12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20175" y="27527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/ stop gate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signal to scaled decision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11391900" cy="1276350"/>
          </a:xfrm>
          <a:prstGeom prst="roundRect">
            <a:avLst>
              <a:gd name="adj" fmla="val 7164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52450" y="1438275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Raw events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69645" y="2276475"/>
            <a:ext cx="10252710" cy="1276350"/>
          </a:xfrm>
          <a:prstGeom prst="roundRect">
            <a:avLst>
              <a:gd name="adj" fmla="val 7164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22045" y="2809875"/>
            <a:ext cx="9947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Trusted features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539240" y="3648075"/>
            <a:ext cx="9113520" cy="1276350"/>
          </a:xfrm>
          <a:prstGeom prst="roundRect">
            <a:avLst>
              <a:gd name="adj" fmla="val 7164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91640" y="4181475"/>
            <a:ext cx="880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Scored actions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108835" y="5019675"/>
            <a:ext cx="7974330" cy="1276350"/>
          </a:xfrm>
          <a:prstGeom prst="roundRect">
            <a:avLst>
              <a:gd name="adj" fmla="val 7164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61235" y="5553075"/>
            <a:ext cx="7669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 lift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Ownership for the 90-day squad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45458" y="981075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45458" y="981075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16908" y="1095375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 OWNER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1713" y="18192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52600" y="2147888"/>
            <a:ext cx="868680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383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339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295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5113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" y="2505075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15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2956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295650" y="2505075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671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912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91250" y="2505075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627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86850" y="25050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86850" y="2505075"/>
            <a:ext cx="57150" cy="10477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26193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 × effort for the next backlog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352550" y="904875"/>
            <a:ext cx="10058400" cy="541972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98206" y="904875"/>
            <a:ext cx="14288" cy="541972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52550" y="2704306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51006" y="904875"/>
            <a:ext cx="14288" cy="541972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52550" y="4510881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05075" y="1665287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81275" y="1722437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210675" y="1665287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286875" y="1722437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857875" y="3471863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34075" y="3529013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NBA service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210675" y="5278438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6875" y="5335588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Auto-budget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learning is slow today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387215" y="904875"/>
            <a:ext cx="3417570" cy="762000"/>
          </a:xfrm>
          <a:prstGeom prst="roundRect">
            <a:avLst>
              <a:gd name="adj" fmla="val 1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387215" y="904875"/>
            <a:ext cx="57150" cy="762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58665" y="1019175"/>
            <a:ext cx="30746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SLOW LEARNING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 flipH="1">
            <a:off x="2238375" y="1666875"/>
            <a:ext cx="38576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0" name="Shape 7"/>
          <p:cNvSpPr/>
          <p:nvPr/>
        </p:nvSpPr>
        <p:spPr>
          <a:xfrm>
            <a:off x="400050" y="2428875"/>
            <a:ext cx="3676650" cy="3895725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2428875"/>
            <a:ext cx="57150" cy="38957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1500" y="254317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FRAGMENTED IDENTITY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 flipH="1">
            <a:off x="6086475" y="1666875"/>
            <a:ext cx="95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4" name="Shape 11"/>
          <p:cNvSpPr/>
          <p:nvPr/>
        </p:nvSpPr>
        <p:spPr>
          <a:xfrm>
            <a:off x="4248150" y="2428875"/>
            <a:ext cx="3676650" cy="3895725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48150" y="2428875"/>
            <a:ext cx="57150" cy="389572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19600" y="254317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HOLDOUT DESIGN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1666875"/>
            <a:ext cx="383857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8" name="Shape 15"/>
          <p:cNvSpPr/>
          <p:nvPr/>
        </p:nvSpPr>
        <p:spPr>
          <a:xfrm>
            <a:off x="8096250" y="2428875"/>
            <a:ext cx="3676650" cy="3895725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96250" y="2428875"/>
            <a:ext cx="57150" cy="389572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67700" y="254317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 KPI OPTIMIZATION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dashboard debt to decision system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3638550" cy="5419725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57150" cy="54197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1019175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057650" y="3443288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267200" y="904875"/>
            <a:ext cx="3638550" cy="5419725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67200" y="904875"/>
            <a:ext cx="57150" cy="541972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38650" y="1019175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38650" y="1285875"/>
            <a:ext cx="3295650" cy="492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 identity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features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924800" y="3443288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134350" y="904875"/>
            <a:ext cx="3638550" cy="5419725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34350" y="904875"/>
            <a:ext cx="57150" cy="541972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05800" y="1019175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under-indexes in-product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7058025" cy="5419725"/>
          </a:xfrm>
          <a:prstGeom prst="roundRect">
            <a:avLst>
              <a:gd name="adj" fmla="val 1687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7" name="Image 1" descr="/Users/dpadmana/projects/ppt-gen/assets/plots/channels-99f91be3d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085975"/>
            <a:ext cx="6753225" cy="3067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43825" y="904875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743825" y="1419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34325" y="12477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In-product is only 8% share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743825" y="18764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34325" y="17049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NPS is highest in-app (55)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43825" y="2333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34325" y="21621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Shift next pilots to product surfaces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Operating model shift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5695950" cy="5419725"/>
          </a:xfrm>
          <a:prstGeom prst="roundRect">
            <a:avLst>
              <a:gd name="adj" fmla="val 16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57150" cy="541972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1019175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85875"/>
            <a:ext cx="5353050" cy="492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reviews without owners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1500" y="6000750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953250" y="904875"/>
            <a:ext cx="4838700" cy="5419725"/>
          </a:xfrm>
          <a:prstGeom prst="roundRect">
            <a:avLst>
              <a:gd name="adj" fmla="val 189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53250" y="904875"/>
            <a:ext cx="57150" cy="5419725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24700" y="1019175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24700" y="1285875"/>
            <a:ext cx="4495800" cy="4924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squads with stop/scale gates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124700" y="6000750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34125" y="3386138"/>
            <a:ext cx="38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3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a 90-day launch team that can ship and learn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accountability close to commercial owners.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05000" y="14573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226050" y="14573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47100" y="14573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00050" y="1800225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828800" y="1800225"/>
            <a:ext cx="9963150" cy="82867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2705100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828800" y="2705100"/>
            <a:ext cx="9963150" cy="82867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0050" y="3609975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828800" y="3609975"/>
            <a:ext cx="9963150" cy="82867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050" y="4514850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engineering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828800" y="4514850"/>
            <a:ext cx="9963150" cy="82867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0050" y="5419725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 / measure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828800" y="5419725"/>
            <a:ext cx="9963150" cy="82867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924050" y="2024062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000250" y="2024062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924050" y="2928938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000250" y="2928938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design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245100" y="3833812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21300" y="3833812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rules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245100" y="4738688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21300" y="4738688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 set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566150" y="5643563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42350" y="5643563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Readout + scale gate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143000"/>
            <a:ext cx="9525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in a decision system—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isolated dashboards.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7813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connected use cases that move retention and learning speed.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CHOOSE PILOTS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High-frequency decisions with clear owners.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434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and margin-aware readouts.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53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153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identity, features and activation.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pick the first two decisions.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data roadmap</dc:title>
  <dc:subject>PptxGenJS Presentation</dc:subject>
  <dc:creator>ppt-gen</dc:creator>
  <cp:lastModifiedBy>ppt-gen</cp:lastModifiedBy>
  <cp:revision>1</cp:revision>
  <dcterms:created xsi:type="dcterms:W3CDTF">2026-09-20T11:19:35Z</dcterms:created>
  <dcterms:modified xsi:type="dcterms:W3CDTF">2026-09-20T11:19:35Z</dcterms:modified>
</cp:coreProperties>
</file>